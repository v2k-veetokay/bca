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5" r:id="rId5"/>
    <p:sldId id="266" r:id="rId6"/>
    <p:sldId id="267" r:id="rId7"/>
    <p:sldId id="285" r:id="rId8"/>
    <p:sldId id="286" r:id="rId9"/>
    <p:sldId id="287" r:id="rId10"/>
    <p:sldId id="275" r:id="rId11"/>
    <p:sldId id="282" r:id="rId12"/>
    <p:sldId id="276" r:id="rId13"/>
    <p:sldId id="277" r:id="rId14"/>
    <p:sldId id="278" r:id="rId15"/>
    <p:sldId id="279" r:id="rId16"/>
    <p:sldId id="280" r:id="rId17"/>
    <p:sldId id="281" r:id="rId18"/>
    <p:sldId id="268" r:id="rId19"/>
    <p:sldId id="271" r:id="rId20"/>
    <p:sldId id="272" r:id="rId21"/>
    <p:sldId id="273" r:id="rId22"/>
    <p:sldId id="274" r:id="rId23"/>
    <p:sldId id="269" r:id="rId24"/>
    <p:sldId id="270" r:id="rId25"/>
    <p:sldId id="259" r:id="rId26"/>
    <p:sldId id="283" r:id="rId27"/>
    <p:sldId id="284" r:id="rId28"/>
    <p:sldId id="260" r:id="rId29"/>
    <p:sldId id="261" r:id="rId30"/>
    <p:sldId id="262" r:id="rId31"/>
    <p:sldId id="263" r:id="rId32"/>
    <p:sldId id="264"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pPr/>
              <a:t>11/18/2025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Group Discussion (GD)</a:t>
            </a:r>
          </a:p>
        </p:txBody>
      </p:sp>
      <p:sp>
        <p:nvSpPr>
          <p:cNvPr id="3" name="Subtitle 2"/>
          <p:cNvSpPr>
            <a:spLocks noGrp="1"/>
          </p:cNvSpPr>
          <p:nvPr>
            <p:ph type="subTitle" idx="1"/>
          </p:nvPr>
        </p:nvSpPr>
        <p:spPr/>
        <p:txBody>
          <a:bodyPr/>
          <a:lstStyle/>
          <a:p>
            <a:r>
              <a:t>Objectives and Methods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endParaRPr/>
          </a:p>
          <a:p>
            <a:pPr>
              <a:defRPr sz="2000">
                <a:solidFill>
                  <a:srgbClr val="000000"/>
                </a:solidFill>
              </a:defRPr>
            </a:pPr>
            <a:r>
              <a:t>Group Discussion (GD) is a method of assessing communication, teamwork, and problem-solving skills.</a:t>
            </a:r>
          </a:p>
          <a:p>
            <a:pPr>
              <a:defRPr sz="2000">
                <a:solidFill>
                  <a:srgbClr val="000000"/>
                </a:solidFill>
              </a:defRPr>
            </a:pPr>
            <a:r>
              <a:t>Widely used in education, recruitment, and professional </a:t>
            </a:r>
            <a:r>
              <a:rPr/>
              <a:t>development</a:t>
            </a:r>
            <a:r>
              <a:rPr smtClean="0"/>
              <a:t>.</a:t>
            </a:r>
            <a:endParaRPr lang="en-US" dirty="0" smtClean="0"/>
          </a:p>
          <a:p>
            <a:pPr>
              <a:defRPr sz="2000">
                <a:solidFill>
                  <a:srgbClr val="000000"/>
                </a:solidFill>
              </a:defRPr>
            </a:pPr>
            <a:r>
              <a:rPr lang="en-US" sz="2000" dirty="0" smtClean="0"/>
              <a:t>A group discussion (GD) is a formal, structured conversation where a group of people discuss a given topic, aiming to evaluate communication, reasoning, leadership, and teamwork skills. Unlike a debate, it is a cooperative process where participants can express both for and against arguments, working toward a collective consensus rather than a competitive win. GDs are used in admissions, scholarships, and job interviews to assess an individual's overall personality and suitability in a group setting.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 of Group Discussion</a:t>
            </a:r>
          </a:p>
        </p:txBody>
      </p:sp>
      <p:sp>
        <p:nvSpPr>
          <p:cNvPr id="3" name="Content Placeholder 2"/>
          <p:cNvSpPr>
            <a:spLocks noGrp="1"/>
          </p:cNvSpPr>
          <p:nvPr>
            <p:ph idx="1"/>
          </p:nvPr>
        </p:nvSpPr>
        <p:spPr/>
        <p:txBody>
          <a:bodyPr/>
          <a:lstStyle/>
          <a:p>
            <a:endParaRPr/>
          </a:p>
          <a:p>
            <a:pPr>
              <a:defRPr sz="2000">
                <a:solidFill>
                  <a:srgbClr val="000000"/>
                </a:solidFill>
              </a:defRPr>
            </a:pPr>
            <a:r>
              <a:t>Evaluate communication &amp; expression</a:t>
            </a:r>
          </a:p>
          <a:p>
            <a:pPr>
              <a:defRPr sz="2000">
                <a:solidFill>
                  <a:srgbClr val="000000"/>
                </a:solidFill>
              </a:defRPr>
            </a:pPr>
            <a:r>
              <a:t>Assess teamwork &amp; leadership</a:t>
            </a:r>
          </a:p>
          <a:p>
            <a:pPr>
              <a:defRPr sz="2000">
                <a:solidFill>
                  <a:srgbClr val="000000"/>
                </a:solidFill>
              </a:defRPr>
            </a:pPr>
            <a:r>
              <a:t>Test problem-solving &amp; decision-making</a:t>
            </a:r>
          </a:p>
          <a:p>
            <a:pPr>
              <a:defRPr sz="2000">
                <a:solidFill>
                  <a:srgbClr val="000000"/>
                </a:solidFill>
              </a:defRPr>
            </a:pPr>
            <a:r>
              <a:t>Judge listening &amp; interpersonal skills</a:t>
            </a:r>
          </a:p>
          <a:p>
            <a:pPr>
              <a:defRPr sz="2000">
                <a:solidFill>
                  <a:srgbClr val="000000"/>
                </a:solidFill>
              </a:defRPr>
            </a:pPr>
            <a:r>
              <a:t>Encourage exchange of ideas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Purpose of a Group Discussion</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b="1" dirty="0" smtClean="0"/>
              <a:t>Assess Skills:</a:t>
            </a:r>
            <a:r>
              <a:rPr lang="en-US" dirty="0" smtClean="0"/>
              <a:t> </a:t>
            </a:r>
          </a:p>
          <a:p>
            <a:pPr fontAlgn="ctr"/>
            <a:r>
              <a:rPr lang="en-US" dirty="0" smtClean="0"/>
              <a:t>To evaluate candidates' communication, leadership, problem-solving, analytical, and decision-making skills. </a:t>
            </a:r>
          </a:p>
          <a:p>
            <a:r>
              <a:rPr lang="en-US" b="1" dirty="0" smtClean="0"/>
              <a:t>Evaluate Personality:</a:t>
            </a:r>
            <a:r>
              <a:rPr lang="en-US" dirty="0" smtClean="0"/>
              <a:t> </a:t>
            </a:r>
          </a:p>
          <a:p>
            <a:pPr fontAlgn="ctr"/>
            <a:r>
              <a:rPr lang="en-US" dirty="0" smtClean="0"/>
              <a:t>To understand a person's thoughts, feelings, and behavior in a group environment. </a:t>
            </a:r>
          </a:p>
          <a:p>
            <a:r>
              <a:rPr lang="en-US" b="1" dirty="0" smtClean="0"/>
              <a:t>Promote Teamwork:</a:t>
            </a:r>
            <a:r>
              <a:rPr lang="en-US" dirty="0" smtClean="0"/>
              <a:t> </a:t>
            </a:r>
          </a:p>
          <a:p>
            <a:r>
              <a:rPr lang="en-US" dirty="0" smtClean="0"/>
              <a:t>To observe how individuals collaborate, respect diverse viewpoints, and contribute to a cooperative atmosphere.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Characteristics</a:t>
            </a:r>
            <a:br>
              <a:rPr lang="en-US" dirty="0" smtClean="0"/>
            </a:br>
            <a:endParaRPr lang="en-US" dirty="0"/>
          </a:p>
        </p:txBody>
      </p:sp>
      <p:sp>
        <p:nvSpPr>
          <p:cNvPr id="3" name="Content Placeholder 2"/>
          <p:cNvSpPr>
            <a:spLocks noGrp="1"/>
          </p:cNvSpPr>
          <p:nvPr>
            <p:ph idx="1"/>
          </p:nvPr>
        </p:nvSpPr>
        <p:spPr/>
        <p:txBody>
          <a:bodyPr>
            <a:normAutofit/>
          </a:bodyPr>
          <a:lstStyle/>
          <a:p>
            <a:pPr fontAlgn="ctr"/>
            <a:r>
              <a:rPr lang="en-US" b="1" dirty="0" smtClean="0"/>
              <a:t>Topic-Based:</a:t>
            </a:r>
            <a:r>
              <a:rPr lang="en-US" dirty="0" smtClean="0"/>
              <a:t> A specific topic or issue is presented for discussion. </a:t>
            </a:r>
          </a:p>
          <a:p>
            <a:pPr fontAlgn="ctr"/>
            <a:r>
              <a:rPr lang="en-US" b="1" dirty="0" smtClean="0"/>
              <a:t>Interactive:</a:t>
            </a:r>
            <a:r>
              <a:rPr lang="en-US" dirty="0" smtClean="0"/>
              <a:t> Participants sit together and exchange ideas in an organized, oral manner. </a:t>
            </a:r>
          </a:p>
          <a:p>
            <a:pPr fontAlgn="ctr"/>
            <a:r>
              <a:rPr lang="en-US" b="1" dirty="0" smtClean="0"/>
              <a:t>Cooperative:</a:t>
            </a:r>
            <a:r>
              <a:rPr lang="en-US" dirty="0" smtClean="0"/>
              <a:t> The goal is to reach a mutual understanding or consensus, not to win against others. </a:t>
            </a:r>
          </a:p>
          <a:p>
            <a:r>
              <a:rPr lang="en-US" b="1" dirty="0" smtClean="0"/>
              <a:t>Observational:</a:t>
            </a:r>
            <a:r>
              <a:rPr lang="en-US" dirty="0" smtClean="0"/>
              <a:t> A panel of observers (</a:t>
            </a:r>
            <a:r>
              <a:rPr lang="en-US" dirty="0" err="1" smtClean="0"/>
              <a:t>panellists</a:t>
            </a:r>
            <a:r>
              <a:rPr lang="en-US" dirty="0" smtClean="0"/>
              <a:t> or interviewers) monitors the discussion to assess participants.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Skills Tested</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fontAlgn="ctr"/>
            <a:r>
              <a:rPr lang="en-US" b="1" dirty="0" smtClean="0"/>
              <a:t>Communication:</a:t>
            </a:r>
            <a:r>
              <a:rPr lang="en-US" dirty="0" smtClean="0"/>
              <a:t> Clear articulation of ideas, active listening, and coherent speaking. </a:t>
            </a:r>
          </a:p>
          <a:p>
            <a:pPr fontAlgn="ctr"/>
            <a:r>
              <a:rPr lang="en-US" b="1" dirty="0" smtClean="0"/>
              <a:t>Leadership:</a:t>
            </a:r>
            <a:r>
              <a:rPr lang="en-US" dirty="0" smtClean="0"/>
              <a:t> Guiding the discussion, encouraging participation, and maintaining order. </a:t>
            </a:r>
          </a:p>
          <a:p>
            <a:pPr fontAlgn="ctr"/>
            <a:r>
              <a:rPr lang="en-US" b="1" dirty="0" smtClean="0"/>
              <a:t>Critical Thinking:</a:t>
            </a:r>
            <a:r>
              <a:rPr lang="en-US" dirty="0" smtClean="0"/>
              <a:t> Analyzing the topic, structuring arguments, and generating relevant points. </a:t>
            </a:r>
          </a:p>
          <a:p>
            <a:pPr fontAlgn="ctr"/>
            <a:r>
              <a:rPr lang="en-US" b="1" dirty="0" smtClean="0"/>
              <a:t>Teamwork:</a:t>
            </a:r>
            <a:r>
              <a:rPr lang="en-US" dirty="0" smtClean="0"/>
              <a:t> Working effectively with others, showing respect for different opinions, and contributing to group goals. </a:t>
            </a:r>
          </a:p>
          <a:p>
            <a:r>
              <a:rPr lang="en-US" b="1" dirty="0" smtClean="0"/>
              <a:t>Subject Knowledge:</a:t>
            </a:r>
            <a:r>
              <a:rPr lang="en-US" dirty="0" smtClean="0"/>
              <a:t> Demonstrating understanding and relevant information about the given topic.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The Types Of Group Discussions</a:t>
            </a:r>
            <a:br>
              <a:rPr lang="en-US" b="1" dirty="0" smtClean="0"/>
            </a:br>
            <a:endParaRPr lang="en-US" dirty="0"/>
          </a:p>
        </p:txBody>
      </p:sp>
      <p:pic>
        <p:nvPicPr>
          <p:cNvPr id="4098" name="Picture 2"/>
          <p:cNvPicPr>
            <a:picLocks noGrp="1" noChangeAspect="1" noChangeArrowheads="1"/>
          </p:cNvPicPr>
          <p:nvPr>
            <p:ph idx="1"/>
          </p:nvPr>
        </p:nvPicPr>
        <p:blipFill>
          <a:blip r:embed="rId2"/>
          <a:stretch>
            <a:fillRect/>
          </a:stretch>
        </p:blipFill>
        <p:spPr bwMode="auto">
          <a:xfrm>
            <a:off x="2431876" y="1935163"/>
            <a:ext cx="4280247" cy="4389437"/>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1. Factual Group Discussions</a:t>
            </a:r>
          </a:p>
          <a:p>
            <a:pPr fontAlgn="base"/>
            <a:r>
              <a:rPr lang="en-US" dirty="0" smtClean="0"/>
              <a:t>These discussions revolve around concrete facts and information. The participants need to grasp the topic well and present accurate data and evidence to support their viewpoints.</a:t>
            </a:r>
          </a:p>
          <a:p>
            <a:pPr fontAlgn="base"/>
            <a:r>
              <a:rPr lang="en-US" b="1" dirty="0" smtClean="0"/>
              <a:t>Example Topics: </a:t>
            </a:r>
            <a:r>
              <a:rPr lang="en-US" dirty="0" smtClean="0"/>
              <a:t>“The Impact of Global Warming,” “Advancements in Renewable Energy,” and “Current Economic Trends.”</a:t>
            </a:r>
          </a:p>
          <a:p>
            <a:pPr fontAlgn="base"/>
            <a:r>
              <a:rPr lang="en-US" b="1" dirty="0" smtClean="0"/>
              <a:t>Skills Assessed: </a:t>
            </a:r>
            <a:r>
              <a:rPr lang="en-US" dirty="0" smtClean="0"/>
              <a:t>Research abilities, knowledge of the subject, and the ability to present facts.</a:t>
            </a:r>
          </a:p>
          <a:p>
            <a:pPr fontAlgn="base"/>
            <a:r>
              <a:rPr lang="en-US" b="1" dirty="0" smtClean="0"/>
              <a:t>2. Opinion-Based Group Discussions</a:t>
            </a:r>
          </a:p>
          <a:p>
            <a:pPr fontAlgn="base"/>
            <a:r>
              <a:rPr lang="en-US" dirty="0" smtClean="0"/>
              <a:t>In these discussions, participants express their views and opinions on a given topic. There is no right or wrong answer; the focus is on how well participants can argue their perspectives and engage with differing viewpoints.</a:t>
            </a:r>
          </a:p>
          <a:p>
            <a:pPr fontAlgn="base"/>
            <a:r>
              <a:rPr lang="en-US" b="1" dirty="0" smtClean="0"/>
              <a:t>Example Topics:</a:t>
            </a:r>
            <a:r>
              <a:rPr lang="en-US" dirty="0" smtClean="0"/>
              <a:t> “Is Social Media Beneficial or Harmful?”, “The Role of Technology in Education,” “Ethics in Business.”</a:t>
            </a:r>
          </a:p>
          <a:p>
            <a:pPr fontAlgn="base"/>
            <a:r>
              <a:rPr lang="en-US" b="1" dirty="0" smtClean="0"/>
              <a:t>Skills Assessed: </a:t>
            </a:r>
            <a:r>
              <a:rPr lang="en-US" dirty="0" smtClean="0"/>
              <a:t>Critical thinking, persuasive communication, and the ability to handle opposing opinions.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3. Group Conversations Based on Case Studies</a:t>
            </a:r>
          </a:p>
          <a:p>
            <a:pPr fontAlgn="base"/>
            <a:r>
              <a:rPr lang="en-US" dirty="0" smtClean="0"/>
              <a:t>Participants are given a scenario or a case study to discuss and analyze. They must work together to identify problems, evaluate options, and propose solutions.</a:t>
            </a:r>
          </a:p>
          <a:p>
            <a:pPr fontAlgn="base"/>
            <a:r>
              <a:rPr lang="en-US" b="1" dirty="0" smtClean="0"/>
              <a:t>Example Topics: </a:t>
            </a:r>
            <a:r>
              <a:rPr lang="en-US" dirty="0" smtClean="0"/>
              <a:t>“A company’s marketing strategy failing,” “A healthcare policy impacting patient care,” “Resolving a workplace conflict.”</a:t>
            </a:r>
          </a:p>
          <a:p>
            <a:pPr fontAlgn="base"/>
            <a:r>
              <a:rPr lang="en-US" b="1" dirty="0" smtClean="0"/>
              <a:t>Skills Assessed: </a:t>
            </a:r>
            <a:r>
              <a:rPr lang="en-US" dirty="0" smtClean="0"/>
              <a:t>Analytical skills, problem-solving, teamwork, and practical application of knowledge.</a:t>
            </a:r>
          </a:p>
          <a:p>
            <a:pPr fontAlgn="base"/>
            <a:r>
              <a:rPr lang="en-US" b="1" dirty="0" smtClean="0"/>
              <a:t>4. Abstract Group Discussions</a:t>
            </a:r>
          </a:p>
          <a:p>
            <a:pPr fontAlgn="base"/>
            <a:r>
              <a:rPr lang="en-US" dirty="0" smtClean="0"/>
              <a:t>These discussions are based on abstract concepts or philosophical ideas. Participants need to interpret the topic creatively and think outside the box.</a:t>
            </a:r>
          </a:p>
          <a:p>
            <a:pPr fontAlgn="base"/>
            <a:r>
              <a:rPr lang="en-US" b="1" dirty="0" smtClean="0"/>
              <a:t>Example Topics:</a:t>
            </a:r>
            <a:r>
              <a:rPr lang="en-US" dirty="0" smtClean="0"/>
              <a:t> “Red vs. Blue,” “A Journey Without a Destination,” “Time is Money.”</a:t>
            </a:r>
          </a:p>
          <a:p>
            <a:pPr fontAlgn="base"/>
            <a:r>
              <a:rPr lang="en-US" b="1" dirty="0" smtClean="0"/>
              <a:t>Skills Assessed: </a:t>
            </a:r>
            <a:r>
              <a:rPr lang="en-US" dirty="0" smtClean="0"/>
              <a:t>Creativity, abstract thinking, and innovatively linking ideas and concepts.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7287"/>
            <a:ext cx="8229600" cy="859315"/>
          </a:xfrm>
        </p:spPr>
        <p:txBody>
          <a:bodyPr>
            <a:normAutofit fontScale="90000"/>
          </a:bodyPr>
          <a:lstStyle/>
          <a:p>
            <a:pPr algn="ctr" fontAlgn="base"/>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sz="3600" b="1" dirty="0" smtClean="0"/>
              <a:t/>
            </a:r>
            <a:br>
              <a:rPr lang="en-US" sz="3600" b="1" dirty="0" smtClean="0"/>
            </a:br>
            <a:r>
              <a:rPr lang="en-US" dirty="0" smtClean="0"/>
              <a:t/>
            </a:r>
            <a:br>
              <a:rPr lang="en-US" dirty="0" smtClean="0"/>
            </a:br>
            <a:r>
              <a:rPr lang="en-US" sz="5400" b="1" dirty="0" smtClean="0"/>
              <a:t> </a:t>
            </a:r>
            <a:r>
              <a:rPr lang="en-US" sz="3600" b="1" dirty="0" smtClean="0">
                <a:latin typeface="Times New Roman" pitchFamily="18" charset="0"/>
                <a:cs typeface="Times New Roman" pitchFamily="18" charset="0"/>
              </a:rPr>
              <a:t>Essential Skills Evaluated During a Group Discussion</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22872"/>
            <a:ext cx="8229600" cy="5101728"/>
          </a:xfrm>
        </p:spPr>
        <p:txBody>
          <a:bodyPr>
            <a:normAutofit fontScale="62500" lnSpcReduction="20000"/>
          </a:bodyPr>
          <a:lstStyle/>
          <a:p>
            <a:pPr algn="just" fontAlgn="base"/>
            <a:r>
              <a:rPr lang="en-US" b="1" dirty="0" smtClean="0">
                <a:latin typeface="Times New Roman" pitchFamily="18" charset="0"/>
                <a:cs typeface="Times New Roman" pitchFamily="18" charset="0"/>
              </a:rPr>
              <a:t>1. Subject Expertise</a:t>
            </a:r>
          </a:p>
          <a:p>
            <a:pPr algn="just" fontAlgn="base"/>
            <a:r>
              <a:rPr lang="en-US" b="1" dirty="0" smtClean="0">
                <a:latin typeface="Times New Roman" pitchFamily="18" charset="0"/>
                <a:cs typeface="Times New Roman" pitchFamily="18" charset="0"/>
              </a:rPr>
              <a:t>Depth of Knowledge: </a:t>
            </a:r>
            <a:r>
              <a:rPr lang="en-US" dirty="0" smtClean="0">
                <a:latin typeface="Times New Roman" pitchFamily="18" charset="0"/>
                <a:cs typeface="Times New Roman" pitchFamily="18" charset="0"/>
              </a:rPr>
              <a:t>Demonstrating a comprehensive understanding of the topic. This involves being well-informed and up-to-date with relevant facts, theories, and examples.</a:t>
            </a:r>
          </a:p>
          <a:p>
            <a:pPr algn="just" fontAlgn="base"/>
            <a:r>
              <a:rPr lang="en-US" b="1" dirty="0" smtClean="0">
                <a:latin typeface="Times New Roman" pitchFamily="18" charset="0"/>
                <a:cs typeface="Times New Roman" pitchFamily="18" charset="0"/>
              </a:rPr>
              <a:t>Accuracy and Relevance: </a:t>
            </a:r>
            <a:r>
              <a:rPr lang="en-US" dirty="0" smtClean="0">
                <a:latin typeface="Times New Roman" pitchFamily="18" charset="0"/>
                <a:cs typeface="Times New Roman" pitchFamily="18" charset="0"/>
              </a:rPr>
              <a:t>Providing accurate and pertinent information to support your arguments. It’s essential to avoid spreading misinformation or going off-topic.</a:t>
            </a:r>
          </a:p>
          <a:p>
            <a:pPr algn="just" fontAlgn="base"/>
            <a:r>
              <a:rPr lang="en-US" b="1" dirty="0" smtClean="0">
                <a:latin typeface="Times New Roman" pitchFamily="18" charset="0"/>
                <a:cs typeface="Times New Roman" pitchFamily="18" charset="0"/>
              </a:rPr>
              <a:t>2. Creativity and Originality</a:t>
            </a:r>
          </a:p>
          <a:p>
            <a:pPr algn="just" fontAlgn="base"/>
            <a:r>
              <a:rPr lang="en-US" b="1" dirty="0" smtClean="0">
                <a:latin typeface="Times New Roman" pitchFamily="18" charset="0"/>
                <a:cs typeface="Times New Roman" pitchFamily="18" charset="0"/>
              </a:rPr>
              <a:t>Innovative Thinking: </a:t>
            </a:r>
            <a:r>
              <a:rPr lang="en-US" dirty="0" smtClean="0">
                <a:latin typeface="Times New Roman" pitchFamily="18" charset="0"/>
                <a:cs typeface="Times New Roman" pitchFamily="18" charset="0"/>
              </a:rPr>
              <a:t>Introducing unique perspectives and fresh ideas others may not have considered. Creativity in approach can differentiate you from other participants.</a:t>
            </a:r>
          </a:p>
          <a:p>
            <a:pPr algn="just" fontAlgn="base"/>
            <a:r>
              <a:rPr lang="en-US" b="1" dirty="0" smtClean="0">
                <a:latin typeface="Times New Roman" pitchFamily="18" charset="0"/>
                <a:cs typeface="Times New Roman" pitchFamily="18" charset="0"/>
              </a:rPr>
              <a:t>Problem-Solving: </a:t>
            </a:r>
            <a:r>
              <a:rPr lang="en-US" dirty="0" smtClean="0">
                <a:latin typeface="Times New Roman" pitchFamily="18" charset="0"/>
                <a:cs typeface="Times New Roman" pitchFamily="18" charset="0"/>
              </a:rPr>
              <a:t>Applying creative solutions to the issues discussed. This skill showcases your ability to think outside the box and approach problems from various angles.</a:t>
            </a:r>
          </a:p>
          <a:p>
            <a:pPr algn="just" fontAlgn="base"/>
            <a:r>
              <a:rPr lang="en-US" b="1" dirty="0" smtClean="0">
                <a:latin typeface="Times New Roman" pitchFamily="18" charset="0"/>
                <a:cs typeface="Times New Roman" pitchFamily="18" charset="0"/>
              </a:rPr>
              <a:t>3. Voice</a:t>
            </a:r>
          </a:p>
          <a:p>
            <a:pPr algn="just" fontAlgn="base"/>
            <a:r>
              <a:rPr lang="en-US" b="1" dirty="0" smtClean="0">
                <a:latin typeface="Times New Roman" pitchFamily="18" charset="0"/>
                <a:cs typeface="Times New Roman" pitchFamily="18" charset="0"/>
              </a:rPr>
              <a:t>Clarity:</a:t>
            </a:r>
            <a:r>
              <a:rPr lang="en-US" dirty="0" smtClean="0">
                <a:latin typeface="Times New Roman" pitchFamily="18" charset="0"/>
                <a:cs typeface="Times New Roman" pitchFamily="18" charset="0"/>
              </a:rPr>
              <a:t> Ensuring your speech is clear and easily understandable. Articulation and pronunciation play a significant role in how your points are received.</a:t>
            </a:r>
          </a:p>
          <a:p>
            <a:pPr algn="just" fontAlgn="base"/>
            <a:r>
              <a:rPr lang="en-US" b="1" dirty="0" smtClean="0">
                <a:latin typeface="Times New Roman" pitchFamily="18" charset="0"/>
                <a:cs typeface="Times New Roman" pitchFamily="18" charset="0"/>
              </a:rPr>
              <a:t>Tone and Modulation: </a:t>
            </a:r>
            <a:r>
              <a:rPr lang="en-US" dirty="0" smtClean="0">
                <a:latin typeface="Times New Roman" pitchFamily="18" charset="0"/>
                <a:cs typeface="Times New Roman" pitchFamily="18" charset="0"/>
              </a:rPr>
              <a:t>Use the appropriate tone to convey your message effectively. Voice modulation can help emphasize key points and keep the audience engaged.</a:t>
            </a:r>
          </a:p>
          <a:p>
            <a:pPr algn="just" fontAlgn="base"/>
            <a:r>
              <a:rPr lang="en-US" b="1" dirty="0" smtClean="0">
                <a:latin typeface="Times New Roman" pitchFamily="18" charset="0"/>
                <a:cs typeface="Times New Roman" pitchFamily="18" charset="0"/>
              </a:rPr>
              <a:t>4. Bodily Language</a:t>
            </a:r>
          </a:p>
          <a:p>
            <a:pPr algn="just" fontAlgn="base"/>
            <a:r>
              <a:rPr lang="en-US" b="1" dirty="0" smtClean="0">
                <a:latin typeface="Times New Roman" pitchFamily="18" charset="0"/>
                <a:cs typeface="Times New Roman" pitchFamily="18" charset="0"/>
              </a:rPr>
              <a:t>Gestures and Posture: </a:t>
            </a:r>
            <a:r>
              <a:rPr lang="en-US" dirty="0" smtClean="0">
                <a:latin typeface="Times New Roman" pitchFamily="18" charset="0"/>
                <a:cs typeface="Times New Roman" pitchFamily="18" charset="0"/>
              </a:rPr>
              <a:t>Use positive body language to reinforce your verbal communication. Good posture, appropriate hand gestures, and nodding convey confidence and attentiveness.</a:t>
            </a:r>
          </a:p>
          <a:p>
            <a:pPr algn="just" fontAlgn="base"/>
            <a:r>
              <a:rPr lang="en-US" b="1" dirty="0" smtClean="0">
                <a:latin typeface="Times New Roman" pitchFamily="18" charset="0"/>
                <a:cs typeface="Times New Roman" pitchFamily="18" charset="0"/>
              </a:rPr>
              <a:t>Eye Contact: </a:t>
            </a:r>
            <a:r>
              <a:rPr lang="en-US" dirty="0" smtClean="0">
                <a:latin typeface="Times New Roman" pitchFamily="18" charset="0"/>
                <a:cs typeface="Times New Roman" pitchFamily="18" charset="0"/>
              </a:rPr>
              <a:t>Maintaining eye contact with fellow participants and the moderator to demonstrate confidence and engagement. Avoiding eye contact can be perceived as disinterest or nervousness.</a:t>
            </a:r>
          </a:p>
          <a:p>
            <a:pPr algn="just"/>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Essential Skills Evaluated During a Group Discussion</a:t>
            </a:r>
            <a:br>
              <a:rPr lang="en-US" b="1" dirty="0" smtClean="0"/>
            </a:b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b="1" dirty="0" smtClean="0"/>
              <a:t>5. Fluency</a:t>
            </a:r>
          </a:p>
          <a:p>
            <a:pPr fontAlgn="base"/>
            <a:r>
              <a:rPr lang="en-US" b="1" dirty="0" smtClean="0"/>
              <a:t>Smooth Delivery: </a:t>
            </a:r>
            <a:r>
              <a:rPr lang="en-US" dirty="0" smtClean="0"/>
              <a:t>Speaking fluently without unnecessary pauses, fillers, or hesitations helps maintain the flow of the discussion and keeps the audience engaged.</a:t>
            </a:r>
          </a:p>
          <a:p>
            <a:pPr fontAlgn="base"/>
            <a:r>
              <a:rPr lang="en-US" b="1" dirty="0" smtClean="0"/>
              <a:t>Language Proficiency:</a:t>
            </a:r>
            <a:r>
              <a:rPr lang="en-US" dirty="0" smtClean="0"/>
              <a:t> Using appropriate vocabulary and grammar to express your ideas clearly and effectively. Mastery of language enhances your credibility and the impact of your contributions.</a:t>
            </a:r>
          </a:p>
          <a:p>
            <a:pPr fontAlgn="base"/>
            <a:r>
              <a:rPr lang="en-US" b="1" dirty="0" smtClean="0"/>
              <a:t>6. Initiative</a:t>
            </a:r>
          </a:p>
          <a:p>
            <a:pPr fontAlgn="base"/>
            <a:r>
              <a:rPr lang="en-US" b="1" dirty="0" err="1" smtClean="0"/>
              <a:t>Proactiveness</a:t>
            </a:r>
            <a:r>
              <a:rPr lang="en-US" b="1" dirty="0" smtClean="0"/>
              <a:t>: </a:t>
            </a:r>
            <a:r>
              <a:rPr lang="en-US" dirty="0" smtClean="0"/>
              <a:t>Taking the lead when necessary by starting the discussion, introducing new points, or steering the conversation back on track if it diverges.</a:t>
            </a:r>
          </a:p>
          <a:p>
            <a:pPr fontAlgn="base"/>
            <a:r>
              <a:rPr lang="en-US" b="1" dirty="0" smtClean="0"/>
              <a:t>Encouraging Participation: </a:t>
            </a:r>
            <a:r>
              <a:rPr lang="en-US" dirty="0" smtClean="0"/>
              <a:t>Facilitating a balanced discussion by encouraging quieter members to share their views and ensuring that all voices are heard.</a:t>
            </a:r>
          </a:p>
          <a:p>
            <a:pPr fontAlgn="base"/>
            <a:r>
              <a:rPr lang="en-US" b="1" dirty="0" smtClean="0"/>
              <a:t>7. Active Listening</a:t>
            </a:r>
          </a:p>
          <a:p>
            <a:pPr fontAlgn="base"/>
            <a:r>
              <a:rPr lang="en-US" b="1" dirty="0" smtClean="0"/>
              <a:t>Attention:</a:t>
            </a:r>
            <a:r>
              <a:rPr lang="en-US" dirty="0" smtClean="0"/>
              <a:t> Paying close attention to others’ contributions shows respect and interest. Active listening involves nodding, summarizing points, and asking clarifying questions.</a:t>
            </a:r>
          </a:p>
          <a:p>
            <a:pPr fontAlgn="base"/>
            <a:r>
              <a:rPr lang="en-US" b="1" dirty="0" smtClean="0"/>
              <a:t>Responsive Interaction: </a:t>
            </a:r>
            <a:r>
              <a:rPr lang="en-US" dirty="0" smtClean="0"/>
              <a:t>Responding thoughtfully to others’ ideas, building on their points, and respectfully countering when necessary. This skill demonstrates your ability to engage constructively with different viewpoints.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Expert Tips On How to Succeed in Group Discussions</a:t>
            </a:r>
            <a:br>
              <a:rPr lang="en-US" b="1" dirty="0" smtClean="0"/>
            </a:b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b="1" dirty="0" smtClean="0"/>
              <a:t>1. Understand the Topic</a:t>
            </a:r>
          </a:p>
          <a:p>
            <a:pPr fontAlgn="base"/>
            <a:r>
              <a:rPr lang="en-US" b="1" dirty="0" smtClean="0"/>
              <a:t>Research Thoroughly: </a:t>
            </a:r>
            <a:r>
              <a:rPr lang="en-US" dirty="0" smtClean="0"/>
              <a:t>Gather as much information as possible about the topic before the discussion. Knowing the background and key points will give you confidence and make your contributions more valuable.</a:t>
            </a:r>
          </a:p>
          <a:p>
            <a:pPr fontAlgn="base"/>
            <a:r>
              <a:rPr lang="en-US" b="1" dirty="0" smtClean="0"/>
              <a:t>Clarify Doubts: </a:t>
            </a:r>
            <a:r>
              <a:rPr lang="en-US" dirty="0" smtClean="0"/>
              <a:t>If the topic is announced on the spot, don’t hesitate to ask for clarification if you don’t understand it completely.</a:t>
            </a:r>
          </a:p>
          <a:p>
            <a:pPr fontAlgn="base"/>
            <a:r>
              <a:rPr lang="en-US" b="1" dirty="0" smtClean="0"/>
              <a:t>2. Listen Actively</a:t>
            </a:r>
          </a:p>
          <a:p>
            <a:pPr fontAlgn="base"/>
            <a:r>
              <a:rPr lang="en-US" b="1" dirty="0" smtClean="0"/>
              <a:t>Pay Attention: </a:t>
            </a:r>
            <a:r>
              <a:rPr lang="en-US" dirty="0" smtClean="0"/>
              <a:t>Listen to what others are saying without interrupting. This shows respect and helps you build on their points effectively.</a:t>
            </a:r>
          </a:p>
          <a:p>
            <a:pPr fontAlgn="base"/>
            <a:r>
              <a:rPr lang="en-US" b="1" dirty="0" smtClean="0"/>
              <a:t>Acknowledge and Respond: </a:t>
            </a:r>
            <a:r>
              <a:rPr lang="en-US" dirty="0" smtClean="0"/>
              <a:t>Use nods, smiles, or brief verbal acknowledgments to show that you are engaged and understanding the discussion.</a:t>
            </a:r>
          </a:p>
          <a:p>
            <a:pPr fontAlgn="base"/>
            <a:r>
              <a:rPr lang="en-US" b="1" dirty="0" smtClean="0"/>
              <a:t>3. Be Clear and Concise</a:t>
            </a:r>
          </a:p>
          <a:p>
            <a:pPr fontAlgn="base"/>
            <a:r>
              <a:rPr lang="en-US" b="1" dirty="0" smtClean="0"/>
              <a:t>Make Your Points Briefly: </a:t>
            </a:r>
            <a:r>
              <a:rPr lang="en-US" dirty="0" smtClean="0"/>
              <a:t>Stick to the point and avoid long-winded explanations. Being clear and concise ensures your ideas are understood and appreciated.</a:t>
            </a:r>
          </a:p>
          <a:p>
            <a:pPr fontAlgn="base"/>
            <a:r>
              <a:rPr lang="en-US" b="1" dirty="0" smtClean="0"/>
              <a:t>Use Simple Language:</a:t>
            </a:r>
            <a:r>
              <a:rPr lang="en-US" dirty="0" smtClean="0"/>
              <a:t> Avoid jargon and complex words that might confuse others. Your goal is to communicate effectively, not to impress with vocabulary.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4. Show Leadership Skills</a:t>
            </a:r>
          </a:p>
          <a:p>
            <a:pPr fontAlgn="base"/>
            <a:r>
              <a:rPr lang="en-US" b="1" dirty="0" smtClean="0"/>
              <a:t>Initiate the Discussion: </a:t>
            </a:r>
            <a:r>
              <a:rPr lang="en-US" dirty="0" smtClean="0"/>
              <a:t>If you feel confident, start the discussion. This can set a positive tone and demonstrate your leadership qualities.</a:t>
            </a:r>
          </a:p>
          <a:p>
            <a:pPr fontAlgn="base"/>
            <a:r>
              <a:rPr lang="en-US" b="1" dirty="0" smtClean="0"/>
              <a:t>Facilitate Participation: </a:t>
            </a:r>
            <a:r>
              <a:rPr lang="en-US" dirty="0" smtClean="0"/>
              <a:t>Encourage quieter members to speak up and ensure that everyone gets a chance to contribute. This shows you value teamwork and collaboration.</a:t>
            </a:r>
          </a:p>
          <a:p>
            <a:pPr fontAlgn="base"/>
            <a:r>
              <a:rPr lang="en-US" b="1" dirty="0" smtClean="0"/>
              <a:t>5. Stay Calm and Composed</a:t>
            </a:r>
          </a:p>
          <a:p>
            <a:pPr fontAlgn="base"/>
            <a:r>
              <a:rPr lang="en-US" b="1" dirty="0" smtClean="0"/>
              <a:t>Manage Stress: </a:t>
            </a:r>
            <a:r>
              <a:rPr lang="en-US" dirty="0" smtClean="0"/>
              <a:t>Stay calm even if the discussion becomes intense. Keeping your composure under pressure is crucial.</a:t>
            </a:r>
          </a:p>
          <a:p>
            <a:pPr fontAlgn="base"/>
            <a:r>
              <a:rPr lang="en-US" b="1" dirty="0" smtClean="0"/>
              <a:t>Be Respectful: </a:t>
            </a:r>
            <a:r>
              <a:rPr lang="en-US" dirty="0" smtClean="0"/>
              <a:t>Avoid getting defensive or aggressive. Respect others’ opinions and address disagreements politely.</a:t>
            </a:r>
          </a:p>
          <a:p>
            <a:pPr fontAlgn="base"/>
            <a:r>
              <a:rPr lang="en-US" b="1" dirty="0" smtClean="0"/>
              <a:t>6. Respect Other Members</a:t>
            </a:r>
          </a:p>
          <a:p>
            <a:pPr fontAlgn="base"/>
            <a:r>
              <a:rPr lang="en-US" b="1" dirty="0" smtClean="0"/>
              <a:t>Value Opinions: </a:t>
            </a:r>
            <a:r>
              <a:rPr lang="en-US" dirty="0" smtClean="0"/>
              <a:t>Respect all participants by valuing their opinions, even if you disagree with them. This fosters a positive and collaborative environment.</a:t>
            </a:r>
          </a:p>
          <a:p>
            <a:pPr fontAlgn="base"/>
            <a:r>
              <a:rPr lang="en-US" b="1" dirty="0" smtClean="0"/>
              <a:t>Avoid Interruptions: </a:t>
            </a:r>
            <a:r>
              <a:rPr lang="en-US" dirty="0" smtClean="0"/>
              <a:t>Let others finish their points before you speak. Interrupting can be seen as disrespectful and can disrupt the flow of discussion.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fontAlgn="base"/>
            <a:r>
              <a:rPr lang="en-US" b="1" dirty="0" smtClean="0"/>
              <a:t>7. Contribute Constructively</a:t>
            </a:r>
          </a:p>
          <a:p>
            <a:pPr fontAlgn="base"/>
            <a:r>
              <a:rPr lang="en-US" b="1" dirty="0" smtClean="0"/>
              <a:t>Add Value: </a:t>
            </a:r>
            <a:r>
              <a:rPr lang="en-US" dirty="0" smtClean="0"/>
              <a:t>Make sure your contributions are relevant and add value to the discussion. Avoid repeating points that have already been made.</a:t>
            </a:r>
          </a:p>
          <a:p>
            <a:pPr fontAlgn="base"/>
            <a:r>
              <a:rPr lang="en-US" b="1" dirty="0" smtClean="0"/>
              <a:t>Build on Ideas: </a:t>
            </a:r>
            <a:r>
              <a:rPr lang="en-US" dirty="0" smtClean="0"/>
              <a:t>Constructively build on others’ ideas, which shows that you are listening and thinking critically about the topic.</a:t>
            </a:r>
          </a:p>
          <a:p>
            <a:pPr fontAlgn="base"/>
            <a:r>
              <a:rPr lang="en-US" b="1" dirty="0" smtClean="0"/>
              <a:t>8. Use Data and Examples</a:t>
            </a:r>
          </a:p>
          <a:p>
            <a:pPr fontAlgn="base"/>
            <a:r>
              <a:rPr lang="en-US" b="1" dirty="0" smtClean="0"/>
              <a:t>Support Arguments: </a:t>
            </a:r>
            <a:r>
              <a:rPr lang="en-US" dirty="0" smtClean="0"/>
              <a:t>Use data, facts, and examples to support your arguments. This makes your points more credible and persuasive.</a:t>
            </a:r>
          </a:p>
          <a:p>
            <a:pPr fontAlgn="base"/>
            <a:r>
              <a:rPr lang="en-US" b="1" dirty="0" smtClean="0"/>
              <a:t>Be Prepared: </a:t>
            </a:r>
            <a:r>
              <a:rPr lang="en-US" dirty="0" smtClean="0"/>
              <a:t>Having a few statistics or real-world examples in mind can help you substantiate your points effectively.</a:t>
            </a:r>
          </a:p>
          <a:p>
            <a:pPr fontAlgn="base"/>
            <a:r>
              <a:rPr lang="en-US" b="1" dirty="0" smtClean="0"/>
              <a:t>9. Handle Criticism with Poise</a:t>
            </a:r>
          </a:p>
          <a:p>
            <a:pPr fontAlgn="base"/>
            <a:r>
              <a:rPr lang="en-US" b="1" dirty="0" smtClean="0"/>
              <a:t>Stay Open-Minded: </a:t>
            </a:r>
            <a:r>
              <a:rPr lang="en-US" dirty="0" smtClean="0"/>
              <a:t>Accept feedback and criticism without taking it personally. Use it as an opportunity to learn and improve.</a:t>
            </a:r>
          </a:p>
          <a:p>
            <a:pPr fontAlgn="base"/>
            <a:r>
              <a:rPr lang="en-US" b="1" dirty="0" smtClean="0"/>
              <a:t>Respond Politely: </a:t>
            </a:r>
            <a:r>
              <a:rPr lang="en-US" dirty="0" smtClean="0"/>
              <a:t>If you disagree with criticism, respond calmly and respectfully, providing a reasoned argument to support your viewpoint.</a:t>
            </a:r>
          </a:p>
          <a:p>
            <a:pPr fontAlgn="base"/>
            <a:r>
              <a:rPr lang="en-US" b="1" dirty="0" smtClean="0"/>
              <a:t>10. Summarize Key Points</a:t>
            </a:r>
          </a:p>
          <a:p>
            <a:pPr fontAlgn="base"/>
            <a:r>
              <a:rPr lang="en-US" b="1" dirty="0" smtClean="0"/>
              <a:t>Recap Discussions: </a:t>
            </a:r>
            <a:r>
              <a:rPr lang="en-US" dirty="0" smtClean="0"/>
              <a:t>Towards the end of the discussion, summarize the key points and conclusions reached by the group. This shows your ability to synthesize information and ensures everyone is on the same page.</a:t>
            </a:r>
          </a:p>
          <a:p>
            <a:pPr fontAlgn="base"/>
            <a:r>
              <a:rPr lang="en-US" b="1" dirty="0" smtClean="0"/>
              <a:t>Highlight Contributions: </a:t>
            </a:r>
            <a:r>
              <a:rPr lang="en-US" dirty="0" smtClean="0"/>
              <a:t>Acknowledge contributions from different members, which helps recognize the collaborative effort.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Common Mistakes to Avoid in a GD Round</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pPr fontAlgn="base"/>
            <a:r>
              <a:rPr lang="en-US" dirty="0" smtClean="0"/>
              <a:t>Group discussions can be challenging, and making inevitable mistakes can hinder performance. Here are common pitfalls to avoid:</a:t>
            </a:r>
          </a:p>
          <a:p>
            <a:pPr fontAlgn="base"/>
            <a:r>
              <a:rPr lang="en-US" b="1" dirty="0" smtClean="0"/>
              <a:t>Dominating the Discussion</a:t>
            </a:r>
            <a:br>
              <a:rPr lang="en-US" b="1" dirty="0" smtClean="0"/>
            </a:br>
            <a:r>
              <a:rPr lang="en-US" dirty="0" smtClean="0"/>
              <a:t>Taking over the conversation and not allowing others to speak can be aggressive and inconsiderate. It’s important to balance contributing your ideas with allowing others to share theirs.</a:t>
            </a:r>
          </a:p>
          <a:p>
            <a:pPr fontAlgn="base"/>
            <a:r>
              <a:rPr lang="en-US" b="1" dirty="0" smtClean="0"/>
              <a:t>Interrupting Others</a:t>
            </a:r>
            <a:br>
              <a:rPr lang="en-US" b="1" dirty="0" smtClean="0"/>
            </a:br>
            <a:r>
              <a:rPr lang="en-US" dirty="0" smtClean="0"/>
              <a:t>Interrupting while someone else speaks shows a lack of respect and poor listening skills. Always wait for your turn and let others complete their thoughts before you respond.</a:t>
            </a:r>
          </a:p>
          <a:p>
            <a:pPr fontAlgn="base"/>
            <a:r>
              <a:rPr lang="en-US" b="1" dirty="0" smtClean="0"/>
              <a:t>Speaking Without Preparation</a:t>
            </a:r>
            <a:br>
              <a:rPr lang="en-US" b="1" dirty="0" smtClean="0"/>
            </a:br>
            <a:r>
              <a:rPr lang="en-US" dirty="0" smtClean="0"/>
              <a:t>Starting to speak without having a clear understanding of the topic can lead to unclear and irrelevant points. Take a few moments to gather your thoughts before contributing to ensure your points are coherent and relevant.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smtClean="0"/>
              <a:t>Being Passive</a:t>
            </a:r>
            <a:br>
              <a:rPr lang="en-US" b="1" dirty="0" smtClean="0"/>
            </a:br>
            <a:r>
              <a:rPr lang="en-US" dirty="0" smtClean="0"/>
              <a:t>Remaining silent or participating minimally can suggest disinterest or a lack of confidence. Make sure to engage actively and share your ideas while maintaining a balance.</a:t>
            </a:r>
          </a:p>
          <a:p>
            <a:pPr fontAlgn="base"/>
            <a:r>
              <a:rPr lang="en-US" b="1" dirty="0" smtClean="0"/>
              <a:t>Focusing Solely on Quantity</a:t>
            </a:r>
            <a:br>
              <a:rPr lang="en-US" b="1" dirty="0" smtClean="0"/>
            </a:br>
            <a:r>
              <a:rPr lang="en-US" dirty="0" smtClean="0"/>
              <a:t>Talking too much without adding substantial value can be detrimental. Aim to make meaningful contributions rather than speaking just for the sake of it.</a:t>
            </a:r>
          </a:p>
          <a:p>
            <a:pPr fontAlgn="base"/>
            <a:r>
              <a:rPr lang="en-US" b="1" dirty="0" smtClean="0"/>
              <a:t>Displaying Negative Body Language</a:t>
            </a:r>
            <a:br>
              <a:rPr lang="en-US" b="1" dirty="0" smtClean="0"/>
            </a:br>
            <a:r>
              <a:rPr lang="en-US" dirty="0" smtClean="0"/>
              <a:t>Negative body language, such as crossing arms, avoiding eye contact, or appearing disinterested, can leave a wrong impression. Use positive body language to show you are engaged and respectful.</a:t>
            </a:r>
          </a:p>
          <a:p>
            <a:pPr fontAlgn="base"/>
            <a:r>
              <a:rPr lang="en-US" b="1" dirty="0" smtClean="0"/>
              <a:t>Getting Emotional or Aggressive</a:t>
            </a:r>
            <a:br>
              <a:rPr lang="en-US" b="1" dirty="0" smtClean="0"/>
            </a:br>
            <a:r>
              <a:rPr lang="en-US" dirty="0" smtClean="0"/>
              <a:t>Allowing emotions to take over can lead to unproductive arguments and conflict. Stay calm, composed, and professional throughout the discussion.</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base"/>
            <a:r>
              <a:rPr lang="en-US" b="1" dirty="0" smtClean="0"/>
              <a:t>Ignoring Others’ Opinions</a:t>
            </a:r>
            <a:br>
              <a:rPr lang="en-US" b="1" dirty="0" smtClean="0"/>
            </a:br>
            <a:r>
              <a:rPr lang="en-US" dirty="0" smtClean="0"/>
              <a:t>Disregarding or not acknowledging others’ viewpoints can create a negative group dynamic. Show that you value and consider different perspectives, even if you disagree.</a:t>
            </a:r>
          </a:p>
          <a:p>
            <a:pPr fontAlgn="base"/>
            <a:r>
              <a:rPr lang="en-US" b="1" dirty="0" smtClean="0"/>
              <a:t>Lack of Structure</a:t>
            </a:r>
            <a:br>
              <a:rPr lang="en-US" b="1" dirty="0" smtClean="0"/>
            </a:br>
            <a:r>
              <a:rPr lang="en-US" dirty="0" smtClean="0"/>
              <a:t>Presenting your points disorganized can confuse others and weaken your arguments. Structure your thoughts logically to make them easier to follow and more persuasive.</a:t>
            </a:r>
          </a:p>
          <a:p>
            <a:pPr fontAlgn="base"/>
            <a:r>
              <a:rPr lang="en-US" b="1" dirty="0" smtClean="0"/>
              <a:t>Failing to Summarize</a:t>
            </a:r>
            <a:br>
              <a:rPr lang="en-US" b="1" dirty="0" smtClean="0"/>
            </a:br>
            <a:r>
              <a:rPr lang="en-US" dirty="0" smtClean="0"/>
              <a:t>Not summarizing critical points at the end can leave the discussion without clear conclusions. Summarize the debate to reinforce the main points and show your ability to synthesize information.</a:t>
            </a:r>
          </a:p>
          <a:p>
            <a:pPr fontAlgn="base"/>
            <a:r>
              <a:rPr lang="en-US" dirty="0" smtClean="0"/>
              <a:t>Avoiding these common mistakes can help you perform better in group discussions, demonstrating your communication skills, respect for others, and ability to contribute effectively.</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Participate Effectively</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Listen Actively:</a:t>
            </a:r>
            <a:r>
              <a:rPr lang="en-US" dirty="0" smtClean="0"/>
              <a:t> </a:t>
            </a:r>
          </a:p>
          <a:p>
            <a:pPr fontAlgn="ctr"/>
            <a:r>
              <a:rPr lang="en-US" dirty="0" smtClean="0"/>
              <a:t>Pay close attention to others' points to build on their ideas or offer relevant counter-arguments. </a:t>
            </a:r>
          </a:p>
          <a:p>
            <a:r>
              <a:rPr lang="en-US" b="1" dirty="0" smtClean="0"/>
              <a:t>Contribute Thoughtfully:</a:t>
            </a:r>
            <a:r>
              <a:rPr lang="en-US" dirty="0" smtClean="0"/>
              <a:t> </a:t>
            </a:r>
          </a:p>
          <a:p>
            <a:pPr fontAlgn="ctr"/>
            <a:r>
              <a:rPr lang="en-US" dirty="0" smtClean="0"/>
              <a:t>Make clear, structured, and logical points, even if you don't have the "best" idea. </a:t>
            </a:r>
          </a:p>
          <a:p>
            <a:r>
              <a:rPr lang="en-US" b="1" dirty="0" smtClean="0"/>
              <a:t>Be Respectful:</a:t>
            </a:r>
            <a:r>
              <a:rPr lang="en-US" dirty="0" smtClean="0"/>
              <a:t> </a:t>
            </a:r>
          </a:p>
          <a:p>
            <a:pPr fontAlgn="ctr"/>
            <a:r>
              <a:rPr lang="en-US" dirty="0" smtClean="0"/>
              <a:t>Maintain a polite and cooperative attitude, even when disagreeing. </a:t>
            </a:r>
          </a:p>
          <a:p>
            <a:r>
              <a:rPr lang="en-US" b="1" dirty="0" smtClean="0"/>
              <a:t>Show Initiative:</a:t>
            </a:r>
            <a:r>
              <a:rPr lang="en-US" dirty="0" smtClean="0"/>
              <a:t> </a:t>
            </a:r>
          </a:p>
          <a:p>
            <a:r>
              <a:rPr lang="en-US" dirty="0" smtClean="0"/>
              <a:t>Take the lead in initiating the discussion, summarizing points, or bringing the discussion to a conclusion when appropriate.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859316" y="274638"/>
            <a:ext cx="7601638" cy="58515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1. Topic Announcement</a:t>
            </a:r>
          </a:p>
          <a:p>
            <a:pPr fontAlgn="base"/>
            <a:r>
              <a:rPr lang="en-US" b="1" dirty="0" smtClean="0"/>
              <a:t>Initiation: </a:t>
            </a:r>
            <a:r>
              <a:rPr lang="en-US" dirty="0" smtClean="0"/>
              <a:t>The moderator announces the topic for discussion. This could be a factual, opinion-based, case study, or abstract topic.</a:t>
            </a:r>
          </a:p>
          <a:p>
            <a:pPr fontAlgn="base"/>
            <a:r>
              <a:rPr lang="en-US" b="1" dirty="0" smtClean="0"/>
              <a:t>Briefing: </a:t>
            </a:r>
            <a:r>
              <a:rPr lang="en-US" dirty="0" smtClean="0"/>
              <a:t>Participants receive a brief overview of the topic and any specific guidelines or rules to follow during the discussion.</a:t>
            </a:r>
          </a:p>
          <a:p>
            <a:pPr fontAlgn="base"/>
            <a:r>
              <a:rPr lang="en-US" b="1" dirty="0" smtClean="0"/>
              <a:t>2. Preparation Time</a:t>
            </a:r>
          </a:p>
          <a:p>
            <a:pPr fontAlgn="base"/>
            <a:r>
              <a:rPr lang="en-US" b="1" dirty="0" smtClean="0"/>
              <a:t>Preparation Period: </a:t>
            </a:r>
            <a:r>
              <a:rPr lang="en-US" dirty="0" smtClean="0"/>
              <a:t>Participants are usually given a few minutes (typically 3-5) to gather their thoughts, make notes, and organize their ideas.</a:t>
            </a:r>
          </a:p>
          <a:p>
            <a:pPr fontAlgn="base"/>
            <a:r>
              <a:rPr lang="en-US" b="1" dirty="0" smtClean="0"/>
              <a:t>Strategy Planning:</a:t>
            </a:r>
            <a:r>
              <a:rPr lang="en-US" dirty="0" smtClean="0"/>
              <a:t> During this time, participants can plan their strategy for the discussion, considering how to introduce points, counter arguments, and conclusions.</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r>
              <a:rPr lang="en-US" b="1" dirty="0" smtClean="0"/>
              <a:t>3. Discussion Starts</a:t>
            </a:r>
          </a:p>
          <a:p>
            <a:pPr fontAlgn="base"/>
            <a:r>
              <a:rPr lang="en-US" b="1" dirty="0" smtClean="0"/>
              <a:t>Commencement:</a:t>
            </a:r>
            <a:r>
              <a:rPr lang="en-US" dirty="0" smtClean="0"/>
              <a:t> The moderator signals the start of the discussion, and participants begin sharing their views.</a:t>
            </a:r>
          </a:p>
          <a:p>
            <a:pPr fontAlgn="base"/>
            <a:r>
              <a:rPr lang="en-US" b="1" dirty="0" smtClean="0"/>
              <a:t>Initial Contributions: </a:t>
            </a:r>
            <a:r>
              <a:rPr lang="en-US" dirty="0" smtClean="0"/>
              <a:t>Participants can take turns speaking, with some taking the initiative to start the discussion while others may choose to add their points.</a:t>
            </a:r>
          </a:p>
          <a:p>
            <a:pPr fontAlgn="base"/>
            <a:r>
              <a:rPr lang="en-US" b="1" dirty="0" smtClean="0"/>
              <a:t>4. Discussion Among Participants</a:t>
            </a:r>
          </a:p>
          <a:p>
            <a:pPr fontAlgn="base"/>
            <a:r>
              <a:rPr lang="en-US" b="1" dirty="0" smtClean="0"/>
              <a:t>Interaction:</a:t>
            </a:r>
            <a:r>
              <a:rPr lang="en-US" dirty="0" smtClean="0"/>
              <a:t> The core of the group discussion involves an interactive exchange of ideas among participants. This phase tests the entire group discussion in communication skills, argument, and collaboration skills.</a:t>
            </a:r>
          </a:p>
          <a:p>
            <a:pPr fontAlgn="base"/>
            <a:r>
              <a:rPr lang="en-US" b="1" dirty="0" smtClean="0"/>
              <a:t>Key Elements:</a:t>
            </a:r>
            <a:r>
              <a:rPr lang="en-US" dirty="0" smtClean="0"/>
              <a:t/>
            </a:r>
            <a:br>
              <a:rPr lang="en-US" dirty="0" smtClean="0"/>
            </a:br>
            <a:r>
              <a:rPr lang="en-US" b="1" dirty="0" smtClean="0"/>
              <a:t>Articulation:</a:t>
            </a:r>
            <a:r>
              <a:rPr lang="en-US" dirty="0" smtClean="0"/>
              <a:t> Clarity and effectiveness in presenting points.</a:t>
            </a:r>
            <a:br>
              <a:rPr lang="en-US" dirty="0" smtClean="0"/>
            </a:br>
            <a:r>
              <a:rPr lang="en-US" b="1" dirty="0" smtClean="0"/>
              <a:t>Listening: </a:t>
            </a:r>
            <a:r>
              <a:rPr lang="en-US" dirty="0" smtClean="0"/>
              <a:t>Paying attention to others’ viewpoints and responding appropriately.</a:t>
            </a:r>
            <a:br>
              <a:rPr lang="en-US" dirty="0" smtClean="0"/>
            </a:br>
            <a:r>
              <a:rPr lang="en-US" b="1" dirty="0" smtClean="0"/>
              <a:t>Leadership: </a:t>
            </a:r>
            <a:r>
              <a:rPr lang="en-US" dirty="0" smtClean="0"/>
              <a:t>Taking charge of the discussion flow without dominating it.</a:t>
            </a:r>
            <a:br>
              <a:rPr lang="en-US" dirty="0" smtClean="0"/>
            </a:br>
            <a:r>
              <a:rPr lang="en-US" b="1" dirty="0" smtClean="0"/>
              <a:t>Conflict Management: </a:t>
            </a:r>
            <a:r>
              <a:rPr lang="en-US" dirty="0" smtClean="0"/>
              <a:t>Handling disagreements constructively.</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base"/>
            <a:r>
              <a:rPr lang="en-US" b="1" dirty="0" smtClean="0"/>
              <a:t>5. Results</a:t>
            </a:r>
          </a:p>
          <a:p>
            <a:pPr fontAlgn="base"/>
            <a:r>
              <a:rPr lang="en-US" b="1" dirty="0" smtClean="0"/>
              <a:t>Evaluation: </a:t>
            </a:r>
            <a:r>
              <a:rPr lang="en-US" dirty="0" smtClean="0"/>
              <a:t>After the discussion, the moderator or panel of judges evaluates each participant based on their performance.</a:t>
            </a:r>
          </a:p>
          <a:p>
            <a:pPr fontAlgn="base"/>
            <a:r>
              <a:rPr lang="en-US" b="1" dirty="0" smtClean="0"/>
              <a:t>Criteria: </a:t>
            </a:r>
            <a:r>
              <a:rPr lang="en-US" dirty="0" smtClean="0"/>
              <a:t>Common criteria include communication skills, content knowledge, logical reasoning, teamwork, and leadership qualities.</a:t>
            </a:r>
          </a:p>
          <a:p>
            <a:pPr fontAlgn="base"/>
            <a:r>
              <a:rPr lang="en-US" b="1" dirty="0" smtClean="0"/>
              <a:t>Feedback: </a:t>
            </a:r>
            <a:r>
              <a:rPr lang="en-US" dirty="0" smtClean="0"/>
              <a:t>In some cases, participants may receive feedback on their performance, highlighting strengths and areas for improvement.</a:t>
            </a:r>
          </a:p>
          <a:p>
            <a:pPr fontAlgn="base"/>
            <a:r>
              <a:rPr lang="en-US" dirty="0" smtClean="0"/>
              <a:t>Understanding this process helps participants prepare adequately, ensuring they can contribute effectively and make a positive impression during the group discussion round.</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594910" y="605928"/>
            <a:ext cx="8091889" cy="5381328"/>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451692"/>
            <a:ext cx="8014771" cy="5540327"/>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GD</a:t>
            </a:r>
          </a:p>
        </p:txBody>
      </p:sp>
      <p:sp>
        <p:nvSpPr>
          <p:cNvPr id="3" name="Content Placeholder 2"/>
          <p:cNvSpPr>
            <a:spLocks noGrp="1"/>
          </p:cNvSpPr>
          <p:nvPr>
            <p:ph idx="1"/>
          </p:nvPr>
        </p:nvSpPr>
        <p:spPr/>
        <p:txBody>
          <a:bodyPr/>
          <a:lstStyle/>
          <a:p>
            <a:endParaRPr/>
          </a:p>
          <a:p>
            <a:pPr>
              <a:defRPr sz="2000">
                <a:solidFill>
                  <a:srgbClr val="000000"/>
                </a:solidFill>
              </a:defRPr>
            </a:pPr>
            <a:r>
              <a:t>Promotes critical thinking</a:t>
            </a:r>
          </a:p>
          <a:p>
            <a:pPr>
              <a:defRPr sz="2000">
                <a:solidFill>
                  <a:srgbClr val="000000"/>
                </a:solidFill>
              </a:defRPr>
            </a:pPr>
            <a:r>
              <a:t>Develops confidence</a:t>
            </a:r>
          </a:p>
          <a:p>
            <a:pPr>
              <a:defRPr sz="2000">
                <a:solidFill>
                  <a:srgbClr val="000000"/>
                </a:solidFill>
              </a:defRPr>
            </a:pPr>
            <a:r>
              <a:t>Encourages cooperation</a:t>
            </a:r>
          </a:p>
          <a:p>
            <a:pPr>
              <a:defRPr sz="2000">
                <a:solidFill>
                  <a:srgbClr val="000000"/>
                </a:solidFill>
              </a:defRPr>
            </a:pPr>
            <a:r>
              <a:t>Enhances knowledge through sharing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Importance Of Group Discussions</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smtClean="0"/>
              <a:t>Here’s why GDs are essential:</a:t>
            </a:r>
          </a:p>
          <a:p>
            <a:pPr fontAlgn="base"/>
            <a:r>
              <a:rPr lang="en-US" b="1" dirty="0" smtClean="0"/>
              <a:t>Evaluate Communication Skills: </a:t>
            </a:r>
            <a:r>
              <a:rPr lang="en-US" dirty="0" smtClean="0"/>
              <a:t>Assess clarity, coherence, and effectiveness in conveying ideas.</a:t>
            </a:r>
          </a:p>
          <a:p>
            <a:pPr fontAlgn="base"/>
            <a:r>
              <a:rPr lang="en-US" b="1" dirty="0" smtClean="0"/>
              <a:t>Assess Teamwork: </a:t>
            </a:r>
            <a:r>
              <a:rPr lang="en-US" dirty="0" smtClean="0"/>
              <a:t>Determine the ability to collaborate and work cohesively with others.</a:t>
            </a:r>
          </a:p>
          <a:p>
            <a:pPr fontAlgn="base"/>
            <a:r>
              <a:rPr lang="en-US" b="1" dirty="0" smtClean="0"/>
              <a:t>Test Analytical Thinking: </a:t>
            </a:r>
            <a:r>
              <a:rPr lang="en-US" dirty="0" smtClean="0"/>
              <a:t>Test problem-solving skills and logical reasoning.</a:t>
            </a:r>
          </a:p>
          <a:p>
            <a:pPr fontAlgn="base"/>
            <a:r>
              <a:rPr lang="en-US" b="1" dirty="0" smtClean="0"/>
              <a:t>Identify Leadership Qualities: </a:t>
            </a:r>
            <a:r>
              <a:rPr lang="en-US" dirty="0" smtClean="0"/>
              <a:t>Spot potential leaders who can guide and motivate the group.</a:t>
            </a:r>
          </a:p>
          <a:p>
            <a:pPr fontAlgn="base"/>
            <a:r>
              <a:rPr lang="en-US" b="1" dirty="0" smtClean="0"/>
              <a:t>Measure Knowledge: </a:t>
            </a:r>
            <a:r>
              <a:rPr lang="en-US" dirty="0" smtClean="0"/>
              <a:t>Check awareness and understanding of relevant topics and current affairs.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Importance Of Group Discussions</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b="1" dirty="0" smtClean="0"/>
              <a:t>Assess Time Management: </a:t>
            </a:r>
            <a:r>
              <a:rPr lang="en-US" dirty="0" smtClean="0"/>
              <a:t>Observe how well candidates manage and utilize their allotted time.</a:t>
            </a:r>
          </a:p>
          <a:p>
            <a:pPr fontAlgn="base"/>
            <a:r>
              <a:rPr lang="en-US" b="1" dirty="0" smtClean="0"/>
              <a:t>Evaluate Persuasiveness: </a:t>
            </a:r>
            <a:r>
              <a:rPr lang="en-US" dirty="0" smtClean="0"/>
              <a:t>See how effectively candidates can influence and convince others.</a:t>
            </a:r>
          </a:p>
          <a:p>
            <a:pPr fontAlgn="base"/>
            <a:r>
              <a:rPr lang="en-US" b="1" dirty="0" smtClean="0"/>
              <a:t>Test Adaptability: </a:t>
            </a:r>
            <a:r>
              <a:rPr lang="en-US" dirty="0" smtClean="0"/>
              <a:t>Assess flexibility in handling different viewpoints and unexpected changes.</a:t>
            </a:r>
          </a:p>
          <a:p>
            <a:pPr fontAlgn="base"/>
            <a:r>
              <a:rPr lang="en-US" b="1" dirty="0" smtClean="0"/>
              <a:t>Measure Stress Management: </a:t>
            </a:r>
            <a:r>
              <a:rPr lang="en-US" dirty="0" smtClean="0"/>
              <a:t>Evaluate how candidates handle pressure and maintain composure.</a:t>
            </a:r>
          </a:p>
          <a:p>
            <a:pPr fontAlgn="base"/>
            <a:r>
              <a:rPr lang="en-US" b="1" dirty="0" smtClean="0"/>
              <a:t>Understand Interpersonal Dynamics: </a:t>
            </a:r>
            <a:r>
              <a:rPr lang="en-US" dirty="0" smtClean="0"/>
              <a:t>Gain insights into candidates’ personalities and their ability to interact positively with others.</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 of Group Discussion</a:t>
            </a:r>
          </a:p>
        </p:txBody>
      </p:sp>
      <p:sp>
        <p:nvSpPr>
          <p:cNvPr id="3" name="Content Placeholder 2"/>
          <p:cNvSpPr>
            <a:spLocks noGrp="1"/>
          </p:cNvSpPr>
          <p:nvPr>
            <p:ph idx="1"/>
          </p:nvPr>
        </p:nvSpPr>
        <p:spPr/>
        <p:txBody>
          <a:bodyPr/>
          <a:lstStyle/>
          <a:p>
            <a:endParaRPr/>
          </a:p>
          <a:p>
            <a:pPr>
              <a:defRPr sz="2000">
                <a:solidFill>
                  <a:srgbClr val="000000"/>
                </a:solidFill>
              </a:defRPr>
            </a:pPr>
            <a:r>
              <a:t>Topic-Based – Factual, Controversial, Abstract topics</a:t>
            </a:r>
          </a:p>
          <a:p>
            <a:pPr>
              <a:defRPr sz="2000">
                <a:solidFill>
                  <a:srgbClr val="000000"/>
                </a:solidFill>
              </a:defRPr>
            </a:pPr>
            <a:r>
              <a:t>Case Study Based – Analyze &amp; discuss a scenario</a:t>
            </a:r>
          </a:p>
          <a:p>
            <a:pPr>
              <a:defRPr sz="2000">
                <a:solidFill>
                  <a:srgbClr val="000000"/>
                </a:solidFill>
              </a:defRPr>
            </a:pPr>
            <a:r>
              <a:t>Role Play Based – Act as characters to solve an issue</a:t>
            </a:r>
          </a:p>
          <a:p>
            <a:pPr>
              <a:defRPr sz="2000">
                <a:solidFill>
                  <a:srgbClr val="000000"/>
                </a:solidFill>
              </a:defRPr>
            </a:pPr>
            <a:r>
              <a:t>Structured GD – Moderator guides flow of discussion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Skills Assessed in GD</a:t>
            </a:r>
          </a:p>
        </p:txBody>
      </p:sp>
      <p:sp>
        <p:nvSpPr>
          <p:cNvPr id="3" name="Content Placeholder 2"/>
          <p:cNvSpPr>
            <a:spLocks noGrp="1"/>
          </p:cNvSpPr>
          <p:nvPr>
            <p:ph idx="1"/>
          </p:nvPr>
        </p:nvSpPr>
        <p:spPr/>
        <p:txBody>
          <a:bodyPr/>
          <a:lstStyle/>
          <a:p>
            <a:endParaRPr/>
          </a:p>
          <a:p>
            <a:pPr>
              <a:defRPr sz="2000">
                <a:solidFill>
                  <a:srgbClr val="000000"/>
                </a:solidFill>
              </a:defRPr>
            </a:pPr>
            <a:r>
              <a:t>Communication skills</a:t>
            </a:r>
          </a:p>
          <a:p>
            <a:pPr>
              <a:defRPr sz="2000">
                <a:solidFill>
                  <a:srgbClr val="000000"/>
                </a:solidFill>
              </a:defRPr>
            </a:pPr>
            <a:r>
              <a:t>Leadership &amp; initiative</a:t>
            </a:r>
          </a:p>
          <a:p>
            <a:pPr>
              <a:defRPr sz="2000">
                <a:solidFill>
                  <a:srgbClr val="000000"/>
                </a:solidFill>
              </a:defRPr>
            </a:pPr>
            <a:r>
              <a:t>Teamwork &amp; cooperation</a:t>
            </a:r>
          </a:p>
          <a:p>
            <a:pPr>
              <a:defRPr sz="2000">
                <a:solidFill>
                  <a:srgbClr val="000000"/>
                </a:solidFill>
              </a:defRPr>
            </a:pPr>
            <a:r>
              <a:t>Analytical thinking</a:t>
            </a:r>
          </a:p>
          <a:p>
            <a:pPr>
              <a:defRPr sz="2000">
                <a:solidFill>
                  <a:srgbClr val="000000"/>
                </a:solidFill>
              </a:defRPr>
            </a:pPr>
            <a:r>
              <a:t>Time management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Do’s and Don’ts</a:t>
            </a:r>
          </a:p>
        </p:txBody>
      </p:sp>
      <p:sp>
        <p:nvSpPr>
          <p:cNvPr id="3" name="Content Placeholder 2"/>
          <p:cNvSpPr>
            <a:spLocks noGrp="1"/>
          </p:cNvSpPr>
          <p:nvPr>
            <p:ph idx="1"/>
          </p:nvPr>
        </p:nvSpPr>
        <p:spPr/>
        <p:txBody>
          <a:bodyPr/>
          <a:lstStyle/>
          <a:p>
            <a:endParaRPr/>
          </a:p>
          <a:p>
            <a:pPr>
              <a:defRPr sz="2000">
                <a:solidFill>
                  <a:srgbClr val="000000"/>
                </a:solidFill>
              </a:defRPr>
            </a:pPr>
            <a:r>
              <a:t>✅ Do’s: Be clear, listen actively, be respectful, use examples</a:t>
            </a:r>
          </a:p>
          <a:p>
            <a:pPr>
              <a:defRPr sz="2000">
                <a:solidFill>
                  <a:srgbClr val="000000"/>
                </a:solidFill>
              </a:defRPr>
            </a:pPr>
            <a:r>
              <a:t>❌ Don’ts: Interrupt, dominate, go off-topic, be disrespectful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endParaRPr/>
          </a:p>
          <a:p>
            <a:pPr>
              <a:defRPr sz="2000">
                <a:solidFill>
                  <a:srgbClr val="000000"/>
                </a:solidFill>
              </a:defRPr>
            </a:pPr>
            <a:r>
              <a:t>Group Discussion is not about winning but about effective participation, collaboration, and idea sharing.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b="1"/>
              <a:t>Thank You</a:t>
            </a:r>
          </a:p>
        </p:txBody>
      </p:sp>
      <p:sp>
        <p:nvSpPr>
          <p:cNvPr id="3" name="Content Placeholder 2"/>
          <p:cNvSpPr>
            <a:spLocks noGrp="1"/>
          </p:cNvSpPr>
          <p:nvPr>
            <p:ph idx="1"/>
          </p:nvPr>
        </p:nvSpPr>
        <p:spPr/>
        <p:txBody>
          <a:bodyPr/>
          <a:lstStyle/>
          <a:p>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44</TotalTime>
  <Words>424</Words>
  <Application>Microsoft Macintosh PowerPoint</Application>
  <PresentationFormat>On-screen Show (4:3)</PresentationFormat>
  <Paragraphs>182</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Flow</vt:lpstr>
      <vt:lpstr>Group Discussion (GD)</vt:lpstr>
      <vt:lpstr>Introduction</vt:lpstr>
      <vt:lpstr>Objectives of Group Discussion</vt:lpstr>
      <vt:lpstr>Purpose of a Group Discussion </vt:lpstr>
      <vt:lpstr>Key Characteristics </vt:lpstr>
      <vt:lpstr>Skills Tested </vt:lpstr>
      <vt:lpstr>The Types Of Group Discussions </vt:lpstr>
      <vt:lpstr>Slide 8</vt:lpstr>
      <vt:lpstr>Slide 9</vt:lpstr>
      <vt:lpstr>         Essential Skills Evaluated During a Group Discussion</vt:lpstr>
      <vt:lpstr>Essential Skills Evaluated During a Group Discussion </vt:lpstr>
      <vt:lpstr>Expert Tips On How to Succeed in Group Discussions </vt:lpstr>
      <vt:lpstr>Slide 13</vt:lpstr>
      <vt:lpstr>Slide 14</vt:lpstr>
      <vt:lpstr>Common Mistakes to Avoid in a GD Round </vt:lpstr>
      <vt:lpstr>Slide 16</vt:lpstr>
      <vt:lpstr>Slide 17</vt:lpstr>
      <vt:lpstr>How to Participate Effectively </vt:lpstr>
      <vt:lpstr>Slide 19</vt:lpstr>
      <vt:lpstr>Slide 20</vt:lpstr>
      <vt:lpstr>Slide 21</vt:lpstr>
      <vt:lpstr>Slide 22</vt:lpstr>
      <vt:lpstr>Slide 23</vt:lpstr>
      <vt:lpstr>Slide 24</vt:lpstr>
      <vt:lpstr>Importance of GD</vt:lpstr>
      <vt:lpstr>Importance Of Group Discussions </vt:lpstr>
      <vt:lpstr>Importance Of Group Discussions </vt:lpstr>
      <vt:lpstr>Methods of Group Discussion</vt:lpstr>
      <vt:lpstr>Skills Assessed in GD</vt:lpstr>
      <vt:lpstr>Do’s and Don’ts</vt:lpstr>
      <vt:lpstr>Conclusion</vt:lpstr>
      <vt:lpstr>Thank You</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Discussion (GD)</dc:title>
  <dc:creator>hod</dc:creator>
  <dc:description>generated using python-pptx</dc:description>
  <cp:lastModifiedBy>hod</cp:lastModifiedBy>
  <cp:revision>11</cp:revision>
  <dcterms:created xsi:type="dcterms:W3CDTF">2013-01-27T09:14:16Z</dcterms:created>
  <dcterms:modified xsi:type="dcterms:W3CDTF">2025-11-18T07:39:34Z</dcterms:modified>
</cp:coreProperties>
</file>