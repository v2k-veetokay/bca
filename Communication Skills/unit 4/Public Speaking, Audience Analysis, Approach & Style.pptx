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80" r:id="rId3"/>
    <p:sldId id="281" r:id="rId4"/>
    <p:sldId id="282" r:id="rId5"/>
    <p:sldId id="268" r:id="rId6"/>
    <p:sldId id="258" r:id="rId7"/>
    <p:sldId id="259" r:id="rId8"/>
    <p:sldId id="260" r:id="rId9"/>
    <p:sldId id="261" r:id="rId10"/>
    <p:sldId id="262" r:id="rId11"/>
    <p:sldId id="271" r:id="rId12"/>
    <p:sldId id="263" r:id="rId13"/>
    <p:sldId id="264" r:id="rId14"/>
    <p:sldId id="265" r:id="rId15"/>
    <p:sldId id="266" r:id="rId16"/>
    <p:sldId id="279" r:id="rId17"/>
    <p:sldId id="272" r:id="rId18"/>
    <p:sldId id="273" r:id="rId19"/>
    <p:sldId id="274" r:id="rId20"/>
    <p:sldId id="275" r:id="rId21"/>
    <p:sldId id="276" r:id="rId22"/>
    <p:sldId id="277" r:id="rId23"/>
    <p:sldId id="278"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6" d="100"/>
          <a:sy n="86" d="100"/>
        </p:scale>
        <p:origin x="-109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25A96971-E0BF-4E17-9EFE-25A864F5181C}" type="datetimeFigureOut">
              <a:rPr lang="en-US" smtClean="0"/>
              <a:pPr/>
              <a:t>10/25/2025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1CCB327F-B2CC-4364-9C71-5B1208428427}"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5A96971-E0BF-4E17-9EFE-25A864F5181C}" type="datetimeFigureOut">
              <a:rPr lang="en-US" smtClean="0"/>
              <a:pPr/>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CB327F-B2CC-4364-9C71-5B120842842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25A96971-E0BF-4E17-9EFE-25A864F5181C}" type="datetimeFigureOut">
              <a:rPr lang="en-US" smtClean="0"/>
              <a:pPr/>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CB327F-B2CC-4364-9C71-5B1208428427}"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25A96971-E0BF-4E17-9EFE-25A864F5181C}" type="datetimeFigureOut">
              <a:rPr lang="en-US" smtClean="0"/>
              <a:pPr/>
              <a:t>10/25/2025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CB327F-B2CC-4364-9C71-5B120842842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25A96971-E0BF-4E17-9EFE-25A864F5181C}" type="datetimeFigureOut">
              <a:rPr lang="en-US" smtClean="0"/>
              <a:pPr/>
              <a:t>10/25/2025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CCB327F-B2CC-4364-9C71-5B120842842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25A96971-E0BF-4E17-9EFE-25A864F5181C}" type="datetimeFigureOut">
              <a:rPr lang="en-US" smtClean="0"/>
              <a:pPr/>
              <a:t>10/25/2025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CCB327F-B2CC-4364-9C71-5B120842842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A96971-E0BF-4E17-9EFE-25A864F5181C}" type="datetimeFigureOut">
              <a:rPr lang="en-US" smtClean="0"/>
              <a:pPr/>
              <a:t>10/25/2025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CCB327F-B2CC-4364-9C71-5B120842842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25A96971-E0BF-4E17-9EFE-25A864F5181C}" type="datetimeFigureOut">
              <a:rPr lang="en-US" smtClean="0"/>
              <a:pPr/>
              <a:t>10/25/2025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CB327F-B2CC-4364-9C71-5B120842842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25A96971-E0BF-4E17-9EFE-25A864F5181C}" type="datetimeFigureOut">
              <a:rPr lang="en-US" smtClean="0"/>
              <a:pPr/>
              <a:t>10/25/2025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1CCB327F-B2CC-4364-9C71-5B1208428427}"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5A96971-E0BF-4E17-9EFE-25A864F5181C}" type="datetimeFigureOut">
              <a:rPr lang="en-US" smtClean="0"/>
              <a:pPr/>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CB327F-B2CC-4364-9C71-5B120842842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5A96971-E0BF-4E17-9EFE-25A864F5181C}" type="datetimeFigureOut">
              <a:rPr lang="en-US" smtClean="0"/>
              <a:pPr/>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CB327F-B2CC-4364-9C71-5B120842842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25A96971-E0BF-4E17-9EFE-25A864F5181C}" type="datetimeFigureOut">
              <a:rPr lang="en-US" smtClean="0"/>
              <a:pPr/>
              <a:t>10/25/2025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1CCB327F-B2CC-4364-9C71-5B1208428427}"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1295399"/>
          </a:xfrm>
        </p:spPr>
        <p:txBody>
          <a:bodyPr>
            <a:normAutofit fontScale="90000"/>
          </a:bodyPr>
          <a:lstStyle/>
          <a:p>
            <a:r>
              <a:rPr lang="en-US" dirty="0" smtClean="0"/>
              <a:t>Public Speaking: Audience Analysis, Approach &amp; Style</a:t>
            </a:r>
            <a:endParaRPr lang="en-US" dirty="0"/>
          </a:p>
        </p:txBody>
      </p:sp>
      <p:sp>
        <p:nvSpPr>
          <p:cNvPr id="3" name="Subtitle 2"/>
          <p:cNvSpPr>
            <a:spLocks noGrp="1"/>
          </p:cNvSpPr>
          <p:nvPr>
            <p:ph type="subTitle" idx="1"/>
          </p:nvPr>
        </p:nvSpPr>
        <p:spPr>
          <a:xfrm>
            <a:off x="1371600" y="1905000"/>
            <a:ext cx="6400800" cy="1219200"/>
          </a:xfrm>
        </p:spPr>
        <p:txBody>
          <a:bodyPr/>
          <a:lstStyle/>
          <a:p>
            <a:r>
              <a:rPr lang="en-US" dirty="0" smtClean="0">
                <a:solidFill>
                  <a:srgbClr val="FF0000"/>
                </a:solidFill>
              </a:rPr>
              <a:t>“Know your audience, shape your message.”</a:t>
            </a:r>
          </a:p>
          <a:p>
            <a:endParaRPr lang="en-US" dirty="0"/>
          </a:p>
        </p:txBody>
      </p:sp>
      <p:pic>
        <p:nvPicPr>
          <p:cNvPr id="1026" name="Picture 2"/>
          <p:cNvPicPr>
            <a:picLocks noChangeAspect="1" noChangeArrowheads="1"/>
          </p:cNvPicPr>
          <p:nvPr/>
        </p:nvPicPr>
        <p:blipFill>
          <a:blip r:embed="rId2"/>
          <a:srcRect/>
          <a:stretch>
            <a:fillRect/>
          </a:stretch>
        </p:blipFill>
        <p:spPr bwMode="auto">
          <a:xfrm>
            <a:off x="2286000" y="3276600"/>
            <a:ext cx="3952875" cy="3276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audience analysis?</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r>
              <a:rPr lang="en-US" dirty="0"/>
              <a:t>Audience analysis is the method of obtaining information about the people in your audience to better understand their wants, needs, values, and attitudes. </a:t>
            </a:r>
          </a:p>
          <a:p>
            <a:r>
              <a:rPr lang="en-US" dirty="0"/>
              <a:t>It would be best if you first defined your target audience by determining their demographics, such as their gender, age, and where they live. After you’ve defined the potential audiences, you’ll be able to narrow the list down to a single target group for in-depth analysis.</a:t>
            </a:r>
          </a:p>
          <a:p>
            <a:r>
              <a:rPr lang="en-US" dirty="0"/>
              <a:t>Intended analysis of the audience has always been key to a successful business. Because of advanced technology, this process is perhaps simpler than ever before. Companies now have easy access to a wide range of audience information via social media channels.</a:t>
            </a:r>
          </a:p>
          <a:p>
            <a:r>
              <a:rPr lang="en-US" dirty="0"/>
              <a:t>If you can turn all that data into clear insights about your audience and what they care about, you can design a better business strategy.</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Factors in Audience Analysis</a:t>
            </a:r>
          </a:p>
        </p:txBody>
      </p:sp>
      <p:sp>
        <p:nvSpPr>
          <p:cNvPr id="3" name="Content Placeholder 2"/>
          <p:cNvSpPr>
            <a:spLocks noGrp="1"/>
          </p:cNvSpPr>
          <p:nvPr>
            <p:ph idx="1"/>
          </p:nvPr>
        </p:nvSpPr>
        <p:spPr/>
        <p:txBody>
          <a:bodyPr/>
          <a:lstStyle/>
          <a:p>
            <a:r>
              <a:t>• Demographics (age, gender, education, culture)</a:t>
            </a:r>
          </a:p>
          <a:p>
            <a:r>
              <a:t>• Psychographics (values, beliefs, attitudes)</a:t>
            </a:r>
          </a:p>
          <a:p>
            <a:r>
              <a:t>• Situational factors (occasion, location, time)</a:t>
            </a:r>
          </a:p>
          <a:p>
            <a:r>
              <a:t>• Audience knowledge level</a:t>
            </a:r>
          </a:p>
          <a:p>
            <a:r>
              <a:t>• Expectations and needs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Audience</a:t>
            </a:r>
          </a:p>
        </p:txBody>
      </p:sp>
      <p:sp>
        <p:nvSpPr>
          <p:cNvPr id="3" name="Content Placeholder 2"/>
          <p:cNvSpPr>
            <a:spLocks noGrp="1"/>
          </p:cNvSpPr>
          <p:nvPr>
            <p:ph idx="1"/>
          </p:nvPr>
        </p:nvSpPr>
        <p:spPr/>
        <p:txBody>
          <a:bodyPr/>
          <a:lstStyle/>
          <a:p>
            <a:r>
              <a:t>1. Friendly – Supportive and receptive</a:t>
            </a:r>
          </a:p>
          <a:p>
            <a:r>
              <a:t>2. Neutral – Needs persuasion and evidence</a:t>
            </a:r>
          </a:p>
          <a:p>
            <a:r>
              <a:t>3. Uninterested – Needs energy and relevance</a:t>
            </a:r>
          </a:p>
          <a:p>
            <a:r>
              <a:t>4. Hostile – Needs respect, logic, and calmness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Importance of Audience Analysis</a:t>
            </a:r>
          </a:p>
        </p:txBody>
      </p:sp>
      <p:sp>
        <p:nvSpPr>
          <p:cNvPr id="3" name="Content Placeholder 2"/>
          <p:cNvSpPr>
            <a:spLocks noGrp="1"/>
          </p:cNvSpPr>
          <p:nvPr>
            <p:ph idx="1"/>
          </p:nvPr>
        </p:nvSpPr>
        <p:spPr/>
        <p:txBody>
          <a:bodyPr/>
          <a:lstStyle/>
          <a:p>
            <a:r>
              <a:t>• Tailor your message for better understanding</a:t>
            </a:r>
          </a:p>
          <a:p>
            <a:r>
              <a:t>• Builds credibility and trust</a:t>
            </a:r>
          </a:p>
          <a:p>
            <a:r>
              <a:t>• Enhances engagement and retention</a:t>
            </a:r>
          </a:p>
          <a:p>
            <a:r>
              <a:t>• Prevents miscommunication or disinterest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Types of audience analysis</a:t>
            </a:r>
            <a:br>
              <a:rPr lang="en-US" dirty="0"/>
            </a:br>
            <a:endParaRPr lang="en-US" dirty="0"/>
          </a:p>
        </p:txBody>
      </p:sp>
      <p:sp>
        <p:nvSpPr>
          <p:cNvPr id="3" name="Content Placeholder 2"/>
          <p:cNvSpPr>
            <a:spLocks noGrp="1"/>
          </p:cNvSpPr>
          <p:nvPr>
            <p:ph idx="1"/>
          </p:nvPr>
        </p:nvSpPr>
        <p:spPr/>
        <p:txBody>
          <a:bodyPr/>
          <a:lstStyle/>
          <a:p>
            <a:r>
              <a:rPr lang="en-US" dirty="0"/>
              <a:t>There are three types of audience analysis:</a:t>
            </a:r>
          </a:p>
          <a:p>
            <a:r>
              <a:rPr lang="en-US" dirty="0"/>
              <a:t>Demographic analysis</a:t>
            </a:r>
          </a:p>
          <a:p>
            <a:r>
              <a:rPr lang="en-US" dirty="0"/>
              <a:t>Psychographic analysis</a:t>
            </a:r>
          </a:p>
          <a:p>
            <a:r>
              <a:rPr lang="en-US" dirty="0"/>
              <a:t>Situational analysis.</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Demographic analysis</a:t>
            </a:r>
            <a:br>
              <a:rPr lang="en-US" dirty="0"/>
            </a:br>
            <a:endParaRPr lang="en-US" dirty="0"/>
          </a:p>
        </p:txBody>
      </p:sp>
      <p:sp>
        <p:nvSpPr>
          <p:cNvPr id="3" name="Content Placeholder 2"/>
          <p:cNvSpPr>
            <a:spLocks noGrp="1"/>
          </p:cNvSpPr>
          <p:nvPr>
            <p:ph idx="1"/>
          </p:nvPr>
        </p:nvSpPr>
        <p:spPr/>
        <p:txBody>
          <a:bodyPr/>
          <a:lstStyle/>
          <a:p>
            <a:r>
              <a:rPr lang="en-US" dirty="0" smtClean="0"/>
              <a:t>Demographic analysis include </a:t>
            </a:r>
            <a:r>
              <a:rPr lang="en-US" dirty="0"/>
              <a:t>things like gender, age range, marital status, race and ethnicity, and socioeconomic status. You probably already know how many male and female students are in your public speaking class, how old they are roughly, and so on.</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By doing demographic data analysis, you can find out a lot about your customers, as you can see. The best part is that many tools make it easy to do this analysis. For example, if you run ads on </a:t>
            </a:r>
            <a:r>
              <a:rPr lang="en-US" dirty="0" err="1"/>
              <a:t>Facebook</a:t>
            </a:r>
            <a:r>
              <a:rPr lang="en-US" dirty="0"/>
              <a:t> or Google, these platforms already have a way for you to study your audience that you can use.</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Psychographic analysis</a:t>
            </a:r>
            <a:br>
              <a:rPr lang="en-US" dirty="0"/>
            </a:br>
            <a:endParaRPr lang="en-US" dirty="0"/>
          </a:p>
        </p:txBody>
      </p:sp>
      <p:sp>
        <p:nvSpPr>
          <p:cNvPr id="3" name="Content Placeholder 2"/>
          <p:cNvSpPr>
            <a:spLocks noGrp="1"/>
          </p:cNvSpPr>
          <p:nvPr>
            <p:ph idx="1"/>
          </p:nvPr>
        </p:nvSpPr>
        <p:spPr/>
        <p:txBody>
          <a:bodyPr>
            <a:normAutofit/>
          </a:bodyPr>
          <a:lstStyle/>
          <a:p>
            <a:r>
              <a:rPr lang="en-US" dirty="0"/>
              <a:t>A psychographic analysis looks at things like values, beliefs, opinions, and attitudes. Even though two people say they don’t buy junk food, they might have very different ideas about what foods are “junk food.”</a:t>
            </a:r>
          </a:p>
          <a:p>
            <a:r>
              <a:rPr lang="en-US" dirty="0"/>
              <a:t>Audiences will likely already know two main things: what you’re talking about and your brand. Psychographic segmentation can show how your audience is limited by the ideas they already have. If you know about these ideas ahead of time, you can write your message in a way that fits them.</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Situational analysis</a:t>
            </a:r>
            <a:br>
              <a:rPr lang="en-US" dirty="0"/>
            </a:br>
            <a:endParaRPr lang="en-US" dirty="0"/>
          </a:p>
        </p:txBody>
      </p:sp>
      <p:sp>
        <p:nvSpPr>
          <p:cNvPr id="3" name="Content Placeholder 2"/>
          <p:cNvSpPr>
            <a:spLocks noGrp="1"/>
          </p:cNvSpPr>
          <p:nvPr>
            <p:ph idx="1"/>
          </p:nvPr>
        </p:nvSpPr>
        <p:spPr/>
        <p:txBody>
          <a:bodyPr>
            <a:normAutofit/>
          </a:bodyPr>
          <a:lstStyle/>
          <a:p>
            <a:r>
              <a:rPr lang="en-US" dirty="0" smtClean="0"/>
              <a:t>In </a:t>
            </a:r>
            <a:r>
              <a:rPr lang="en-US" dirty="0"/>
              <a:t>the realm of more traditional forms of speech, situational aspects of an audience include the audience’s size, attitude toward the speaker, prior knowledge of the topic, and occasion.</a:t>
            </a:r>
          </a:p>
          <a:p>
            <a:r>
              <a:rPr lang="en-US" dirty="0"/>
              <a:t>In the world of digital marketing and media, this refers to the size of your preferred audience, their attitude towards your product/company, their prior knowledge, and the websites or social media channels. They view your advertisements or interact with your products and services by this.</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Methods of Audience Analysis</a:t>
            </a:r>
          </a:p>
        </p:txBody>
      </p:sp>
      <p:sp>
        <p:nvSpPr>
          <p:cNvPr id="3" name="Content Placeholder 2"/>
          <p:cNvSpPr>
            <a:spLocks noGrp="1"/>
          </p:cNvSpPr>
          <p:nvPr>
            <p:ph idx="1"/>
          </p:nvPr>
        </p:nvSpPr>
        <p:spPr/>
        <p:txBody>
          <a:bodyPr/>
          <a:lstStyle/>
          <a:p>
            <a:r>
              <a:t>• Observation – Notice audience reactions</a:t>
            </a:r>
          </a:p>
          <a:p>
            <a:r>
              <a:t>• Surveys / Questionnaires – Gather data</a:t>
            </a:r>
          </a:p>
          <a:p>
            <a:r>
              <a:t>• Interviews – Talk to audience beforehand</a:t>
            </a:r>
          </a:p>
          <a:p>
            <a:r>
              <a:t>• Research – Learn group background</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Uses of audience analysis</a:t>
            </a:r>
            <a:br>
              <a:rPr lang="en-US" dirty="0"/>
            </a:br>
            <a:endParaRPr lang="en-US" dirty="0"/>
          </a:p>
        </p:txBody>
      </p:sp>
      <p:sp>
        <p:nvSpPr>
          <p:cNvPr id="3" name="Content Placeholder 2"/>
          <p:cNvSpPr>
            <a:spLocks noGrp="1"/>
          </p:cNvSpPr>
          <p:nvPr>
            <p:ph idx="1"/>
          </p:nvPr>
        </p:nvSpPr>
        <p:spPr/>
        <p:txBody>
          <a:bodyPr/>
          <a:lstStyle/>
          <a:p>
            <a:r>
              <a:rPr lang="en-US" dirty="0" smtClean="0"/>
              <a:t>Any </a:t>
            </a:r>
            <a:r>
              <a:rPr lang="en-US" dirty="0"/>
              <a:t>successful marketing campaign must analyze audience data. Even creating your target audience teaches you about yourself and your smart goals. By understanding your target audiences, you can adapt your messaging to meet their needs and analyze a product’s flexibility in different contexts. Below are two uses of audience analysis: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Customer behavior</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a:t>By doing audience analysis, you’ll learn how your customers act offline and online. With audience data from social media, you can see what other products and personalities people like. That will helps you figure out what they want</a:t>
            </a:r>
            <a:r>
              <a:rPr lang="en-US" dirty="0" smtClean="0"/>
              <a:t>.</a:t>
            </a:r>
            <a:r>
              <a:rPr lang="en-US" dirty="0"/>
              <a:t> Once you have this information, you’ll be able to predict better what services to promote to which groups. This will help you be more successful in the long run by speaking to each person’s needs instead of painting with broad strokes.</a:t>
            </a:r>
          </a:p>
          <a:p>
            <a:r>
              <a:rPr lang="en-US" dirty="0"/>
              <a:t/>
            </a:r>
            <a:br>
              <a:rPr lang="en-US" dirty="0"/>
            </a:b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Taking risks</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a:t>There is always a time when a company or small business must decide to grow. Taking risks is a critical component of this growth. But you don’t want to take uninformed risks. With the right audience analysis questions, you can determine what risks are likely to pay off</a:t>
            </a:r>
            <a:r>
              <a:rPr lang="en-US" dirty="0" smtClean="0"/>
              <a:t>.</a:t>
            </a:r>
            <a:r>
              <a:rPr lang="en-US" dirty="0"/>
              <a:t> if your audience data shows that most of your customers are younger, making changes to fit the needs of that group (like creating a product that is cheaper, more eco-friendly, etc.) helps ensure growth. On the other hand, if the people you want to reach are less tech-savvy, an interesting newsletter sent through email might work better than a social media campaign.</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Sum Up-</a:t>
            </a:r>
            <a:endParaRPr lang="en-US" dirty="0"/>
          </a:p>
        </p:txBody>
      </p:sp>
      <p:sp>
        <p:nvSpPr>
          <p:cNvPr id="3" name="Content Placeholder 2"/>
          <p:cNvSpPr>
            <a:spLocks noGrp="1"/>
          </p:cNvSpPr>
          <p:nvPr>
            <p:ph idx="1"/>
          </p:nvPr>
        </p:nvSpPr>
        <p:spPr/>
        <p:txBody>
          <a:bodyPr>
            <a:normAutofit/>
          </a:bodyPr>
          <a:lstStyle/>
          <a:p>
            <a:r>
              <a:rPr lang="en-US" dirty="0" smtClean="0"/>
              <a:t>In </a:t>
            </a:r>
            <a:r>
              <a:rPr lang="en-US" dirty="0"/>
              <a:t>our global, online society, your audience may be spread out around the world. This connected world has lots of audience data. It can be hard to determine customer beliefs and preferences without immediate crowd feedback.</a:t>
            </a:r>
          </a:p>
          <a:p>
            <a:r>
              <a:rPr lang="en-US" dirty="0"/>
              <a:t>Using social media sites, audience profiles, and understanding where your purchases come from can help with audience analysis. Knowing your audience enables you to make smart choices and save money.</a:t>
            </a:r>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Public Speaking</a:t>
            </a:r>
          </a:p>
        </p:txBody>
      </p:sp>
      <p:sp>
        <p:nvSpPr>
          <p:cNvPr id="3" name="Content Placeholder 2"/>
          <p:cNvSpPr>
            <a:spLocks noGrp="1"/>
          </p:cNvSpPr>
          <p:nvPr>
            <p:ph idx="1"/>
          </p:nvPr>
        </p:nvSpPr>
        <p:spPr/>
        <p:txBody>
          <a:bodyPr/>
          <a:lstStyle/>
          <a:p>
            <a:r>
              <a:t>• Art of addressing an audience effectively</a:t>
            </a:r>
          </a:p>
          <a:p>
            <a:r>
              <a:t>• Involves preparation, organization, and presentation</a:t>
            </a:r>
          </a:p>
          <a:p>
            <a:r>
              <a:t>• Success depends on connection with your audience</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Approach to Public Speaking</a:t>
            </a:r>
          </a:p>
        </p:txBody>
      </p:sp>
      <p:sp>
        <p:nvSpPr>
          <p:cNvPr id="3" name="Content Placeholder 2"/>
          <p:cNvSpPr>
            <a:spLocks noGrp="1"/>
          </p:cNvSpPr>
          <p:nvPr>
            <p:ph idx="1"/>
          </p:nvPr>
        </p:nvSpPr>
        <p:spPr/>
        <p:txBody>
          <a:bodyPr/>
          <a:lstStyle/>
          <a:p>
            <a:r>
              <a:t>• Informative – Educating</a:t>
            </a:r>
          </a:p>
          <a:p>
            <a:r>
              <a:t>• Persuasive – Convincing</a:t>
            </a:r>
          </a:p>
          <a:p>
            <a:r>
              <a:t>• Inspirational – Motivating</a:t>
            </a:r>
          </a:p>
          <a:p>
            <a:r>
              <a:t>• Entertaining – Engaging through humor or stories</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Speaking Styles</a:t>
            </a:r>
          </a:p>
        </p:txBody>
      </p:sp>
      <p:sp>
        <p:nvSpPr>
          <p:cNvPr id="3" name="Content Placeholder 2"/>
          <p:cNvSpPr>
            <a:spLocks noGrp="1"/>
          </p:cNvSpPr>
          <p:nvPr>
            <p:ph idx="1"/>
          </p:nvPr>
        </p:nvSpPr>
        <p:spPr/>
        <p:txBody>
          <a:bodyPr/>
          <a:lstStyle/>
          <a:p>
            <a:r>
              <a:t>1. Impromptu – Spontaneous</a:t>
            </a:r>
          </a:p>
          <a:p>
            <a:r>
              <a:t>2. Manuscript – Reading text</a:t>
            </a:r>
          </a:p>
          <a:p>
            <a:r>
              <a:t>3. Memorized – Delivered from memory</a:t>
            </a:r>
          </a:p>
          <a:p>
            <a:r>
              <a:t>4. Extemporaneous – Prepared but conversational</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Matching Style to Audience</a:t>
            </a:r>
          </a:p>
        </p:txBody>
      </p:sp>
      <p:sp>
        <p:nvSpPr>
          <p:cNvPr id="3" name="Content Placeholder 2"/>
          <p:cNvSpPr>
            <a:spLocks noGrp="1"/>
          </p:cNvSpPr>
          <p:nvPr>
            <p:ph idx="1"/>
          </p:nvPr>
        </p:nvSpPr>
        <p:spPr/>
        <p:txBody>
          <a:bodyPr/>
          <a:lstStyle/>
          <a:p>
            <a:r>
              <a:t>Academic – Extemporaneous (Lecture)</a:t>
            </a:r>
          </a:p>
          <a:p>
            <a:r>
              <a:t>Corporate – Persuasive (Proposal)</a:t>
            </a:r>
          </a:p>
          <a:p>
            <a:r>
              <a:t>Youth – Inspirational (Motivational talk)</a:t>
            </a:r>
          </a:p>
          <a:p>
            <a:r>
              <a:t>General – Informative/Entertaining (Awareness speech)</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Tips for Effective Delivery</a:t>
            </a:r>
          </a:p>
        </p:txBody>
      </p:sp>
      <p:sp>
        <p:nvSpPr>
          <p:cNvPr id="3" name="Content Placeholder 2"/>
          <p:cNvSpPr>
            <a:spLocks noGrp="1"/>
          </p:cNvSpPr>
          <p:nvPr>
            <p:ph idx="1"/>
          </p:nvPr>
        </p:nvSpPr>
        <p:spPr/>
        <p:txBody>
          <a:bodyPr/>
          <a:lstStyle/>
          <a:p>
            <a:r>
              <a:t>• Maintain eye contact</a:t>
            </a:r>
          </a:p>
          <a:p>
            <a:r>
              <a:t>• Use clear, confident voice</a:t>
            </a:r>
          </a:p>
          <a:p>
            <a:r>
              <a:t>• Incorporate body language</a:t>
            </a:r>
          </a:p>
          <a:p>
            <a:r>
              <a:t>• Adjust tone and pace</a:t>
            </a:r>
          </a:p>
          <a:p>
            <a:r>
              <a:t>• Encourage feedback</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 Mistakes to Avoid</a:t>
            </a:r>
          </a:p>
        </p:txBody>
      </p:sp>
      <p:sp>
        <p:nvSpPr>
          <p:cNvPr id="3" name="Content Placeholder 2"/>
          <p:cNvSpPr>
            <a:spLocks noGrp="1"/>
          </p:cNvSpPr>
          <p:nvPr>
            <p:ph idx="1"/>
          </p:nvPr>
        </p:nvSpPr>
        <p:spPr/>
        <p:txBody>
          <a:bodyPr/>
          <a:lstStyle/>
          <a:p>
            <a:r>
              <a:t>• Ignoring audience diversity</a:t>
            </a:r>
          </a:p>
          <a:p>
            <a:r>
              <a:t>• Using jargon or complex terms</a:t>
            </a:r>
          </a:p>
          <a:p>
            <a:r>
              <a:t>• Speaking too fast or monotonously</a:t>
            </a:r>
          </a:p>
          <a:p>
            <a:r>
              <a:t>• Overloading slides with text</a:t>
            </a:r>
          </a:p>
          <a:p>
            <a:r>
              <a:t>• Not adapting to cues</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t>• Know your audience</a:t>
            </a:r>
          </a:p>
          <a:p>
            <a:r>
              <a:t>• Choose fitting approach</a:t>
            </a:r>
          </a:p>
          <a:p>
            <a:r>
              <a:t>• Use connecting style</a:t>
            </a:r>
          </a:p>
          <a:p>
            <a:r>
              <a:t>• Adapt dynamically</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2724912"/>
          </a:xfrm>
        </p:spPr>
        <p:txBody>
          <a:bodyPr>
            <a:normAutofit fontScale="90000"/>
          </a:bodyPr>
          <a:lstStyle/>
          <a:p>
            <a:r>
              <a:rPr lang="en-US" dirty="0" smtClean="0"/>
              <a:t>“</a:t>
            </a:r>
            <a:r>
              <a:rPr lang="en-US" b="1" dirty="0" smtClean="0"/>
              <a:t>Speech is power: speech is to persuade, to convert, to compel</a:t>
            </a:r>
            <a:r>
              <a:rPr lang="en-US" dirty="0" smtClean="0"/>
              <a:t>.” – Ralph Waldo Emerson</a:t>
            </a:r>
            <a:br>
              <a:rPr lang="en-US" dirty="0" smtClean="0"/>
            </a:br>
            <a:endParaRPr/>
          </a:p>
        </p:txBody>
      </p:sp>
      <p:sp>
        <p:nvSpPr>
          <p:cNvPr id="3" name="Content Placeholder 2"/>
          <p:cNvSpPr>
            <a:spLocks noGrp="1"/>
          </p:cNvSpPr>
          <p:nvPr>
            <p:ph idx="1"/>
          </p:nvPr>
        </p:nvSpPr>
        <p:spPr/>
        <p:txBody>
          <a:bodyPr/>
          <a:lstStyle/>
          <a:p>
            <a:endParaRPr/>
          </a:p>
          <a:p>
            <a:endParaRPr lang="en-US" dirty="0" smtClean="0"/>
          </a:p>
          <a:p>
            <a:endParaRPr lang="en-US" dirty="0" smtClean="0"/>
          </a:p>
          <a:p>
            <a:endParaRPr lang="en-US" dirty="0" smtClean="0"/>
          </a:p>
          <a:p>
            <a:pPr algn="ctr">
              <a:buNone/>
            </a:pPr>
            <a:r>
              <a:rPr sz="8800" b="1" smtClean="0">
                <a:solidFill>
                  <a:srgbClr val="FF0000"/>
                </a:solidFill>
              </a:rPr>
              <a:t>Thank </a:t>
            </a:r>
            <a:r>
              <a:rPr sz="8800" b="1">
                <a:solidFill>
                  <a:srgbClr val="FF0000"/>
                </a:solidFill>
              </a:rPr>
              <a:t>you</a:t>
            </a:r>
            <a:r>
              <a:rPr sz="8800" b="1">
                <a:solidFill>
                  <a:srgbClr val="FF0000"/>
                </a:solidFill>
              </a:rPr>
              <a:t>! </a:t>
            </a:r>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335</TotalTime>
  <Words>985</Words>
  <Application>Microsoft Office PowerPoint</Application>
  <PresentationFormat>On-screen Show (4:3)</PresentationFormat>
  <Paragraphs>94</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Flow</vt:lpstr>
      <vt:lpstr>Public Speaking: Audience Analysis, Approach &amp; Style</vt:lpstr>
      <vt:lpstr>What is audience analysis? </vt:lpstr>
      <vt:lpstr>Factors in Audience Analysis</vt:lpstr>
      <vt:lpstr>Types of Audience</vt:lpstr>
      <vt:lpstr>Importance of Audience Analysis</vt:lpstr>
      <vt:lpstr>Types of audience analysis </vt:lpstr>
      <vt:lpstr>Demographic analysis </vt:lpstr>
      <vt:lpstr>Slide 8</vt:lpstr>
      <vt:lpstr>Psychographic analysis </vt:lpstr>
      <vt:lpstr>Situational analysis </vt:lpstr>
      <vt:lpstr>Methods of Audience Analysis</vt:lpstr>
      <vt:lpstr>Uses of audience analysis </vt:lpstr>
      <vt:lpstr>Customer behavior </vt:lpstr>
      <vt:lpstr>Taking risks </vt:lpstr>
      <vt:lpstr>Sum Up-</vt:lpstr>
      <vt:lpstr>Introduction to Public Speaking</vt:lpstr>
      <vt:lpstr>Approach to Public Speaking</vt:lpstr>
      <vt:lpstr>Speaking Styles</vt:lpstr>
      <vt:lpstr>Matching Style to Audience</vt:lpstr>
      <vt:lpstr>Tips for Effective Delivery</vt:lpstr>
      <vt:lpstr>Common Mistakes to Avoid</vt:lpstr>
      <vt:lpstr>Summary</vt:lpstr>
      <vt:lpstr>“Speech is power: speech is to persuade, to convert, to compel.” – Ralph Waldo Emerson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hod</dc:creator>
  <cp:lastModifiedBy>hod</cp:lastModifiedBy>
  <cp:revision>36</cp:revision>
  <dcterms:created xsi:type="dcterms:W3CDTF">2025-10-16T09:01:03Z</dcterms:created>
  <dcterms:modified xsi:type="dcterms:W3CDTF">2025-10-25T06:13:50Z</dcterms:modified>
</cp:coreProperties>
</file>