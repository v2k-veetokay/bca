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64" r:id="rId21"/>
    <p:sldId id="265"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napToObjects="1">
      <p:cViewPr varScale="1">
        <p:scale>
          <a:sx n="86" d="100"/>
          <a:sy n="86" d="100"/>
        </p:scale>
        <p:origin x="-109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C1FF6DA9-008F-8B48-92A6-B652298478B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C1FF6DA9-008F-8B48-92A6-B652298478BF}"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BCAD085-E8A6-8845-BD4E-CB4CCA059FC4}" type="datetimeFigureOut">
              <a:rPr lang="en-US" smtClean="0"/>
              <a:pPr/>
              <a:t>11/18/2025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C1FF6DA9-008F-8B48-92A6-B652298478BF}"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Interviews: Types, Focus, and Objectives</a:t>
            </a:r>
          </a:p>
        </p:txBody>
      </p:sp>
      <p:sp>
        <p:nvSpPr>
          <p:cNvPr id="3" name="Subtitle 2"/>
          <p:cNvSpPr>
            <a:spLocks noGrp="1"/>
          </p:cNvSpPr>
          <p:nvPr>
            <p:ph type="subTitle" idx="1"/>
          </p:nvPr>
        </p:nvSpPr>
        <p:spPr/>
        <p:txBody>
          <a:bodyPr/>
          <a:lstStyle/>
          <a:p>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Meaning of Interview</a:t>
            </a:r>
          </a:p>
        </p:txBody>
      </p:sp>
      <p:sp>
        <p:nvSpPr>
          <p:cNvPr id="3" name="Content Placeholder 2"/>
          <p:cNvSpPr>
            <a:spLocks noGrp="1"/>
          </p:cNvSpPr>
          <p:nvPr>
            <p:ph idx="1"/>
          </p:nvPr>
        </p:nvSpPr>
        <p:spPr/>
        <p:txBody>
          <a:bodyPr>
            <a:normAutofit/>
          </a:bodyPr>
          <a:lstStyle/>
          <a:p>
            <a:pPr>
              <a:defRPr sz="2000"/>
            </a:pPr>
            <a:r>
              <a:t>An interview is a structured conversation where one person (the interviewer) asks questions and the other (the interviewee) responds. It aims to gather information, assess suitability, or share </a:t>
            </a:r>
            <a:r>
              <a:rPr/>
              <a:t>perspectives</a:t>
            </a:r>
            <a:r>
              <a:rPr smtClean="0"/>
              <a:t>.</a:t>
            </a:r>
            <a:endParaRPr lang="en-US" dirty="0" smtClean="0"/>
          </a:p>
          <a:p>
            <a:pPr>
              <a:defRPr sz="2000"/>
            </a:pPr>
            <a:r>
              <a:rPr lang="en-US" sz="2000" dirty="0" smtClean="0">
                <a:latin typeface="Times New Roman" pitchFamily="18" charset="0"/>
                <a:cs typeface="Times New Roman" pitchFamily="18" charset="0"/>
              </a:rPr>
              <a:t>An interview is usually a formal meeting, it provides an opportunity to the participants to exchange views and also to evaluate others</a:t>
            </a:r>
            <a:r>
              <a:rPr lang="en-US" dirty="0" smtClean="0"/>
              <a:t>.</a:t>
            </a:r>
          </a:p>
          <a:p>
            <a:pPr>
              <a:defRPr sz="2000"/>
            </a:pPr>
            <a:r>
              <a:rPr lang="en-US" dirty="0" smtClean="0"/>
              <a:t>An interview is a structured conversation between an interviewer and an interviewee, most commonly used to assess a candidate's suitability for a job or position</a:t>
            </a:r>
            <a:r>
              <a:rPr lang="en-US" sz="2000" dirty="0" smtClean="0"/>
              <a:t>. Preparation is crucial, and it involves researching the company, understanding the job description, and practicing common questions. During the interview, focus on listening carefully, presenting your skills and experiences confidently, and being professional. </a:t>
            </a:r>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 of an Interview</a:t>
            </a:r>
          </a:p>
        </p:txBody>
      </p:sp>
      <p:sp>
        <p:nvSpPr>
          <p:cNvPr id="3" name="Content Placeholder 2"/>
          <p:cNvSpPr>
            <a:spLocks noGrp="1"/>
          </p:cNvSpPr>
          <p:nvPr>
            <p:ph idx="1"/>
          </p:nvPr>
        </p:nvSpPr>
        <p:spPr/>
        <p:txBody>
          <a:bodyPr/>
          <a:lstStyle/>
          <a:p>
            <a:pPr>
              <a:defRPr sz="2000"/>
            </a:pPr>
            <a:r>
              <a:t>• To Evaluate – Assess knowledge, skills, personality, and attitude.</a:t>
            </a:r>
          </a:p>
          <a:p>
            <a:pPr>
              <a:defRPr sz="2000"/>
            </a:pPr>
            <a:r>
              <a:t>• To Select – Choose the right person for a role or purpose.</a:t>
            </a:r>
          </a:p>
          <a:p>
            <a:pPr>
              <a:defRPr sz="2000"/>
            </a:pPr>
            <a:r>
              <a:t>• To Inform – Provide information about the organization or issue.</a:t>
            </a:r>
          </a:p>
          <a:p>
            <a:pPr>
              <a:defRPr sz="2000"/>
            </a:pPr>
            <a:r>
              <a:t>• To Clarify – Gain deeper understanding or verify facts.</a:t>
            </a:r>
          </a:p>
          <a:p>
            <a:pPr>
              <a:defRPr sz="2000"/>
            </a:pPr>
            <a:r>
              <a:t>• To Persuade – Influence or motivate others.</a:t>
            </a:r>
          </a:p>
          <a:p>
            <a:pPr>
              <a:defRPr sz="2000"/>
            </a:pPr>
            <a:r>
              <a:t>• To Establish Relationship – Build rapport and professional connection.</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Focus of an Interview</a:t>
            </a:r>
          </a:p>
        </p:txBody>
      </p:sp>
      <p:sp>
        <p:nvSpPr>
          <p:cNvPr id="3" name="Content Placeholder 2"/>
          <p:cNvSpPr>
            <a:spLocks noGrp="1"/>
          </p:cNvSpPr>
          <p:nvPr>
            <p:ph idx="1"/>
          </p:nvPr>
        </p:nvSpPr>
        <p:spPr/>
        <p:txBody>
          <a:bodyPr/>
          <a:lstStyle/>
          <a:p>
            <a:pPr>
              <a:defRPr sz="2000"/>
            </a:pPr>
            <a:r>
              <a:t>• Purpose-driven – Depends on interview goal (job, research, media).</a:t>
            </a:r>
          </a:p>
          <a:p>
            <a:pPr>
              <a:defRPr sz="2000"/>
            </a:pPr>
            <a:r>
              <a:t>• Information-oriented – Gather accurate and relevant data.</a:t>
            </a:r>
          </a:p>
          <a:p>
            <a:pPr>
              <a:defRPr sz="2000"/>
            </a:pPr>
            <a:r>
              <a:t>• Behavioral &amp; Attitudinal – Understand motivation and communication style.</a:t>
            </a:r>
          </a:p>
          <a:p>
            <a:pPr>
              <a:defRPr sz="2000"/>
            </a:pPr>
            <a:r>
              <a:t>• Decision-making – Support recruitment, admission, or evaluation.</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Types of Interviews – Based on Structure</a:t>
            </a:r>
          </a:p>
        </p:txBody>
      </p:sp>
      <p:sp>
        <p:nvSpPr>
          <p:cNvPr id="3" name="Content Placeholder 2"/>
          <p:cNvSpPr>
            <a:spLocks noGrp="1"/>
          </p:cNvSpPr>
          <p:nvPr>
            <p:ph idx="1"/>
          </p:nvPr>
        </p:nvSpPr>
        <p:spPr/>
        <p:txBody>
          <a:bodyPr/>
          <a:lstStyle/>
          <a:p>
            <a:pPr>
              <a:defRPr sz="2000"/>
            </a:pPr>
            <a:r>
              <a:t>• Structured – Fixed questions for all candidates; ensures fairness.</a:t>
            </a:r>
          </a:p>
          <a:p>
            <a:pPr>
              <a:defRPr sz="2000"/>
            </a:pPr>
            <a:r>
              <a:t>• Unstructured – Open-ended, flexible, conversational.</a:t>
            </a:r>
          </a:p>
          <a:p>
            <a:pPr>
              <a:defRPr sz="2000"/>
            </a:pPr>
            <a:r>
              <a:t>• Semi-structured – Combination of fixed and open questions.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Types of Interviews – Based on Purpose</a:t>
            </a:r>
          </a:p>
        </p:txBody>
      </p:sp>
      <p:sp>
        <p:nvSpPr>
          <p:cNvPr id="3" name="Content Placeholder 2"/>
          <p:cNvSpPr>
            <a:spLocks noGrp="1"/>
          </p:cNvSpPr>
          <p:nvPr>
            <p:ph idx="1"/>
          </p:nvPr>
        </p:nvSpPr>
        <p:spPr/>
        <p:txBody>
          <a:bodyPr/>
          <a:lstStyle/>
          <a:p>
            <a:pPr>
              <a:defRPr sz="2000"/>
            </a:pPr>
            <a:r>
              <a:t>• Employment – For hiring or promotion decisions.</a:t>
            </a:r>
          </a:p>
          <a:p>
            <a:pPr>
              <a:defRPr sz="2000"/>
            </a:pPr>
            <a:r>
              <a:t>• Academic – For admission or research selection.</a:t>
            </a:r>
          </a:p>
          <a:p>
            <a:pPr>
              <a:defRPr sz="2000"/>
            </a:pPr>
            <a:r>
              <a:t>• Research – To collect qualitative data and opinions.</a:t>
            </a:r>
          </a:p>
          <a:p>
            <a:pPr>
              <a:defRPr sz="2000"/>
            </a:pPr>
            <a:r>
              <a:t>• Journalistic – For media or public interviews.</a:t>
            </a:r>
          </a:p>
          <a:p>
            <a:pPr>
              <a:defRPr sz="2000"/>
            </a:pPr>
            <a:r>
              <a:t>• Exit – Conducted when an employee leaves an organization.</a:t>
            </a:r>
          </a:p>
          <a:p>
            <a:pPr>
              <a:defRPr sz="2000"/>
            </a:pPr>
            <a:r>
              <a:t>• Counseling – For understanding and solving issues.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Types of Interviews – Based on Mode</a:t>
            </a:r>
          </a:p>
        </p:txBody>
      </p:sp>
      <p:sp>
        <p:nvSpPr>
          <p:cNvPr id="3" name="Content Placeholder 2"/>
          <p:cNvSpPr>
            <a:spLocks noGrp="1"/>
          </p:cNvSpPr>
          <p:nvPr>
            <p:ph idx="1"/>
          </p:nvPr>
        </p:nvSpPr>
        <p:spPr/>
        <p:txBody>
          <a:bodyPr/>
          <a:lstStyle/>
          <a:p>
            <a:pPr>
              <a:defRPr sz="2000"/>
            </a:pPr>
            <a:r>
              <a:t>• Face-to-Face – Direct personal interaction.</a:t>
            </a:r>
          </a:p>
          <a:p>
            <a:pPr>
              <a:defRPr sz="2000"/>
            </a:pPr>
            <a:r>
              <a:t>• Telephonic – Conducted over the phone.</a:t>
            </a:r>
          </a:p>
          <a:p>
            <a:pPr>
              <a:defRPr sz="2000"/>
            </a:pPr>
            <a:r>
              <a:t>• Video/Online – Conducted via digital platforms.</a:t>
            </a:r>
          </a:p>
          <a:p>
            <a:pPr>
              <a:defRPr sz="2000"/>
            </a:pPr>
            <a:r>
              <a:t>• Panel – Multiple interviewers assess one candidate.</a:t>
            </a:r>
          </a:p>
          <a:p>
            <a:pPr>
              <a:defRPr sz="2000"/>
            </a:pPr>
            <a:r>
              <a:t>• Group – Several candidates interviewed together.</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of interviews</a:t>
            </a:r>
          </a:p>
        </p:txBody>
      </p:sp>
      <p:sp>
        <p:nvSpPr>
          <p:cNvPr id="3" name="Content Placeholder 2"/>
          <p:cNvSpPr>
            <a:spLocks noGrp="1"/>
          </p:cNvSpPr>
          <p:nvPr>
            <p:ph sz="quarter" idx="1"/>
          </p:nvPr>
        </p:nvSpPr>
        <p:spPr/>
        <p:txBody>
          <a:bodyPr>
            <a:normAutofit fontScale="85000" lnSpcReduction="10000"/>
          </a:bodyPr>
          <a:lstStyle/>
          <a:p>
            <a:pPr algn="just"/>
            <a:r>
              <a:rPr lang="en-US" sz="3100" dirty="0" smtClean="0">
                <a:latin typeface="Times New Roman" pitchFamily="18" charset="0"/>
                <a:cs typeface="Times New Roman" pitchFamily="18" charset="0"/>
              </a:rPr>
              <a:t>Before </a:t>
            </a:r>
            <a:r>
              <a:rPr lang="en-US" sz="3100" dirty="0">
                <a:latin typeface="Times New Roman" pitchFamily="18" charset="0"/>
                <a:cs typeface="Times New Roman" pitchFamily="18" charset="0"/>
              </a:rPr>
              <a:t>we discuss the types of interviews it is necessary to understand the typical sequence of </a:t>
            </a:r>
            <a:r>
              <a:rPr lang="en-US" sz="3100" dirty="0" smtClean="0">
                <a:latin typeface="Times New Roman" pitchFamily="18" charset="0"/>
                <a:cs typeface="Times New Roman" pitchFamily="18" charset="0"/>
              </a:rPr>
              <a:t>interviews. Different organization </a:t>
            </a:r>
            <a:r>
              <a:rPr lang="en-US" sz="3100" dirty="0">
                <a:latin typeface="Times New Roman" pitchFamily="18" charset="0"/>
                <a:cs typeface="Times New Roman" pitchFamily="18" charset="0"/>
              </a:rPr>
              <a:t>interview potential candidates </a:t>
            </a:r>
            <a:r>
              <a:rPr lang="en-US" sz="3100" dirty="0" smtClean="0">
                <a:latin typeface="Times New Roman" pitchFamily="18" charset="0"/>
                <a:cs typeface="Times New Roman" pitchFamily="18" charset="0"/>
              </a:rPr>
              <a:t>in </a:t>
            </a:r>
            <a:r>
              <a:rPr lang="en-US" sz="3100" dirty="0">
                <a:latin typeface="Times New Roman" pitchFamily="18" charset="0"/>
                <a:cs typeface="Times New Roman" pitchFamily="18" charset="0"/>
              </a:rPr>
              <a:t>different </a:t>
            </a:r>
            <a:r>
              <a:rPr lang="en-US" sz="3100" dirty="0" smtClean="0">
                <a:latin typeface="Times New Roman" pitchFamily="18" charset="0"/>
                <a:cs typeface="Times New Roman" pitchFamily="18" charset="0"/>
              </a:rPr>
              <a:t>ways. Below </a:t>
            </a:r>
            <a:r>
              <a:rPr lang="en-US" sz="3100" dirty="0">
                <a:latin typeface="Times New Roman" pitchFamily="18" charset="0"/>
                <a:cs typeface="Times New Roman" pitchFamily="18" charset="0"/>
              </a:rPr>
              <a:t>are listed the three-tier process to </a:t>
            </a:r>
            <a:r>
              <a:rPr lang="en-US" sz="3100" dirty="0" smtClean="0">
                <a:latin typeface="Times New Roman" pitchFamily="18" charset="0"/>
                <a:cs typeface="Times New Roman" pitchFamily="18" charset="0"/>
              </a:rPr>
              <a:t>interview. </a:t>
            </a:r>
          </a:p>
          <a:p>
            <a:pPr algn="just"/>
            <a:endParaRPr lang="en-US" sz="3100" dirty="0" smtClean="0">
              <a:latin typeface="Times New Roman" pitchFamily="18" charset="0"/>
              <a:cs typeface="Times New Roman" pitchFamily="18" charset="0"/>
            </a:endParaRPr>
          </a:p>
          <a:p>
            <a:pPr>
              <a:buNone/>
            </a:pPr>
            <a:r>
              <a:rPr lang="en-US" sz="3100" dirty="0">
                <a:latin typeface="Times New Roman" pitchFamily="18" charset="0"/>
                <a:cs typeface="Times New Roman" pitchFamily="18" charset="0"/>
              </a:rPr>
              <a:t>T</a:t>
            </a:r>
            <a:r>
              <a:rPr lang="en-US" sz="3100" dirty="0" smtClean="0">
                <a:latin typeface="Times New Roman" pitchFamily="18" charset="0"/>
                <a:cs typeface="Times New Roman" pitchFamily="18" charset="0"/>
              </a:rPr>
              <a:t>he sequence is:</a:t>
            </a:r>
          </a:p>
          <a:p>
            <a:pPr>
              <a:buNone/>
            </a:pPr>
            <a:endParaRPr lang="en-US" sz="3100" dirty="0" smtClean="0">
              <a:latin typeface="Times New Roman" pitchFamily="18" charset="0"/>
              <a:cs typeface="Times New Roman" pitchFamily="18" charset="0"/>
            </a:endParaRPr>
          </a:p>
          <a:p>
            <a:r>
              <a:rPr lang="en-US" sz="3400" dirty="0" smtClean="0">
                <a:latin typeface="Times New Roman" pitchFamily="18" charset="0"/>
                <a:cs typeface="Times New Roman" pitchFamily="18" charset="0"/>
              </a:rPr>
              <a:t>Screening </a:t>
            </a:r>
            <a:r>
              <a:rPr lang="en-US" sz="3400" dirty="0">
                <a:latin typeface="Times New Roman" pitchFamily="18" charset="0"/>
                <a:cs typeface="Times New Roman" pitchFamily="18" charset="0"/>
              </a:rPr>
              <a:t>stage </a:t>
            </a:r>
          </a:p>
          <a:p>
            <a:r>
              <a:rPr lang="en-US" sz="3400" dirty="0" smtClean="0">
                <a:latin typeface="Times New Roman" pitchFamily="18" charset="0"/>
                <a:cs typeface="Times New Roman" pitchFamily="18" charset="0"/>
              </a:rPr>
              <a:t>Selecting </a:t>
            </a:r>
            <a:r>
              <a:rPr lang="en-US" sz="3400" dirty="0">
                <a:latin typeface="Times New Roman" pitchFamily="18" charset="0"/>
                <a:cs typeface="Times New Roman" pitchFamily="18" charset="0"/>
              </a:rPr>
              <a:t>stage</a:t>
            </a:r>
          </a:p>
          <a:p>
            <a:r>
              <a:rPr lang="en-US" sz="3400" dirty="0">
                <a:latin typeface="Times New Roman" pitchFamily="18" charset="0"/>
                <a:cs typeface="Times New Roman" pitchFamily="18" charset="0"/>
              </a:rPr>
              <a:t> </a:t>
            </a:r>
            <a:r>
              <a:rPr lang="en-US" sz="3400" dirty="0" smtClean="0">
                <a:latin typeface="Times New Roman" pitchFamily="18" charset="0"/>
                <a:cs typeface="Times New Roman" pitchFamily="18" charset="0"/>
              </a:rPr>
              <a:t>Final </a:t>
            </a:r>
            <a:r>
              <a:rPr lang="en-US" sz="3400" dirty="0">
                <a:latin typeface="Times New Roman" pitchFamily="18" charset="0"/>
                <a:cs typeface="Times New Roman" pitchFamily="18" charset="0"/>
              </a:rPr>
              <a:t>stage</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cs typeface="Times New Roman" pitchFamily="18" charset="0"/>
              </a:rPr>
              <a:t>Screening stage</a:t>
            </a:r>
            <a:br>
              <a:rPr lang="en-US" dirty="0" smtClean="0">
                <a:latin typeface="Times New Roman" pitchFamily="18" charset="0"/>
                <a:cs typeface="Times New Roman" pitchFamily="18" charset="0"/>
              </a:rPr>
            </a:br>
            <a:endParaRPr lang="en-US" dirty="0"/>
          </a:p>
        </p:txBody>
      </p:sp>
      <p:sp>
        <p:nvSpPr>
          <p:cNvPr id="3" name="Content Placeholder 2"/>
          <p:cNvSpPr>
            <a:spLocks noGrp="1"/>
          </p:cNvSpPr>
          <p:nvPr>
            <p:ph sz="quarter" idx="1"/>
          </p:nvPr>
        </p:nvSpPr>
        <p:spPr>
          <a:xfrm>
            <a:off x="457200" y="1066800"/>
            <a:ext cx="8229600" cy="5059363"/>
          </a:xfrm>
        </p:spPr>
        <p:txBody>
          <a:bodyPr>
            <a:normAutofit/>
          </a:bodyPr>
          <a:lstStyle/>
          <a:p>
            <a:pPr algn="just"/>
            <a:r>
              <a:rPr lang="en-US" dirty="0" smtClean="0">
                <a:latin typeface="Times New Roman" pitchFamily="18" charset="0"/>
                <a:cs typeface="Times New Roman" pitchFamily="18" charset="0"/>
              </a:rPr>
              <a:t>First is the preliminary stages known as the screening stage generally held at the </a:t>
            </a:r>
            <a:r>
              <a:rPr lang="en-US" dirty="0" err="1" smtClean="0">
                <a:latin typeface="Times New Roman" pitchFamily="18" charset="0"/>
                <a:cs typeface="Times New Roman" pitchFamily="18" charset="0"/>
              </a:rPr>
              <a:t>campus.At</a:t>
            </a:r>
            <a:r>
              <a:rPr lang="en-US" dirty="0" smtClean="0">
                <a:latin typeface="Times New Roman" pitchFamily="18" charset="0"/>
                <a:cs typeface="Times New Roman" pitchFamily="18" charset="0"/>
              </a:rPr>
              <a:t> this stage the employers 'motive is to screen out the unqualified and undeserving </a:t>
            </a:r>
            <a:r>
              <a:rPr lang="en-US" dirty="0" err="1" smtClean="0">
                <a:latin typeface="Times New Roman" pitchFamily="18" charset="0"/>
                <a:cs typeface="Times New Roman" pitchFamily="18" charset="0"/>
              </a:rPr>
              <a:t>candidates.The</a:t>
            </a:r>
            <a:r>
              <a:rPr lang="en-US" dirty="0" smtClean="0">
                <a:latin typeface="Times New Roman" pitchFamily="18" charset="0"/>
                <a:cs typeface="Times New Roman" pitchFamily="18" charset="0"/>
              </a:rPr>
              <a:t> employers try to judge if the applicant will be able to meet the requirement of the organization.</a:t>
            </a:r>
          </a:p>
          <a:p>
            <a:pPr algn="just"/>
            <a:r>
              <a:rPr lang="en-US" dirty="0" smtClean="0">
                <a:latin typeface="Times New Roman" pitchFamily="18" charset="0"/>
                <a:cs typeface="Times New Roman" pitchFamily="18" charset="0"/>
              </a:rPr>
              <a:t>some of the organization nowadays interview the candidate for screening by phone or videoconferencing.</a:t>
            </a:r>
          </a:p>
          <a:p>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cs typeface="Times New Roman" pitchFamily="18" charset="0"/>
              </a:rPr>
              <a:t>Selection Stage</a:t>
            </a:r>
            <a:br>
              <a:rPr lang="en-US" dirty="0" smtClean="0">
                <a:latin typeface="Times New Roman" pitchFamily="18" charset="0"/>
                <a:cs typeface="Times New Roman" pitchFamily="18" charset="0"/>
              </a:rPr>
            </a:br>
            <a:endParaRPr lang="en-US" dirty="0"/>
          </a:p>
        </p:txBody>
      </p:sp>
      <p:sp>
        <p:nvSpPr>
          <p:cNvPr id="3" name="Content Placeholder 2"/>
          <p:cNvSpPr>
            <a:spLocks noGrp="1"/>
          </p:cNvSpPr>
          <p:nvPr>
            <p:ph sz="quarter" idx="1"/>
          </p:nvPr>
        </p:nvSpPr>
        <p:spPr/>
        <p:txBody>
          <a:bodyPr>
            <a:normAutofit fontScale="92500" lnSpcReduction="20000"/>
          </a:bodyPr>
          <a:lstStyle/>
          <a:p>
            <a:pPr algn="just"/>
            <a:r>
              <a:rPr lang="en-US" sz="3300" dirty="0">
                <a:latin typeface="Times New Roman" pitchFamily="18" charset="0"/>
                <a:cs typeface="Times New Roman" pitchFamily="18" charset="0"/>
              </a:rPr>
              <a:t>A</a:t>
            </a:r>
            <a:r>
              <a:rPr lang="en-US" sz="3300" dirty="0" smtClean="0">
                <a:latin typeface="Times New Roman" pitchFamily="18" charset="0"/>
                <a:cs typeface="Times New Roman" pitchFamily="18" charset="0"/>
              </a:rPr>
              <a:t>t the second stage of interview the applicant will be asked to interact with several people: some from the human resource department, some potential colleagues and some supervisors. The interviewer at this stage of selection want to judge the applicant's interest in the job. He is seeking for his ability and his organizational capacity. The interviewee, during the selections days is advised to be alert and attentive.</a:t>
            </a:r>
          </a:p>
          <a:p>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cs typeface="Times New Roman" pitchFamily="18" charset="0"/>
              </a:rPr>
              <a:t>Final Stage</a:t>
            </a:r>
            <a:br>
              <a:rPr lang="en-US" dirty="0" smtClean="0">
                <a:latin typeface="Times New Roman" pitchFamily="18" charset="0"/>
                <a:cs typeface="Times New Roman" pitchFamily="18" charset="0"/>
              </a:rPr>
            </a:br>
            <a:endParaRPr lang="en-US" dirty="0"/>
          </a:p>
        </p:txBody>
      </p:sp>
      <p:sp>
        <p:nvSpPr>
          <p:cNvPr id="3" name="Content Placeholder 2"/>
          <p:cNvSpPr>
            <a:spLocks noGrp="1"/>
          </p:cNvSpPr>
          <p:nvPr>
            <p:ph sz="quarter" idx="1"/>
          </p:nvPr>
        </p:nvSpPr>
        <p:spPr/>
        <p:txBody>
          <a:bodyPr>
            <a:normAutofit fontScale="77500" lnSpcReduction="20000"/>
          </a:bodyPr>
          <a:lstStyle/>
          <a:p>
            <a:pPr>
              <a:buNone/>
            </a:pPr>
            <a:endParaRPr lang="en-US" dirty="0" smtClean="0">
              <a:latin typeface="Times New Roman" pitchFamily="18" charset="0"/>
              <a:cs typeface="Times New Roman" pitchFamily="18" charset="0"/>
            </a:endParaRPr>
          </a:p>
          <a:p>
            <a:pPr algn="just"/>
            <a:r>
              <a:rPr lang="en-US" sz="3300" dirty="0">
                <a:latin typeface="Times New Roman" pitchFamily="18" charset="0"/>
                <a:cs typeface="Times New Roman" pitchFamily="18" charset="0"/>
              </a:rPr>
              <a:t>S</a:t>
            </a:r>
            <a:r>
              <a:rPr lang="en-US" sz="3300" dirty="0" smtClean="0">
                <a:latin typeface="Times New Roman" pitchFamily="18" charset="0"/>
                <a:cs typeface="Times New Roman" pitchFamily="18" charset="0"/>
              </a:rPr>
              <a:t>ome organization conduct interview for final evolution where the candidate has to face some high ranking officers. These high-ranking executives ask certain questions and finally decides whether the applicant may receive a job offer.</a:t>
            </a:r>
          </a:p>
          <a:p>
            <a:pPr algn="just"/>
            <a:endParaRPr lang="en-US" sz="3300" dirty="0" smtClean="0">
              <a:latin typeface="Times New Roman" pitchFamily="18" charset="0"/>
              <a:cs typeface="Times New Roman" pitchFamily="18" charset="0"/>
            </a:endParaRPr>
          </a:p>
          <a:p>
            <a:pPr algn="just"/>
            <a:r>
              <a:rPr lang="en-US" sz="3300" dirty="0" smtClean="0">
                <a:latin typeface="Times New Roman" pitchFamily="18" charset="0"/>
                <a:cs typeface="Times New Roman" pitchFamily="18" charset="0"/>
              </a:rPr>
              <a:t>“An underlying objective of the final stage is often to sell you  on the advantages of joining the organization"</a:t>
            </a:r>
          </a:p>
          <a:p>
            <a:pPr>
              <a:buNone/>
            </a:pPr>
            <a:r>
              <a:rPr lang="en-US" sz="3300" dirty="0" smtClean="0">
                <a:latin typeface="Times New Roman" pitchFamily="18" charset="0"/>
                <a:cs typeface="Times New Roman" pitchFamily="18" charset="0"/>
              </a:rPr>
              <a:t/>
            </a:r>
            <a:br>
              <a:rPr lang="en-US" sz="3300" dirty="0" smtClean="0">
                <a:latin typeface="Times New Roman" pitchFamily="18" charset="0"/>
                <a:cs typeface="Times New Roman" pitchFamily="18" charset="0"/>
              </a:rPr>
            </a:br>
            <a:endParaRPr lang="en-US" sz="33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Types of Interview</a:t>
            </a:r>
            <a:endParaRPr lang="en-US" dirty="0">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fontScale="92500"/>
          </a:bodyPr>
          <a:lstStyle/>
          <a:p>
            <a:pPr algn="just"/>
            <a:r>
              <a:rPr lang="en-US" dirty="0" smtClean="0">
                <a:latin typeface="Times New Roman" pitchFamily="18" charset="0"/>
                <a:cs typeface="Times New Roman" pitchFamily="18" charset="0"/>
              </a:rPr>
              <a:t>Organizations use </a:t>
            </a:r>
            <a:r>
              <a:rPr lang="en-US" dirty="0">
                <a:latin typeface="Times New Roman" pitchFamily="18" charset="0"/>
                <a:cs typeface="Times New Roman" pitchFamily="18" charset="0"/>
              </a:rPr>
              <a:t>various types of interviews to discover as much as possible about the potential of the </a:t>
            </a:r>
            <a:r>
              <a:rPr lang="en-US" dirty="0" smtClean="0">
                <a:latin typeface="Times New Roman" pitchFamily="18" charset="0"/>
                <a:cs typeface="Times New Roman" pitchFamily="18" charset="0"/>
              </a:rPr>
              <a:t>applicant. There </a:t>
            </a:r>
            <a:r>
              <a:rPr lang="en-US" dirty="0">
                <a:latin typeface="Times New Roman" pitchFamily="18" charset="0"/>
                <a:cs typeface="Times New Roman" pitchFamily="18" charset="0"/>
              </a:rPr>
              <a:t>can be </a:t>
            </a:r>
            <a:r>
              <a:rPr lang="en-US" dirty="0" smtClean="0">
                <a:latin typeface="Times New Roman" pitchFamily="18" charset="0"/>
                <a:cs typeface="Times New Roman" pitchFamily="18" charset="0"/>
              </a:rPr>
              <a:t>various  </a:t>
            </a:r>
            <a:r>
              <a:rPr lang="en-US" dirty="0">
                <a:latin typeface="Times New Roman" pitchFamily="18" charset="0"/>
                <a:cs typeface="Times New Roman" pitchFamily="18" charset="0"/>
              </a:rPr>
              <a:t>is type of </a:t>
            </a:r>
            <a:r>
              <a:rPr lang="en-US" dirty="0" smtClean="0">
                <a:latin typeface="Times New Roman" pitchFamily="18" charset="0"/>
                <a:cs typeface="Times New Roman" pitchFamily="18" charset="0"/>
              </a:rPr>
              <a:t>interviews a candidate may face.</a:t>
            </a:r>
          </a:p>
          <a:p>
            <a:r>
              <a:rPr lang="en-US" dirty="0">
                <a:latin typeface="Times New Roman" pitchFamily="18" charset="0"/>
                <a:cs typeface="Times New Roman" pitchFamily="18" charset="0"/>
              </a:rPr>
              <a:t>Structured interview </a:t>
            </a:r>
          </a:p>
          <a:p>
            <a:r>
              <a:rPr lang="en-US" dirty="0">
                <a:latin typeface="Times New Roman" pitchFamily="18" charset="0"/>
                <a:cs typeface="Times New Roman" pitchFamily="18" charset="0"/>
              </a:rPr>
              <a:t>open ended interview </a:t>
            </a:r>
          </a:p>
          <a:p>
            <a:r>
              <a:rPr lang="en-US" dirty="0">
                <a:latin typeface="Times New Roman" pitchFamily="18" charset="0"/>
                <a:cs typeface="Times New Roman" pitchFamily="18" charset="0"/>
              </a:rPr>
              <a:t>stress interview </a:t>
            </a:r>
          </a:p>
          <a:p>
            <a:r>
              <a:rPr lang="en-US" dirty="0">
                <a:latin typeface="Times New Roman" pitchFamily="18" charset="0"/>
                <a:cs typeface="Times New Roman" pitchFamily="18" charset="0"/>
              </a:rPr>
              <a:t>group interview </a:t>
            </a:r>
          </a:p>
          <a:p>
            <a:r>
              <a:rPr lang="en-US" dirty="0">
                <a:latin typeface="Times New Roman" pitchFamily="18" charset="0"/>
                <a:cs typeface="Times New Roman" pitchFamily="18" charset="0"/>
              </a:rPr>
              <a:t>panel interview </a:t>
            </a:r>
          </a:p>
          <a:p>
            <a:r>
              <a:rPr lang="en-US" dirty="0">
                <a:latin typeface="Times New Roman" pitchFamily="18" charset="0"/>
                <a:cs typeface="Times New Roman" pitchFamily="18" charset="0"/>
              </a:rPr>
              <a:t>situational Interview </a:t>
            </a:r>
          </a:p>
          <a:p>
            <a:r>
              <a:rPr lang="en-US" dirty="0">
                <a:latin typeface="Times New Roman" pitchFamily="18" charset="0"/>
                <a:cs typeface="Times New Roman" pitchFamily="18" charset="0"/>
              </a:rPr>
              <a:t>Video Interview</a:t>
            </a:r>
          </a:p>
          <a:p>
            <a:pPr algn="just"/>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Structured Interview</a:t>
            </a:r>
            <a:endParaRPr lang="en-US" dirty="0">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a:bodyPr>
          <a:lstStyle/>
          <a:p>
            <a:r>
              <a:rPr lang="en-US" dirty="0">
                <a:latin typeface="Times New Roman" pitchFamily="18" charset="0"/>
                <a:cs typeface="Times New Roman" pitchFamily="18" charset="0"/>
              </a:rPr>
              <a:t>A</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structured interview is generally used in the screening </a:t>
            </a:r>
            <a:r>
              <a:rPr lang="en-US" dirty="0" smtClean="0">
                <a:latin typeface="Times New Roman" pitchFamily="18" charset="0"/>
                <a:cs typeface="Times New Roman" pitchFamily="18" charset="0"/>
              </a:rPr>
              <a:t>stage, </a:t>
            </a:r>
            <a:r>
              <a:rPr lang="en-US" dirty="0">
                <a:latin typeface="Times New Roman" pitchFamily="18" charset="0"/>
                <a:cs typeface="Times New Roman" pitchFamily="18" charset="0"/>
              </a:rPr>
              <a:t>in this the interviewer ask a series of prepared questions in a set </a:t>
            </a:r>
            <a:r>
              <a:rPr lang="en-US" dirty="0" smtClean="0">
                <a:latin typeface="Times New Roman" pitchFamily="18" charset="0"/>
                <a:cs typeface="Times New Roman" pitchFamily="18" charset="0"/>
              </a:rPr>
              <a:t>order. The </a:t>
            </a:r>
            <a:r>
              <a:rPr lang="en-US" dirty="0">
                <a:latin typeface="Times New Roman" pitchFamily="18" charset="0"/>
                <a:cs typeface="Times New Roman" pitchFamily="18" charset="0"/>
              </a:rPr>
              <a:t>interviewer </a:t>
            </a:r>
            <a:r>
              <a:rPr lang="en-US" dirty="0" smtClean="0">
                <a:latin typeface="Times New Roman" pitchFamily="18" charset="0"/>
                <a:cs typeface="Times New Roman" pitchFamily="18" charset="0"/>
              </a:rPr>
              <a:t>asks </a:t>
            </a:r>
            <a:r>
              <a:rPr lang="en-US" dirty="0">
                <a:latin typeface="Times New Roman" pitchFamily="18" charset="0"/>
                <a:cs typeface="Times New Roman" pitchFamily="18" charset="0"/>
              </a:rPr>
              <a:t>each candidate </a:t>
            </a:r>
            <a:r>
              <a:rPr lang="en-US" dirty="0" smtClean="0">
                <a:latin typeface="Times New Roman" pitchFamily="18" charset="0"/>
                <a:cs typeface="Times New Roman" pitchFamily="18" charset="0"/>
              </a:rPr>
              <a:t>such </a:t>
            </a:r>
            <a:r>
              <a:rPr lang="en-US" dirty="0">
                <a:latin typeface="Times New Roman" pitchFamily="18" charset="0"/>
                <a:cs typeface="Times New Roman" pitchFamily="18" charset="0"/>
              </a:rPr>
              <a:t>already prepared questions with in an allotted time </a:t>
            </a:r>
            <a:r>
              <a:rPr lang="en-US" dirty="0" smtClean="0">
                <a:latin typeface="Times New Roman" pitchFamily="18" charset="0"/>
                <a:cs typeface="Times New Roman" pitchFamily="18" charset="0"/>
              </a:rPr>
              <a:t>period, </a:t>
            </a:r>
            <a:r>
              <a:rPr lang="en-US" dirty="0">
                <a:latin typeface="Times New Roman" pitchFamily="18" charset="0"/>
                <a:cs typeface="Times New Roman" pitchFamily="18" charset="0"/>
              </a:rPr>
              <a:t>all the answer are noted </a:t>
            </a:r>
            <a:r>
              <a:rPr lang="en-US" dirty="0" smtClean="0">
                <a:latin typeface="Times New Roman" pitchFamily="18" charset="0"/>
                <a:cs typeface="Times New Roman" pitchFamily="18" charset="0"/>
              </a:rPr>
              <a:t>down. The </a:t>
            </a:r>
            <a:r>
              <a:rPr lang="en-US" dirty="0">
                <a:latin typeface="Times New Roman" pitchFamily="18" charset="0"/>
                <a:cs typeface="Times New Roman" pitchFamily="18" charset="0"/>
              </a:rPr>
              <a:t>purpose of structured </a:t>
            </a:r>
            <a:r>
              <a:rPr lang="en-US" dirty="0" smtClean="0">
                <a:latin typeface="Times New Roman" pitchFamily="18" charset="0"/>
                <a:cs typeface="Times New Roman" pitchFamily="18" charset="0"/>
              </a:rPr>
              <a:t>interviews is </a:t>
            </a:r>
            <a:r>
              <a:rPr lang="en-US" dirty="0">
                <a:latin typeface="Times New Roman" pitchFamily="18" charset="0"/>
                <a:cs typeface="Times New Roman" pitchFamily="18" charset="0"/>
              </a:rPr>
              <a:t>to screen out the candidate so that they can be passed on to the next </a:t>
            </a:r>
            <a:r>
              <a:rPr lang="en-US" dirty="0" smtClean="0">
                <a:latin typeface="Times New Roman" pitchFamily="18" charset="0"/>
                <a:cs typeface="Times New Roman" pitchFamily="18" charset="0"/>
              </a:rPr>
              <a:t>stage</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Open Ended Interview</a:t>
            </a:r>
            <a:endParaRPr lang="en-US" dirty="0"/>
          </a:p>
        </p:txBody>
      </p:sp>
      <p:sp>
        <p:nvSpPr>
          <p:cNvPr id="3" name="Content Placeholder 2"/>
          <p:cNvSpPr>
            <a:spLocks noGrp="1"/>
          </p:cNvSpPr>
          <p:nvPr>
            <p:ph sz="quarter" idx="1"/>
          </p:nvPr>
        </p:nvSpPr>
        <p:spPr/>
        <p:txBody>
          <a:bodyPr/>
          <a:lstStyle/>
          <a:p>
            <a:r>
              <a:rPr lang="en-US" dirty="0" smtClean="0">
                <a:latin typeface="Times New Roman" pitchFamily="18" charset="0"/>
                <a:cs typeface="Times New Roman" pitchFamily="18" charset="0"/>
              </a:rPr>
              <a:t>Open Ended interview are usually used in the selection. It is less formal and also an structured with a relaxed formal. The interview poses open ended  questions and wants the applicant to answer them freely.</a:t>
            </a:r>
          </a:p>
          <a:p>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Stress Interview</a:t>
            </a:r>
            <a:endParaRPr lang="en-US" dirty="0"/>
          </a:p>
        </p:txBody>
      </p:sp>
      <p:sp>
        <p:nvSpPr>
          <p:cNvPr id="3" name="Content Placeholder 2"/>
          <p:cNvSpPr>
            <a:spLocks noGrp="1"/>
          </p:cNvSpPr>
          <p:nvPr>
            <p:ph sz="quarter" idx="1"/>
          </p:nvPr>
        </p:nvSpPr>
        <p:spPr/>
        <p:txBody>
          <a:bodyPr/>
          <a:lstStyle/>
          <a:p>
            <a:pPr algn="just"/>
            <a:r>
              <a:rPr lang="en-US" dirty="0">
                <a:latin typeface="Times New Roman" pitchFamily="18" charset="0"/>
                <a:cs typeface="Times New Roman" pitchFamily="18" charset="0"/>
              </a:rPr>
              <a:t>Stress interview are setup to judge the interviewee's  capacity to handle the stressful </a:t>
            </a:r>
            <a:r>
              <a:rPr lang="en-US" dirty="0" smtClean="0">
                <a:latin typeface="Times New Roman" pitchFamily="18" charset="0"/>
                <a:cs typeface="Times New Roman" pitchFamily="18" charset="0"/>
              </a:rPr>
              <a:t>situations. There </a:t>
            </a:r>
            <a:r>
              <a:rPr lang="en-US" dirty="0">
                <a:latin typeface="Times New Roman" pitchFamily="18" charset="0"/>
                <a:cs typeface="Times New Roman" pitchFamily="18" charset="0"/>
              </a:rPr>
              <a:t>are certain jobs for which it is an important </a:t>
            </a:r>
            <a:r>
              <a:rPr lang="en-US" dirty="0" smtClean="0">
                <a:latin typeface="Times New Roman" pitchFamily="18" charset="0"/>
                <a:cs typeface="Times New Roman" pitchFamily="18" charset="0"/>
              </a:rPr>
              <a:t>qualification. The </a:t>
            </a:r>
            <a:r>
              <a:rPr lang="en-US" dirty="0">
                <a:latin typeface="Times New Roman" pitchFamily="18" charset="0"/>
                <a:cs typeface="Times New Roman" pitchFamily="18" charset="0"/>
              </a:rPr>
              <a:t>purpose of such interviews </a:t>
            </a:r>
            <a:r>
              <a:rPr lang="en-US" dirty="0" smtClean="0">
                <a:latin typeface="Times New Roman" pitchFamily="18" charset="0"/>
                <a:cs typeface="Times New Roman" pitchFamily="18" charset="0"/>
              </a:rPr>
              <a:t>is to </a:t>
            </a:r>
            <a:r>
              <a:rPr lang="en-US" dirty="0">
                <a:latin typeface="Times New Roman" pitchFamily="18" charset="0"/>
                <a:cs typeface="Times New Roman" pitchFamily="18" charset="0"/>
              </a:rPr>
              <a:t>disqualify those </a:t>
            </a:r>
            <a:r>
              <a:rPr lang="en-US" dirty="0" smtClean="0">
                <a:latin typeface="Times New Roman" pitchFamily="18" charset="0"/>
                <a:cs typeface="Times New Roman" pitchFamily="18" charset="0"/>
              </a:rPr>
              <a:t>who </a:t>
            </a:r>
            <a:r>
              <a:rPr lang="en-US" dirty="0">
                <a:latin typeface="Times New Roman" pitchFamily="18" charset="0"/>
                <a:cs typeface="Times New Roman" pitchFamily="18" charset="0"/>
              </a:rPr>
              <a:t>were not able to handle a stressful situation.</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Interview</a:t>
            </a:r>
            <a:endParaRPr lang="en-US" dirty="0"/>
          </a:p>
        </p:txBody>
      </p:sp>
      <p:sp>
        <p:nvSpPr>
          <p:cNvPr id="3" name="Content Placeholder 2"/>
          <p:cNvSpPr>
            <a:spLocks noGrp="1"/>
          </p:cNvSpPr>
          <p:nvPr>
            <p:ph sz="quarter" idx="1"/>
          </p:nvPr>
        </p:nvSpPr>
        <p:spPr/>
        <p:txBody>
          <a:bodyPr>
            <a:normAutofit/>
          </a:bodyPr>
          <a:lstStyle/>
          <a:p>
            <a:pPr algn="just"/>
            <a:r>
              <a:rPr lang="en-US" dirty="0" smtClean="0"/>
              <a:t>Generally the individual interview are set up to interview the applicant. But now a days group interviews have also been in practice in which candidates of a group are interviewed at the same time by the panel of interviewers. The recruiters see how candidate interact with one another. This type of interview is useful for judging the interpersonal skills of the person</a:t>
            </a:r>
          </a:p>
          <a:p>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Panel Interview</a:t>
            </a:r>
            <a:endParaRPr lang="en-US" dirty="0"/>
          </a:p>
        </p:txBody>
      </p:sp>
      <p:sp>
        <p:nvSpPr>
          <p:cNvPr id="3" name="Content Placeholder 2"/>
          <p:cNvSpPr>
            <a:spLocks noGrp="1"/>
          </p:cNvSpPr>
          <p:nvPr>
            <p:ph sz="quarter" idx="1"/>
          </p:nvPr>
        </p:nvSpPr>
        <p:spPr/>
        <p:txBody>
          <a:bodyPr/>
          <a:lstStyle/>
          <a:p>
            <a:pPr algn="just"/>
            <a:r>
              <a:rPr lang="en-US" dirty="0" smtClean="0">
                <a:latin typeface="Times New Roman" pitchFamily="18" charset="0"/>
                <a:cs typeface="Times New Roman" pitchFamily="18" charset="0"/>
              </a:rPr>
              <a:t>some companies setup panel interview in which an applicant is interviewed by several interviewers. Each interviewer asks questions. Applicant has to keep his composure and be able to answer the questions of the panel of interviewers .</a:t>
            </a:r>
          </a:p>
          <a:p>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cs typeface="Times New Roman" pitchFamily="18" charset="0"/>
              </a:rPr>
              <a:t>Situational Interview</a:t>
            </a:r>
            <a:br>
              <a:rPr lang="en-US" dirty="0" smtClean="0">
                <a:latin typeface="Times New Roman" pitchFamily="18" charset="0"/>
                <a:cs typeface="Times New Roman" pitchFamily="18" charset="0"/>
              </a:rPr>
            </a:br>
            <a:endParaRPr lang="en-US" dirty="0"/>
          </a:p>
        </p:txBody>
      </p:sp>
      <p:sp>
        <p:nvSpPr>
          <p:cNvPr id="3" name="Content Placeholder 2"/>
          <p:cNvSpPr>
            <a:spLocks noGrp="1"/>
          </p:cNvSpPr>
          <p:nvPr>
            <p:ph sz="quarter" idx="1"/>
          </p:nvPr>
        </p:nvSpPr>
        <p:spPr/>
        <p:txBody>
          <a:bodyPr>
            <a:normAutofit lnSpcReduction="10000"/>
          </a:bodyPr>
          <a:lstStyle/>
          <a:p>
            <a:pPr algn="just"/>
            <a:r>
              <a:rPr lang="en-US" dirty="0">
                <a:latin typeface="Times New Roman" pitchFamily="18" charset="0"/>
                <a:cs typeface="Times New Roman" pitchFamily="18" charset="0"/>
              </a:rPr>
              <a:t>A</a:t>
            </a:r>
            <a:r>
              <a:rPr lang="en-US" dirty="0" smtClean="0">
                <a:latin typeface="Times New Roman" pitchFamily="18" charset="0"/>
                <a:cs typeface="Times New Roman" pitchFamily="18" charset="0"/>
              </a:rPr>
              <a:t>nother modern twist is the situational interview in which the interviewer describes the situation and ask, "how would you handle this?.”</a:t>
            </a:r>
          </a:p>
          <a:p>
            <a:pPr algn="just"/>
            <a:endParaRPr lang="en-US" dirty="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 purpose of situational  interview is to find out how well the applicant performs on the job because in traditional interview the candidates can answer well but they do not perform well when they are put to work in a specific situation.</a:t>
            </a:r>
          </a:p>
          <a:p>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cs typeface="Times New Roman" pitchFamily="18" charset="0"/>
              </a:rPr>
              <a:t>Video Interview</a:t>
            </a:r>
            <a:br>
              <a:rPr lang="en-US" dirty="0" smtClean="0">
                <a:latin typeface="Times New Roman" pitchFamily="18" charset="0"/>
                <a:cs typeface="Times New Roman" pitchFamily="18" charset="0"/>
              </a:rPr>
            </a:br>
            <a:endParaRPr lang="en-US" dirty="0"/>
          </a:p>
        </p:txBody>
      </p:sp>
      <p:sp>
        <p:nvSpPr>
          <p:cNvPr id="3" name="Content Placeholder 2"/>
          <p:cNvSpPr>
            <a:spLocks noGrp="1"/>
          </p:cNvSpPr>
          <p:nvPr>
            <p:ph sz="quarter" idx="1"/>
          </p:nvPr>
        </p:nvSpPr>
        <p:spPr/>
        <p:txBody>
          <a:bodyPr>
            <a:normAutofit/>
          </a:bodyPr>
          <a:lstStyle/>
          <a:p>
            <a:pPr algn="just"/>
            <a:r>
              <a:rPr lang="en-US" dirty="0" smtClean="0">
                <a:latin typeface="Times New Roman" pitchFamily="18" charset="0"/>
                <a:cs typeface="Times New Roman" pitchFamily="18" charset="0"/>
              </a:rPr>
              <a:t>video interviews are becoming very popular. Some large organizations use  video conferencing systems to screen out potential candidates. Video interviews require some special preparation such as clarity of speech, an acquaintance with the equipments and setting and some techniques of  nonverbal communication.</a:t>
            </a:r>
          </a:p>
          <a:p>
            <a:pPr algn="just"/>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Before the interview</a:t>
            </a:r>
            <a:endParaRPr lang="en-US" dirty="0"/>
          </a:p>
        </p:txBody>
      </p:sp>
      <p:sp>
        <p:nvSpPr>
          <p:cNvPr id="3" name="Content Placeholder 2"/>
          <p:cNvSpPr>
            <a:spLocks noGrp="1"/>
          </p:cNvSpPr>
          <p:nvPr>
            <p:ph idx="1"/>
          </p:nvPr>
        </p:nvSpPr>
        <p:spPr/>
        <p:txBody>
          <a:bodyPr>
            <a:normAutofit fontScale="85000" lnSpcReduction="10000"/>
          </a:bodyPr>
          <a:lstStyle/>
          <a:p>
            <a:r>
              <a:rPr lang="en-US" b="1" dirty="0" smtClean="0"/>
              <a:t>Research the company:</a:t>
            </a:r>
            <a:r>
              <a:rPr lang="en-US" dirty="0" smtClean="0"/>
              <a:t> Understand its mission, values, and what the specific department does.</a:t>
            </a:r>
          </a:p>
          <a:p>
            <a:r>
              <a:rPr lang="en-US" b="1" dirty="0" smtClean="0"/>
              <a:t>Review the job description:</a:t>
            </a:r>
            <a:r>
              <a:rPr lang="en-US" dirty="0" smtClean="0"/>
              <a:t> Identify the key skills and qualifications they are looking for.</a:t>
            </a:r>
          </a:p>
          <a:p>
            <a:r>
              <a:rPr lang="en-US" b="1" dirty="0" smtClean="0"/>
              <a:t>Prepare for common questions:</a:t>
            </a:r>
            <a:r>
              <a:rPr lang="en-US" dirty="0" smtClean="0"/>
              <a:t> Anticipate questions about your experience, strengths, weaknesses, and career goals</a:t>
            </a:r>
            <a:r>
              <a:rPr lang="en-US" dirty="0" smtClean="0"/>
              <a:t>.</a:t>
            </a:r>
          </a:p>
          <a:p>
            <a:r>
              <a:rPr lang="en-US" b="1" dirty="0" smtClean="0"/>
              <a:t>Practice </a:t>
            </a:r>
            <a:r>
              <a:rPr lang="en-US" b="1" dirty="0" smtClean="0"/>
              <a:t>your answers:</a:t>
            </a:r>
            <a:r>
              <a:rPr lang="en-US" dirty="0" smtClean="0"/>
              <a:t> Prepare a concise summary of your experience and practice answering questions out loud, possibly with a mock interview</a:t>
            </a:r>
            <a:r>
              <a:rPr lang="en-US" dirty="0" smtClean="0"/>
              <a:t>.</a:t>
            </a:r>
          </a:p>
          <a:p>
            <a:r>
              <a:rPr lang="en-US" b="1" dirty="0" smtClean="0"/>
              <a:t>Organize </a:t>
            </a:r>
            <a:r>
              <a:rPr lang="en-US" b="1" dirty="0" smtClean="0"/>
              <a:t>your documents:</a:t>
            </a:r>
            <a:r>
              <a:rPr lang="en-US" dirty="0" smtClean="0"/>
              <a:t> Have copies of your resume and any other required documents ready</a:t>
            </a:r>
            <a:r>
              <a:rPr lang="en-US" dirty="0" smtClean="0"/>
              <a:t>.</a:t>
            </a:r>
          </a:p>
          <a:p>
            <a:r>
              <a:rPr lang="en-US" b="1" dirty="0" smtClean="0"/>
              <a:t>Logistics</a:t>
            </a:r>
            <a:r>
              <a:rPr lang="en-US" b="1" dirty="0" smtClean="0"/>
              <a:t>:</a:t>
            </a:r>
            <a:r>
              <a:rPr lang="en-US" dirty="0" smtClean="0"/>
              <a:t> Plan your travel if it's an in-person interview or test your technology if it's a video call. </a:t>
            </a:r>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During the interview</a:t>
            </a:r>
            <a:br>
              <a:rPr lang="en-US" b="1"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Arrive early:</a:t>
            </a:r>
            <a:r>
              <a:rPr lang="en-US" dirty="0" smtClean="0"/>
              <a:t> Plan to arrive a few minutes before the scheduled time to compose yourself.</a:t>
            </a:r>
          </a:p>
          <a:p>
            <a:r>
              <a:rPr lang="en-US" b="1" dirty="0" smtClean="0"/>
              <a:t>Be prepared to talk about yourself:</a:t>
            </a:r>
            <a:r>
              <a:rPr lang="en-US" dirty="0" smtClean="0"/>
              <a:t> Have a brief (30-60 second) "elevator pitch" ready that highlights your most relevant experience.</a:t>
            </a:r>
          </a:p>
          <a:p>
            <a:r>
              <a:rPr lang="en-US" b="1" dirty="0" smtClean="0"/>
              <a:t>Listen carefully:</a:t>
            </a:r>
            <a:r>
              <a:rPr lang="en-US" dirty="0" smtClean="0"/>
              <a:t> Pay close attention to each question before you answer.</a:t>
            </a:r>
          </a:p>
          <a:p>
            <a:r>
              <a:rPr lang="en-US" b="1" dirty="0" smtClean="0"/>
              <a:t>Stay positive:</a:t>
            </a:r>
            <a:r>
              <a:rPr lang="en-US" dirty="0" smtClean="0"/>
              <a:t> Avoid speaking negatively about past employers.</a:t>
            </a:r>
          </a:p>
          <a:p>
            <a:r>
              <a:rPr lang="en-US" b="1" dirty="0" smtClean="0"/>
              <a:t>Mind your body language:</a:t>
            </a:r>
            <a:r>
              <a:rPr lang="en-US" dirty="0" smtClean="0"/>
              <a:t> Be aware of your tone of voice and physical posture, and maintain eye contact.</a:t>
            </a:r>
          </a:p>
          <a:p>
            <a:r>
              <a:rPr lang="en-US" b="1" dirty="0" smtClean="0"/>
              <a:t>Ask questions:</a:t>
            </a:r>
            <a:r>
              <a:rPr lang="en-US" dirty="0" smtClean="0"/>
              <a:t> Prepare a few thoughtful questions to ask the interviewer at the end of the conversation.</a:t>
            </a:r>
          </a:p>
          <a:p>
            <a:r>
              <a:rPr lang="en-US" b="1" dirty="0" smtClean="0"/>
              <a:t>Be confident and enthusiastic:</a:t>
            </a:r>
            <a:r>
              <a:rPr lang="en-US" dirty="0" smtClean="0"/>
              <a:t> Show that you are confident in your abilities and genuinely interested in the role. </a:t>
            </a:r>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smtClean="0">
                <a:latin typeface="Times New Roman" pitchFamily="18" charset="0"/>
                <a:cs typeface="Times New Roman" pitchFamily="18" charset="0"/>
              </a:rPr>
              <a:t>Physical Appearance</a:t>
            </a:r>
            <a:br>
              <a:rPr lang="en-US" dirty="0" smtClean="0">
                <a:latin typeface="Times New Roman" pitchFamily="18" charset="0"/>
                <a:cs typeface="Times New Roman" pitchFamily="18" charset="0"/>
              </a:rPr>
            </a:br>
            <a:endParaRPr lang="en-US" dirty="0"/>
          </a:p>
        </p:txBody>
      </p:sp>
      <p:sp>
        <p:nvSpPr>
          <p:cNvPr id="3" name="Content Placeholder 2"/>
          <p:cNvSpPr>
            <a:spLocks noGrp="1"/>
          </p:cNvSpPr>
          <p:nvPr>
            <p:ph sz="quarter" idx="1"/>
          </p:nvPr>
        </p:nvSpPr>
        <p:spPr/>
        <p:txBody>
          <a:bodyPr>
            <a:normAutofit fontScale="55000" lnSpcReduction="20000"/>
          </a:bodyPr>
          <a:lstStyle/>
          <a:p>
            <a:r>
              <a:rPr lang="en-US" dirty="0" smtClean="0">
                <a:latin typeface="Times New Roman" pitchFamily="18" charset="0"/>
                <a:cs typeface="Times New Roman" pitchFamily="18" charset="0"/>
              </a:rPr>
              <a:t>Physical appearance is important because clothing and grooming reveal something about a candidate personality and professionalism</a:t>
            </a:r>
          </a:p>
          <a:p>
            <a:endParaRPr lang="en-US" dirty="0" smtClean="0">
              <a:latin typeface="Times New Roman" pitchFamily="18" charset="0"/>
              <a:cs typeface="Times New Roman" pitchFamily="18" charset="0"/>
            </a:endParaRPr>
          </a:p>
          <a:p>
            <a:r>
              <a:rPr lang="en-US" u="sng" dirty="0" smtClean="0">
                <a:latin typeface="Times New Roman" pitchFamily="18" charset="0"/>
                <a:cs typeface="Times New Roman" pitchFamily="18" charset="0"/>
              </a:rPr>
              <a:t>Dress formally</a:t>
            </a:r>
          </a:p>
          <a:p>
            <a:pPr>
              <a:buNone/>
            </a:pPr>
            <a:r>
              <a:rPr lang="en-US" dirty="0" smtClean="0">
                <a:latin typeface="Times New Roman" pitchFamily="18" charset="0"/>
                <a:cs typeface="Times New Roman" pitchFamily="18" charset="0"/>
              </a:rPr>
              <a:t>    The interviewee  should appear in a  formal dress .He should be in sober simple decent and conventional dress and polish his shoes properly.</a:t>
            </a:r>
          </a:p>
          <a:p>
            <a:pPr>
              <a:buNone/>
            </a:pPr>
            <a:endParaRPr lang="en-US" dirty="0" smtClean="0">
              <a:latin typeface="Times New Roman" pitchFamily="18" charset="0"/>
              <a:cs typeface="Times New Roman" pitchFamily="18" charset="0"/>
            </a:endParaRPr>
          </a:p>
          <a:p>
            <a:r>
              <a:rPr lang="en-US" u="sng" dirty="0" smtClean="0">
                <a:latin typeface="Times New Roman" pitchFamily="18" charset="0"/>
                <a:cs typeface="Times New Roman" pitchFamily="18" charset="0"/>
              </a:rPr>
              <a:t>Be well groomed.</a:t>
            </a:r>
          </a:p>
          <a:p>
            <a:pPr>
              <a:buNone/>
            </a:pPr>
            <a:r>
              <a:rPr lang="en-US" dirty="0" smtClean="0">
                <a:latin typeface="Times New Roman" pitchFamily="18" charset="0"/>
                <a:cs typeface="Times New Roman" pitchFamily="18" charset="0"/>
              </a:rPr>
              <a:t>     Clothes should be clean and well pressed. a person dressed shabbily in wrinkled clothes fails to impress the lookers on. Moreover ,nails should be trimmed hair properly comes and breath fresh.</a:t>
            </a:r>
          </a:p>
          <a:p>
            <a:pPr>
              <a:buNone/>
            </a:pPr>
            <a:r>
              <a:rPr lang="en-US" dirty="0" smtClean="0">
                <a:latin typeface="Times New Roman" pitchFamily="18" charset="0"/>
                <a:cs typeface="Times New Roman" pitchFamily="18" charset="0"/>
              </a:rPr>
              <a:t>     Overall the interview should appear in a pleasant image. Female candidates may wear simple and appropriate </a:t>
            </a:r>
            <a:r>
              <a:rPr lang="en-US" dirty="0" err="1" smtClean="0">
                <a:latin typeface="Times New Roman" pitchFamily="18" charset="0"/>
                <a:cs typeface="Times New Roman" pitchFamily="18" charset="0"/>
              </a:rPr>
              <a:t>jewellery</a:t>
            </a:r>
            <a:r>
              <a:rPr lang="en-US" dirty="0" smtClean="0">
                <a:latin typeface="Times New Roman" pitchFamily="18" charset="0"/>
                <a:cs typeface="Times New Roman" pitchFamily="18" charset="0"/>
              </a:rPr>
              <a:t> which will add to their personality.</a:t>
            </a:r>
          </a:p>
          <a:p>
            <a:endParaRPr lang="en-US" dirty="0"/>
          </a:p>
        </p:txBody>
      </p:sp>
      <p:pic>
        <p:nvPicPr>
          <p:cNvPr id="4098" name="Picture 2"/>
          <p:cNvPicPr>
            <a:picLocks noGrp="1" noChangeAspect="1" noChangeArrowheads="1"/>
          </p:cNvPicPr>
          <p:nvPr>
            <p:ph sz="quarter" idx="2"/>
          </p:nvPr>
        </p:nvPicPr>
        <p:blipFill>
          <a:blip r:embed="rId2"/>
          <a:srcRect/>
          <a:stretch>
            <a:fillRect/>
          </a:stretch>
        </p:blipFill>
        <p:spPr bwMode="auto">
          <a:xfrm>
            <a:off x="4845050" y="1600200"/>
            <a:ext cx="3886200" cy="4572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sz="quarter" idx="1"/>
          </p:nvPr>
        </p:nvPicPr>
        <p:blipFill>
          <a:blip r:embed="rId2"/>
          <a:srcRect/>
          <a:stretch>
            <a:fillRect/>
          </a:stretch>
        </p:blipFill>
        <p:spPr bwMode="auto">
          <a:xfrm>
            <a:off x="533400" y="533400"/>
            <a:ext cx="7924799" cy="5791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sz="quarter" idx="1"/>
          </p:nvPr>
        </p:nvPicPr>
        <p:blipFill>
          <a:blip r:embed="rId2"/>
          <a:srcRect/>
          <a:stretch>
            <a:fillRect/>
          </a:stretch>
        </p:blipFill>
        <p:spPr bwMode="auto">
          <a:xfrm>
            <a:off x="762000" y="381000"/>
            <a:ext cx="7619999" cy="58673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sz="quarter" idx="1"/>
          </p:nvPr>
        </p:nvPicPr>
        <p:blipFill>
          <a:blip r:embed="rId2"/>
          <a:srcRect/>
          <a:stretch>
            <a:fillRect/>
          </a:stretch>
        </p:blipFill>
        <p:spPr bwMode="auto">
          <a:xfrm>
            <a:off x="533400" y="685800"/>
            <a:ext cx="8305799" cy="5943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rmAutofit fontScale="62500" lnSpcReduction="20000"/>
          </a:bodyPr>
          <a:lstStyle/>
          <a:p>
            <a:r>
              <a:rPr lang="en-US" sz="3400" b="1" dirty="0" smtClean="0">
                <a:latin typeface="Times New Roman" pitchFamily="18" charset="0"/>
                <a:cs typeface="Times New Roman" pitchFamily="18" charset="0"/>
              </a:rPr>
              <a:t>Be relaxed</a:t>
            </a:r>
          </a:p>
          <a:p>
            <a:endParaRPr lang="en-US" b="1"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Feeling nervous on the day of interview is natural but the interviewee  should try to control his nervousness and feel relaxed. Smile at the appropriate movements and should not speak to fast to hide his  nervousness.</a:t>
            </a:r>
          </a:p>
          <a:p>
            <a:pPr>
              <a:buNone/>
            </a:pP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smtClean="0">
              <a:latin typeface="Times New Roman" pitchFamily="18" charset="0"/>
              <a:cs typeface="Times New Roman" pitchFamily="18" charset="0"/>
            </a:endParaRPr>
          </a:p>
          <a:p>
            <a:pPr>
              <a:buNone/>
            </a:pPr>
            <a:r>
              <a:rPr lang="en-US" b="1" u="sng" dirty="0" smtClean="0">
                <a:latin typeface="Times New Roman" pitchFamily="18" charset="0"/>
                <a:cs typeface="Times New Roman" pitchFamily="18" charset="0"/>
              </a:rPr>
              <a:t>Be prepared for an  interview</a:t>
            </a:r>
          </a:p>
          <a:p>
            <a:r>
              <a:rPr lang="en-US" dirty="0" smtClean="0">
                <a:latin typeface="Times New Roman" pitchFamily="18" charset="0"/>
                <a:cs typeface="Times New Roman" pitchFamily="18" charset="0"/>
              </a:rPr>
              <a:t>Some other important points and interviewee should take notice</a:t>
            </a:r>
          </a:p>
          <a:p>
            <a:r>
              <a:rPr lang="en-US" dirty="0" smtClean="0">
                <a:latin typeface="Times New Roman" pitchFamily="18" charset="0"/>
                <a:cs typeface="Times New Roman" pitchFamily="18" charset="0"/>
              </a:rPr>
              <a:t>Take proof of your accomplishments</a:t>
            </a:r>
          </a:p>
          <a:p>
            <a:r>
              <a:rPr lang="en-US" dirty="0" smtClean="0">
                <a:latin typeface="Times New Roman" pitchFamily="18" charset="0"/>
                <a:cs typeface="Times New Roman" pitchFamily="18" charset="0"/>
              </a:rPr>
              <a:t>Reach the place of interview on time</a:t>
            </a:r>
          </a:p>
          <a:p>
            <a:r>
              <a:rPr lang="en-US" dirty="0" smtClean="0">
                <a:latin typeface="Times New Roman" pitchFamily="18" charset="0"/>
                <a:cs typeface="Times New Roman" pitchFamily="18" charset="0"/>
              </a:rPr>
              <a:t>Wait gracefully</a:t>
            </a:r>
          </a:p>
          <a:p>
            <a:r>
              <a:rPr lang="en-US" dirty="0" smtClean="0">
                <a:latin typeface="Times New Roman" pitchFamily="18" charset="0"/>
                <a:cs typeface="Times New Roman" pitchFamily="18" charset="0"/>
              </a:rPr>
              <a:t>Role of nonverbal cues</a:t>
            </a:r>
          </a:p>
          <a:p>
            <a:r>
              <a:rPr lang="en-US" dirty="0" smtClean="0">
                <a:latin typeface="Times New Roman" pitchFamily="18" charset="0"/>
                <a:cs typeface="Times New Roman" pitchFamily="18" charset="0"/>
              </a:rPr>
              <a:t>The success of the candidate to a large extent depends on his overall production it is important for the interview to cause is language as to use it effectively for communication is does the soul of success in job interview but Non verbal communication also plays a very important role.</a:t>
            </a:r>
          </a:p>
          <a:p>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70000" lnSpcReduction="20000"/>
          </a:bodyPr>
          <a:lstStyle/>
          <a:p>
            <a:pPr algn="just"/>
            <a:r>
              <a:rPr lang="en-US" b="1" dirty="0" smtClean="0">
                <a:latin typeface="Times New Roman" panose="02020603050405020304" charset="0"/>
              </a:rPr>
              <a:t>Checklist: Succeeding With Job Interviews</a:t>
            </a:r>
          </a:p>
          <a:p>
            <a:pPr algn="just"/>
            <a:r>
              <a:rPr lang="en-US" dirty="0" smtClean="0">
                <a:latin typeface="Times New Roman" panose="02020603050405020304" charset="0"/>
              </a:rPr>
              <a:t>1. </a:t>
            </a:r>
            <a:r>
              <a:rPr lang="en-US" b="1" dirty="0" smtClean="0">
                <a:latin typeface="Times New Roman" panose="02020603050405020304" charset="0"/>
              </a:rPr>
              <a:t>Preparation:</a:t>
            </a:r>
            <a:r>
              <a:rPr lang="en-US" dirty="0" smtClean="0">
                <a:latin typeface="Times New Roman" panose="02020603050405020304" charset="0"/>
              </a:rPr>
              <a:t> </a:t>
            </a:r>
          </a:p>
          <a:p>
            <a:pPr algn="just"/>
            <a:r>
              <a:rPr lang="en-US" dirty="0" smtClean="0">
                <a:latin typeface="Times New Roman" panose="02020603050405020304" charset="0"/>
              </a:rPr>
              <a:t>a. Determine the requirements and general salary range of the job.</a:t>
            </a:r>
          </a:p>
          <a:p>
            <a:pPr algn="just"/>
            <a:r>
              <a:rPr lang="en-US" dirty="0" smtClean="0">
                <a:latin typeface="Times New Roman" panose="02020603050405020304" charset="0"/>
              </a:rPr>
              <a:t>b. Research the organization’s products, structure, financial standing, and prospects for growth.</a:t>
            </a:r>
          </a:p>
          <a:p>
            <a:pPr algn="just"/>
            <a:r>
              <a:rPr lang="en-US" dirty="0" smtClean="0">
                <a:latin typeface="Times New Roman" panose="02020603050405020304" charset="0"/>
              </a:rPr>
              <a:t>c. Determine the interviewer’s name, title, and status in the firm.</a:t>
            </a:r>
          </a:p>
          <a:p>
            <a:pPr algn="just"/>
            <a:r>
              <a:rPr lang="en-US" dirty="0" smtClean="0">
                <a:latin typeface="Times New Roman" panose="02020603050405020304" charset="0"/>
              </a:rPr>
              <a:t>d. Prepare answers for the questions you are likely to be asked.</a:t>
            </a:r>
          </a:p>
          <a:p>
            <a:pPr algn="just"/>
            <a:r>
              <a:rPr lang="en-US" dirty="0" smtClean="0">
                <a:latin typeface="Times New Roman" panose="02020603050405020304" charset="0"/>
              </a:rPr>
              <a:t>e. Develop relevant questions to ask.</a:t>
            </a:r>
          </a:p>
          <a:p>
            <a:pPr algn="just"/>
            <a:r>
              <a:rPr lang="en-US" dirty="0" smtClean="0">
                <a:latin typeface="Times New Roman" panose="02020603050405020304" charset="0"/>
              </a:rPr>
              <a:t>f. Dress in a businesslike manner, regardless of the mode of dress preferred within the organization. </a:t>
            </a:r>
          </a:p>
          <a:p>
            <a:pPr algn="just"/>
            <a:r>
              <a:rPr lang="en-US" dirty="0" smtClean="0">
                <a:latin typeface="Times New Roman" panose="02020603050405020304" charset="0"/>
              </a:rPr>
              <a:t>g. Take a briefcase or portfolio-- with pen, paper, list of questions, two resumes, work samples.</a:t>
            </a:r>
          </a:p>
          <a:p>
            <a:pPr algn="just"/>
            <a:r>
              <a:rPr lang="en-US" dirty="0" smtClean="0">
                <a:latin typeface="Times New Roman" panose="02020603050405020304" charset="0"/>
              </a:rPr>
              <a:t>h. Double-check the location and time of the interview, mapping out the route beforehand.</a:t>
            </a:r>
          </a:p>
          <a:p>
            <a:pPr algn="just"/>
            <a:r>
              <a:rPr lang="en-US" dirty="0" err="1" smtClean="0">
                <a:latin typeface="Times New Roman" panose="02020603050405020304" charset="0"/>
              </a:rPr>
              <a:t>i</a:t>
            </a:r>
            <a:r>
              <a:rPr lang="en-US" dirty="0" smtClean="0">
                <a:latin typeface="Times New Roman" panose="02020603050405020304" charset="0"/>
              </a:rPr>
              <a:t>. Plan to arrive 10 to 15 minutes early; allow 10 to 15 minutes for possible problems on route.</a:t>
            </a:r>
          </a:p>
          <a:p>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45719"/>
          </a:xfrm>
        </p:spPr>
        <p:txBody>
          <a:bodyPr>
            <a:normAutofit fontScale="90000"/>
          </a:bodyPr>
          <a:lstStyle/>
          <a:p>
            <a:endParaRPr lang="en-US" dirty="0"/>
          </a:p>
        </p:txBody>
      </p:sp>
      <p:sp>
        <p:nvSpPr>
          <p:cNvPr id="3" name="Content Placeholder 2"/>
          <p:cNvSpPr>
            <a:spLocks noGrp="1"/>
          </p:cNvSpPr>
          <p:nvPr>
            <p:ph sz="quarter" idx="1"/>
          </p:nvPr>
        </p:nvSpPr>
        <p:spPr>
          <a:xfrm>
            <a:off x="685800" y="838200"/>
            <a:ext cx="8153400" cy="5410200"/>
          </a:xfrm>
        </p:spPr>
        <p:txBody>
          <a:bodyPr>
            <a:normAutofit fontScale="70000" lnSpcReduction="20000"/>
          </a:bodyPr>
          <a:lstStyle/>
          <a:p>
            <a:pPr algn="just"/>
            <a:r>
              <a:rPr lang="en-US" b="1" dirty="0" smtClean="0">
                <a:latin typeface="Times New Roman" panose="02020603050405020304" charset="0"/>
              </a:rPr>
              <a:t>2. Initial Stages of the Interview:</a:t>
            </a:r>
          </a:p>
          <a:p>
            <a:pPr algn="just"/>
            <a:r>
              <a:rPr lang="en-US" dirty="0" smtClean="0">
                <a:latin typeface="Times New Roman" panose="02020603050405020304" charset="0"/>
              </a:rPr>
              <a:t>a. Greet the interviewer by name, with a smile and direct eye contact.</a:t>
            </a:r>
          </a:p>
          <a:p>
            <a:pPr algn="just"/>
            <a:r>
              <a:rPr lang="en-US" dirty="0" smtClean="0">
                <a:latin typeface="Times New Roman" panose="02020603050405020304" charset="0"/>
              </a:rPr>
              <a:t>b. Offer a firm handshake if the interviewer extends a hand.</a:t>
            </a:r>
          </a:p>
          <a:p>
            <a:pPr algn="just"/>
            <a:r>
              <a:rPr lang="en-US" dirty="0" smtClean="0">
                <a:latin typeface="Times New Roman" panose="02020603050405020304" charset="0"/>
              </a:rPr>
              <a:t>c. Take a seat only after the interviewer invites you to be seated or has taken his or her own seat.</a:t>
            </a:r>
          </a:p>
          <a:p>
            <a:pPr algn="just"/>
            <a:r>
              <a:rPr lang="en-US" dirty="0" smtClean="0">
                <a:latin typeface="Times New Roman" panose="02020603050405020304" charset="0"/>
              </a:rPr>
              <a:t>d. Listen for cues about what the questions are trying to reveal about you and your qualification. </a:t>
            </a:r>
          </a:p>
          <a:p>
            <a:pPr algn="just"/>
            <a:r>
              <a:rPr lang="en-US" dirty="0" smtClean="0">
                <a:latin typeface="Times New Roman" panose="02020603050405020304" charset="0"/>
              </a:rPr>
              <a:t>e. Assume a calm and poised attitude (avoiding gum chewing, smoking, and other signs of nervousness)</a:t>
            </a:r>
          </a:p>
          <a:p>
            <a:pPr algn="just"/>
            <a:endParaRPr lang="en-US" dirty="0" smtClean="0">
              <a:latin typeface="Times New Roman" panose="02020603050405020304" charset="0"/>
            </a:endParaRPr>
          </a:p>
          <a:p>
            <a:pPr algn="just"/>
            <a:r>
              <a:rPr lang="en-US" b="1" dirty="0" smtClean="0">
                <a:latin typeface="Times New Roman" panose="02020603050405020304" charset="0"/>
              </a:rPr>
              <a:t>3. Body of the Interview: </a:t>
            </a:r>
          </a:p>
          <a:p>
            <a:pPr algn="just"/>
            <a:r>
              <a:rPr lang="en-US" dirty="0" smtClean="0">
                <a:latin typeface="Times New Roman" panose="02020603050405020304" charset="0"/>
              </a:rPr>
              <a:t>a. Display a genuine (not artificial) smile.</a:t>
            </a:r>
          </a:p>
          <a:p>
            <a:pPr algn="just"/>
            <a:r>
              <a:rPr lang="en-US" dirty="0" smtClean="0">
                <a:latin typeface="Times New Roman" panose="02020603050405020304" charset="0"/>
              </a:rPr>
              <a:t>b. Convey interest and enthusiasm</a:t>
            </a:r>
          </a:p>
          <a:p>
            <a:pPr algn="just"/>
            <a:r>
              <a:rPr lang="en-US" dirty="0" smtClean="0">
                <a:latin typeface="Times New Roman" panose="02020603050405020304" charset="0"/>
              </a:rPr>
              <a:t>c. Listen attentively so that you can give intelligent responses</a:t>
            </a:r>
          </a:p>
          <a:p>
            <a:pPr algn="just"/>
            <a:r>
              <a:rPr lang="en-US" dirty="0" smtClean="0">
                <a:latin typeface="Times New Roman" panose="02020603050405020304" charset="0"/>
              </a:rPr>
              <a:t>d. Relate your knowledge and skills to the position and stress your positive qualities</a:t>
            </a:r>
          </a:p>
          <a:p>
            <a:pPr algn="just"/>
            <a:r>
              <a:rPr lang="en-US" dirty="0" smtClean="0">
                <a:latin typeface="Times New Roman" panose="02020603050405020304" charset="0"/>
              </a:rPr>
              <a:t>e. Keep responses brief, clear, and to the point</a:t>
            </a:r>
          </a:p>
          <a:p>
            <a:pPr algn="just"/>
            <a:r>
              <a:rPr lang="en-US" dirty="0" smtClean="0">
                <a:latin typeface="Times New Roman" panose="02020603050405020304" charset="0"/>
              </a:rPr>
              <a:t>f. Avoid exaggeration, and convey honesty and sincerity</a:t>
            </a:r>
          </a:p>
          <a:p>
            <a:pPr algn="just"/>
            <a:r>
              <a:rPr lang="en-US" dirty="0" smtClean="0">
                <a:latin typeface="Times New Roman" panose="02020603050405020304" charset="0"/>
              </a:rPr>
              <a:t>g. Avoid slighting references to former employers</a:t>
            </a:r>
          </a:p>
          <a:p>
            <a:pPr algn="just"/>
            <a:r>
              <a:rPr lang="en-US" dirty="0" smtClean="0">
                <a:latin typeface="Times New Roman" panose="02020603050405020304" charset="0"/>
              </a:rPr>
              <a:t>h. Avoid alcoholic drinks if you are interviewed over lunch or dinner.</a:t>
            </a: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62500" lnSpcReduction="20000"/>
          </a:bodyPr>
          <a:lstStyle/>
          <a:p>
            <a:pPr algn="just"/>
            <a:r>
              <a:rPr lang="en-US" dirty="0" smtClean="0">
                <a:latin typeface="Times New Roman" panose="02020603050405020304" charset="0"/>
              </a:rPr>
              <a:t>4. </a:t>
            </a:r>
            <a:r>
              <a:rPr lang="en-US" b="1" dirty="0" smtClean="0">
                <a:latin typeface="Times New Roman" panose="02020603050405020304" charset="0"/>
              </a:rPr>
              <a:t>Salary Discussion: </a:t>
            </a:r>
          </a:p>
          <a:p>
            <a:pPr algn="just"/>
            <a:r>
              <a:rPr lang="en-US" dirty="0" smtClean="0">
                <a:latin typeface="Times New Roman" panose="02020603050405020304" charset="0"/>
              </a:rPr>
              <a:t>a. Let the interviewer initiate the discussion of salary, but put it off until late in the interview if possible. </a:t>
            </a:r>
          </a:p>
          <a:p>
            <a:pPr algn="just"/>
            <a:r>
              <a:rPr lang="en-US" dirty="0" smtClean="0">
                <a:latin typeface="Times New Roman" panose="02020603050405020304" charset="0"/>
              </a:rPr>
              <a:t>b. If asked, state that you would like to receive the standard salary for the position.</a:t>
            </a:r>
          </a:p>
          <a:p>
            <a:pPr algn="just"/>
            <a:endParaRPr lang="en-US" dirty="0" smtClean="0">
              <a:latin typeface="Times New Roman" panose="02020603050405020304" charset="0"/>
            </a:endParaRPr>
          </a:p>
          <a:p>
            <a:pPr algn="just"/>
            <a:r>
              <a:rPr lang="en-US" dirty="0" smtClean="0">
                <a:latin typeface="Times New Roman" panose="02020603050405020304" charset="0"/>
              </a:rPr>
              <a:t>5. </a:t>
            </a:r>
            <a:r>
              <a:rPr lang="en-US" b="1" dirty="0" smtClean="0">
                <a:latin typeface="Times New Roman" panose="02020603050405020304" charset="0"/>
              </a:rPr>
              <a:t>Closing Stages of the Interview: </a:t>
            </a:r>
          </a:p>
          <a:p>
            <a:pPr algn="just"/>
            <a:r>
              <a:rPr lang="en-US" dirty="0" smtClean="0">
                <a:latin typeface="Times New Roman" panose="02020603050405020304" charset="0"/>
              </a:rPr>
              <a:t>a. Watch for signs that the interview is about to end.</a:t>
            </a:r>
          </a:p>
          <a:p>
            <a:pPr algn="just"/>
            <a:r>
              <a:rPr lang="en-US" dirty="0" smtClean="0">
                <a:latin typeface="Times New Roman" panose="02020603050405020304" charset="0"/>
              </a:rPr>
              <a:t>b. Tactfully ask</a:t>
            </a:r>
            <a:r>
              <a:rPr lang="en-IN" altLang="en-US" dirty="0" smtClean="0">
                <a:latin typeface="Times New Roman" panose="02020603050405020304" charset="0"/>
              </a:rPr>
              <a:t>,</a:t>
            </a:r>
            <a:r>
              <a:rPr lang="en-US" dirty="0" smtClean="0">
                <a:latin typeface="Times New Roman" panose="02020603050405020304" charset="0"/>
              </a:rPr>
              <a:t> when you will be advised of the decision on your application.</a:t>
            </a:r>
          </a:p>
          <a:p>
            <a:pPr algn="just"/>
            <a:r>
              <a:rPr lang="en-US" dirty="0" smtClean="0">
                <a:latin typeface="Times New Roman" panose="02020603050405020304" charset="0"/>
              </a:rPr>
              <a:t>c. If you’re offered the job, either accept or ask for time to consider the offer.</a:t>
            </a:r>
          </a:p>
          <a:p>
            <a:pPr algn="just"/>
            <a:r>
              <a:rPr lang="en-US" dirty="0" smtClean="0">
                <a:latin typeface="Times New Roman" panose="02020603050405020304" charset="0"/>
              </a:rPr>
              <a:t>d. With a warm smile and a handshake, thank the interviewer for meeting with you.</a:t>
            </a:r>
          </a:p>
          <a:p>
            <a:pPr algn="just"/>
            <a:endParaRPr lang="en-US" dirty="0" smtClean="0">
              <a:latin typeface="Times New Roman" panose="02020603050405020304" charset="0"/>
            </a:endParaRPr>
          </a:p>
          <a:p>
            <a:pPr algn="just"/>
            <a:r>
              <a:rPr lang="en-US" b="1" dirty="0" smtClean="0">
                <a:latin typeface="Times New Roman" panose="02020603050405020304" charset="0"/>
              </a:rPr>
              <a:t>Interviewer’s Preparation(Conducting Interview)</a:t>
            </a:r>
          </a:p>
          <a:p>
            <a:pPr algn="just" fontAlgn="auto">
              <a:lnSpc>
                <a:spcPct val="100000"/>
              </a:lnSpc>
              <a:spcAft>
                <a:spcPts val="600"/>
              </a:spcAft>
            </a:pPr>
            <a:r>
              <a:rPr lang="en-US" dirty="0" smtClean="0">
                <a:latin typeface="Times New Roman" panose="02020603050405020304" charset="0"/>
              </a:rPr>
              <a:t>Interviewer is a person who puts questions to the interviewee. An interviewer plays an important role in interviewing because he can choose good and potential candidate and at the same time reject the undeserving candidates.</a:t>
            </a:r>
          </a:p>
          <a:p>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sz="quarter" idx="1"/>
          </p:nvPr>
        </p:nvPicPr>
        <p:blipFill>
          <a:blip r:embed="rId2"/>
          <a:srcRect/>
          <a:stretch>
            <a:fillRect/>
          </a:stretch>
        </p:blipFill>
        <p:spPr bwMode="auto">
          <a:xfrm>
            <a:off x="304800" y="381000"/>
            <a:ext cx="8610601" cy="6248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sz="quarter" idx="1"/>
          </p:nvPr>
        </p:nvPicPr>
        <p:blipFill>
          <a:blip r:embed="rId2"/>
          <a:srcRect/>
          <a:stretch>
            <a:fillRect/>
          </a:stretch>
        </p:blipFill>
        <p:spPr bwMode="auto">
          <a:xfrm>
            <a:off x="533400" y="304800"/>
            <a:ext cx="8001000" cy="6096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62500" lnSpcReduction="20000"/>
          </a:bodyPr>
          <a:lstStyle/>
          <a:p>
            <a:pPr algn="just"/>
            <a:r>
              <a:rPr lang="en-US" b="1" dirty="0" smtClean="0">
                <a:latin typeface="Times New Roman" panose="02020603050405020304" charset="0"/>
              </a:rPr>
              <a:t>Guidelines for Conducting an Interview:</a:t>
            </a:r>
          </a:p>
          <a:p>
            <a:pPr algn="just"/>
            <a:r>
              <a:rPr lang="en-US" dirty="0" smtClean="0">
                <a:latin typeface="Times New Roman" panose="02020603050405020304" charset="0"/>
              </a:rPr>
              <a:t>An interviewer must be a man of integrity, honesty, confidence and of logical thinking. Below are listed certain guidelines which if followed may lead to significant results.</a:t>
            </a:r>
          </a:p>
          <a:p>
            <a:pPr algn="just"/>
            <a:r>
              <a:rPr lang="en-US" dirty="0" smtClean="0">
                <a:latin typeface="Times New Roman" panose="02020603050405020304" charset="0"/>
              </a:rPr>
              <a:t>a. The interviewer should have a detailed job description for which he/she is going to interview the candidates. He/she should have the details of the title of the post, duties and responsibilities related to the post, working conditions, stress conditions, salary, allowances, bonus and other benefits. </a:t>
            </a:r>
          </a:p>
          <a:p>
            <a:pPr algn="just"/>
            <a:r>
              <a:rPr lang="en-US" dirty="0" smtClean="0">
                <a:latin typeface="Times New Roman" panose="02020603050405020304" charset="0"/>
              </a:rPr>
              <a:t>b. To study carefully the resumes of the candidates who have applied for a job to judge if the applicant’s attainment match to the requirements for the job.</a:t>
            </a:r>
          </a:p>
          <a:p>
            <a:pPr algn="just"/>
            <a:r>
              <a:rPr lang="en-US" dirty="0" smtClean="0">
                <a:latin typeface="Times New Roman" panose="02020603050405020304" charset="0"/>
              </a:rPr>
              <a:t>c. Prepare a list of the questions he/she would like to ask to judge the level of skill attained by the applicant.</a:t>
            </a:r>
          </a:p>
          <a:p>
            <a:pPr algn="just"/>
            <a:r>
              <a:rPr lang="en-US" dirty="0" smtClean="0">
                <a:latin typeface="Times New Roman" panose="02020603050405020304" charset="0"/>
              </a:rPr>
              <a:t>d. An interviewer should be a good communicator and be a patient listener.</a:t>
            </a:r>
          </a:p>
          <a:p>
            <a:pPr algn="just"/>
            <a:r>
              <a:rPr lang="en-US" dirty="0" smtClean="0">
                <a:latin typeface="Times New Roman" panose="02020603050405020304" charset="0"/>
              </a:rPr>
              <a:t>e. No irrelevant questions should be asked. Also one question should be asked at a time.</a:t>
            </a:r>
          </a:p>
          <a:p>
            <a:pPr algn="just"/>
            <a:r>
              <a:rPr lang="en-US" dirty="0" smtClean="0">
                <a:latin typeface="Times New Roman" panose="02020603050405020304" charset="0"/>
              </a:rPr>
              <a:t>f. Interview should be conducted in adequate setting. For this a place free from noise, telephone calls visitors and interruptions should be selected.</a:t>
            </a:r>
          </a:p>
          <a:p>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77500" lnSpcReduction="20000"/>
          </a:bodyPr>
          <a:lstStyle/>
          <a:p>
            <a:pPr algn="just"/>
            <a:r>
              <a:rPr lang="en-US" b="1" dirty="0" smtClean="0">
                <a:latin typeface="Times New Roman" panose="02020603050405020304" charset="0"/>
              </a:rPr>
              <a:t>Steps in Planning an Interview:</a:t>
            </a:r>
          </a:p>
          <a:p>
            <a:pPr algn="just"/>
            <a:r>
              <a:rPr lang="en-US" dirty="0" smtClean="0">
                <a:latin typeface="Times New Roman" panose="02020603050405020304" charset="0"/>
              </a:rPr>
              <a:t>a. Establishing </a:t>
            </a:r>
            <a:r>
              <a:rPr lang="en-IN" altLang="en-US" dirty="0" smtClean="0">
                <a:latin typeface="Times New Roman" panose="02020603050405020304" charset="0"/>
              </a:rPr>
              <a:t>(ensure) </a:t>
            </a:r>
            <a:r>
              <a:rPr lang="en-US" dirty="0" smtClean="0">
                <a:latin typeface="Times New Roman" panose="02020603050405020304" charset="0"/>
              </a:rPr>
              <a:t>purpose or purposes to be achieved.</a:t>
            </a:r>
          </a:p>
          <a:p>
            <a:pPr algn="just"/>
            <a:r>
              <a:rPr lang="en-US" dirty="0" smtClean="0">
                <a:latin typeface="Times New Roman" panose="02020603050405020304" charset="0"/>
              </a:rPr>
              <a:t>b. Collecting preliminary information on the subject and/or the interviewee. </a:t>
            </a:r>
          </a:p>
          <a:p>
            <a:pPr algn="just"/>
            <a:r>
              <a:rPr lang="en-US" dirty="0" smtClean="0">
                <a:latin typeface="Times New Roman" panose="02020603050405020304" charset="0"/>
              </a:rPr>
              <a:t>c. Determining the amount of structure to impose.</a:t>
            </a:r>
          </a:p>
          <a:p>
            <a:pPr algn="just"/>
            <a:r>
              <a:rPr lang="en-US" dirty="0" smtClean="0">
                <a:latin typeface="Times New Roman" panose="02020603050405020304" charset="0"/>
              </a:rPr>
              <a:t>d. Identifying and perhaps, recording the strategic questions or responses that seem to posses potential for fulfilling the interview purpose.</a:t>
            </a:r>
          </a:p>
          <a:p>
            <a:pPr algn="just"/>
            <a:r>
              <a:rPr lang="en-US" dirty="0" smtClean="0">
                <a:latin typeface="Times New Roman" panose="02020603050405020304" charset="0"/>
              </a:rPr>
              <a:t>e. Determining the time, place and length of time for the interview.</a:t>
            </a:r>
          </a:p>
          <a:p>
            <a:pPr algn="just"/>
            <a:r>
              <a:rPr lang="en-US" dirty="0" smtClean="0">
                <a:latin typeface="Times New Roman" panose="02020603050405020304" charset="0"/>
              </a:rPr>
              <a:t>f. Communicating the purpose, place, time, and length of time to the interviewee.</a:t>
            </a:r>
          </a:p>
          <a:p>
            <a:pPr algn="just"/>
            <a:r>
              <a:rPr lang="en-IN" altLang="en-US" dirty="0" smtClean="0">
                <a:latin typeface="Times New Roman" panose="02020603050405020304" charset="0"/>
              </a:rPr>
              <a:t>g. </a:t>
            </a:r>
            <a:r>
              <a:rPr lang="en-US" dirty="0" smtClean="0">
                <a:latin typeface="Times New Roman" panose="02020603050405020304" charset="0"/>
              </a:rPr>
              <a:t>Personal preparation e.g. knowing where one stands on crucial issues and attitudes and predicting points of conflict and resistance. </a:t>
            </a:r>
          </a:p>
          <a:p>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pPr algn="ctr"/>
            <a:endParaRPr lang="en-US" sz="8800" b="1" smtClean="0"/>
          </a:p>
          <a:p>
            <a:pPr algn="ctr"/>
            <a:r>
              <a:rPr lang="en-US" sz="8800" b="1" smtClean="0"/>
              <a:t>THANKS</a:t>
            </a:r>
            <a:endParaRPr lang="en-US" sz="8800" b="1"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28</TotalTime>
  <Words>1886</Words>
  <Application>Microsoft Macintosh PowerPoint</Application>
  <PresentationFormat>On-screen Show (4:3)</PresentationFormat>
  <Paragraphs>177</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Flow</vt:lpstr>
      <vt:lpstr>Interviews: Types, Focus, and Objectives</vt:lpstr>
      <vt:lpstr>Meaning of Interview</vt:lpstr>
      <vt:lpstr>Objectives of an Interview</vt:lpstr>
      <vt:lpstr>Focus of an Interview</vt:lpstr>
      <vt:lpstr>Types of Interviews – Based on Structure</vt:lpstr>
      <vt:lpstr>Types of Interviews – Based on Purpose</vt:lpstr>
      <vt:lpstr>Types of Interviews – Based on Mode</vt:lpstr>
      <vt:lpstr>Sequence of interviews</vt:lpstr>
      <vt:lpstr>Screening stage </vt:lpstr>
      <vt:lpstr>Selection Stage </vt:lpstr>
      <vt:lpstr>Final Stage </vt:lpstr>
      <vt:lpstr>Types of Interview</vt:lpstr>
      <vt:lpstr>Structured Interview</vt:lpstr>
      <vt:lpstr>Open Ended Interview</vt:lpstr>
      <vt:lpstr>Stress Interview</vt:lpstr>
      <vt:lpstr>Group Interview</vt:lpstr>
      <vt:lpstr>Panel Interview</vt:lpstr>
      <vt:lpstr>Situational Interview </vt:lpstr>
      <vt:lpstr>Video Interview </vt:lpstr>
      <vt:lpstr>Before the interview</vt:lpstr>
      <vt:lpstr>During the interview </vt:lpstr>
      <vt:lpstr>Physical Appearance </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Interviews: Types, Focus, and Objectives</dc:title>
  <dc:creator>hod</dc:creator>
  <dc:description>generated using python-pptx</dc:description>
  <cp:lastModifiedBy>hod</cp:lastModifiedBy>
  <cp:revision>9</cp:revision>
  <dcterms:created xsi:type="dcterms:W3CDTF">2013-01-27T09:14:16Z</dcterms:created>
  <dcterms:modified xsi:type="dcterms:W3CDTF">2025-11-18T07:45:20Z</dcterms:modified>
</cp:coreProperties>
</file>