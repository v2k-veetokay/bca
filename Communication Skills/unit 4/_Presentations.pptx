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14" r:id="rId2"/>
    <p:sldId id="298" r:id="rId3"/>
    <p:sldId id="299" r:id="rId4"/>
    <p:sldId id="302" r:id="rId5"/>
    <p:sldId id="301" r:id="rId6"/>
    <p:sldId id="313" r:id="rId7"/>
    <p:sldId id="300" r:id="rId8"/>
    <p:sldId id="303" r:id="rId9"/>
    <p:sldId id="304" r:id="rId10"/>
    <p:sldId id="293" r:id="rId11"/>
    <p:sldId id="292" r:id="rId12"/>
    <p:sldId id="305" r:id="rId13"/>
    <p:sldId id="306" r:id="rId14"/>
    <p:sldId id="307" r:id="rId15"/>
    <p:sldId id="315"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73" d="100"/>
          <a:sy n="73" d="100"/>
        </p:scale>
        <p:origin x="-1482" y="-3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Title 28"/>
          <p:cNvSpPr>
            <a:spLocks noGrp="1"/>
          </p:cNvSpPr>
          <p:nvPr>
            <p:ph type="ctrTitle"/>
          </p:nvPr>
        </p:nvSpPr>
        <p:spPr>
          <a:xfrm>
            <a:off x="381000" y="4853411"/>
            <a:ext cx="8458200" cy="1222375"/>
          </a:xfrm>
        </p:spPr>
        <p:txBody>
          <a:bodyPr anchor="t"/>
          <a:lstStyle/>
          <a:p>
            <a:r>
              <a:rPr kumimoji="0" lang="en-US" smtClean="0"/>
              <a:t>Click to edit Master title style</a:t>
            </a:r>
            <a:endParaRPr kumimoji="0" lang="en-US"/>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16" name="Date Placeholder 15"/>
          <p:cNvSpPr>
            <a:spLocks noGrp="1"/>
          </p:cNvSpPr>
          <p:nvPr>
            <p:ph type="dt" sz="half" idx="10"/>
          </p:nvPr>
        </p:nvSpPr>
        <p:spPr/>
        <p:txBody>
          <a:bodyPr/>
          <a:lstStyle/>
          <a:p>
            <a:fld id="{1D8BD707-D9CF-40AE-B4C6-C98DA3205C09}" type="datetimeFigureOut">
              <a:rPr lang="en-US" smtClean="0"/>
              <a:pPr/>
              <a:t>6/22/2021</a:t>
            </a:fld>
            <a:endParaRPr lang="en-US"/>
          </a:p>
        </p:txBody>
      </p:sp>
      <p:sp>
        <p:nvSpPr>
          <p:cNvPr id="2" name="Footer Placeholder 1"/>
          <p:cNvSpPr>
            <a:spLocks noGrp="1"/>
          </p:cNvSpPr>
          <p:nvPr>
            <p:ph type="ftr" sz="quarter" idx="11"/>
          </p:nvPr>
        </p:nvSpPr>
        <p:spPr/>
        <p:txBody>
          <a:bodyPr/>
          <a:lstStyle/>
          <a:p>
            <a:endParaRPr lang="en-US"/>
          </a:p>
        </p:txBody>
      </p:sp>
      <p:sp>
        <p:nvSpPr>
          <p:cNvPr id="15" name="Slide Number Placeholder 14"/>
          <p:cNvSpPr>
            <a:spLocks noGrp="1"/>
          </p:cNvSpPr>
          <p:nvPr>
            <p:ph type="sldNum" sz="quarter" idx="12"/>
          </p:nvPr>
        </p:nvSpPr>
        <p:spPr>
          <a:xfrm>
            <a:off x="8229600" y="6473952"/>
            <a:ext cx="758952" cy="246888"/>
          </a:xfr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kumimoji="0" lang="en-US" smtClean="0"/>
              <a:t>Click to edit Master title style</a:t>
            </a:r>
            <a:endParaRPr kumimoji="0" lang="en-US"/>
          </a:p>
        </p:txBody>
      </p:sp>
      <p:sp>
        <p:nvSpPr>
          <p:cNvPr id="27" name="Content Placeholder 26"/>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1D8BD707-D9CF-40AE-B4C6-C98DA3205C09}" type="datetimeFigureOut">
              <a:rPr lang="en-US" smtClean="0"/>
              <a:pPr/>
              <a:t>6/22/2021</a:t>
            </a:fld>
            <a:endParaRPr lang="en-US"/>
          </a:p>
        </p:txBody>
      </p:sp>
      <p:sp>
        <p:nvSpPr>
          <p:cNvPr id="19" name="Footer Placeholder 18"/>
          <p:cNvSpPr>
            <a:spLocks noGrp="1"/>
          </p:cNvSpPr>
          <p:nvPr>
            <p:ph type="ftr" sz="quarter" idx="11"/>
          </p:nvPr>
        </p:nvSpPr>
        <p:spPr>
          <a:xfrm>
            <a:off x="3581400" y="76200"/>
            <a:ext cx="2895600" cy="288925"/>
          </a:xfrm>
        </p:spPr>
        <p:txBody>
          <a:bodyPr/>
          <a:lstStyle/>
          <a:p>
            <a:endParaRPr lang="en-US"/>
          </a:p>
        </p:txBody>
      </p:sp>
      <p:sp>
        <p:nvSpPr>
          <p:cNvPr id="16" name="Slide Number Placeholder 15"/>
          <p:cNvSpPr>
            <a:spLocks noGrp="1"/>
          </p:cNvSpPr>
          <p:nvPr>
            <p:ph type="sldNum" sz="quarter" idx="12"/>
          </p:nvPr>
        </p:nvSpPr>
        <p:spPr>
          <a:xfrm>
            <a:off x="8229600" y="6473952"/>
            <a:ext cx="758952" cy="246888"/>
          </a:xfr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Text Placeholder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9" name="Date Placeholder 18"/>
          <p:cNvSpPr>
            <a:spLocks noGrp="1"/>
          </p:cNvSpPr>
          <p:nvPr>
            <p:ph type="dt" sz="half" idx="10"/>
          </p:nvPr>
        </p:nvSpPr>
        <p:spPr/>
        <p:txBody>
          <a:bodyPr/>
          <a:lstStyle/>
          <a:p>
            <a:fld id="{1D8BD707-D9CF-40AE-B4C6-C98DA3205C09}" type="datetimeFigureOut">
              <a:rPr lang="en-US" smtClean="0"/>
              <a:pPr/>
              <a:t>6/22/2021</a:t>
            </a:fld>
            <a:endParaRPr lang="en-US"/>
          </a:p>
        </p:txBody>
      </p:sp>
      <p:sp>
        <p:nvSpPr>
          <p:cNvPr id="11" name="Footer Placeholder 10"/>
          <p:cNvSpPr>
            <a:spLocks noGrp="1"/>
          </p:cNvSpPr>
          <p:nvPr>
            <p:ph type="ftr" sz="quarter" idx="11"/>
          </p:nvPr>
        </p:nvSpPr>
        <p:spPr/>
        <p:txBody>
          <a:bodyPr/>
          <a:lstStyle/>
          <a:p>
            <a:endParaRPr lang="en-US"/>
          </a:p>
        </p:txBody>
      </p:sp>
      <p:sp>
        <p:nvSpPr>
          <p:cNvPr id="16" name="Slide Number Placeholder 15"/>
          <p:cNvSpPr>
            <a:spLocks noGrp="1"/>
          </p:cNvSpPr>
          <p:nvPr>
            <p:ph type="sldNum" sz="quarter" idx="12"/>
          </p:nvPr>
        </p:nvSpPr>
        <p:spPr/>
        <p:txBody>
          <a:bodyPr/>
          <a:lstStyle/>
          <a:p>
            <a:fld id="{B6F15528-21DE-4FAA-801E-634DDDAF4B2B}" type="slidenum">
              <a:rPr lang="en-US" smtClean="0"/>
              <a:pPr/>
              <a:t>‹#›</a:t>
            </a:fld>
            <a:endParaRPr lang="en-US"/>
          </a:p>
        </p:txBody>
      </p:sp>
      <p:sp>
        <p:nvSpPr>
          <p:cNvPr id="8" name="Title 7"/>
          <p:cNvSpPr>
            <a:spLocks noGrp="1"/>
          </p:cNvSpPr>
          <p:nvPr>
            <p:ph type="title"/>
          </p:nvPr>
        </p:nvSpPr>
        <p:spPr>
          <a:xfrm>
            <a:off x="180475" y="2947085"/>
            <a:ext cx="8686800" cy="1184825"/>
          </a:xfrm>
        </p:spPr>
        <p:txBody>
          <a:bodyPr rtlCol="0" anchor="t"/>
          <a:lstStyle>
            <a:lvl1pPr algn="r">
              <a:defRPr/>
            </a:lvl1pPr>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4" name="Content Placeholder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0"/>
          </p:nvPr>
        </p:nvSpPr>
        <p:spPr/>
        <p:txBody>
          <a:bodyPr/>
          <a:lstStyle/>
          <a:p>
            <a:fld id="{1D8BD707-D9CF-40AE-B4C6-C98DA3205C09}" type="datetimeFigureOut">
              <a:rPr lang="en-US" smtClean="0"/>
              <a:pPr/>
              <a:t>6/22/2021</a:t>
            </a:fld>
            <a:endParaRPr lang="en-US"/>
          </a:p>
        </p:txBody>
      </p:sp>
      <p:sp>
        <p:nvSpPr>
          <p:cNvPr id="10" name="Footer Placeholder 9"/>
          <p:cNvSpPr>
            <a:spLocks noGrp="1"/>
          </p:cNvSpPr>
          <p:nvPr>
            <p:ph type="ftr" sz="quarter" idx="11"/>
          </p:nvPr>
        </p:nvSpPr>
        <p:spPr/>
        <p:txBody>
          <a:bodyPr/>
          <a:lstStyle/>
          <a:p>
            <a:endParaRPr lang="en-US"/>
          </a:p>
        </p:txBody>
      </p:sp>
      <p:sp>
        <p:nvSpPr>
          <p:cNvPr id="31" name="Slide Number Placeholder 30"/>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9" name="Title 28"/>
          <p:cNvSpPr>
            <a:spLocks noGrp="1"/>
          </p:cNvSpPr>
          <p:nvPr>
            <p:ph type="title"/>
          </p:nvPr>
        </p:nvSpPr>
        <p:spPr>
          <a:xfrm>
            <a:off x="304800" y="5410200"/>
            <a:ext cx="8610600" cy="882650"/>
          </a:xfrm>
        </p:spPr>
        <p:txBody>
          <a:bodyPr anchor="ctr"/>
          <a:lstStyle>
            <a:lvl1pPr>
              <a:defRPr/>
            </a:lvl1pPr>
          </a:lstStyle>
          <a:p>
            <a:r>
              <a:rPr kumimoji="0" lang="en-US" smtClean="0"/>
              <a:t>Click to edit Master title style</a:t>
            </a:r>
            <a:endParaRPr kumimoji="0" lang="en-US"/>
          </a:p>
        </p:txBody>
      </p:sp>
      <p:sp>
        <p:nvSpPr>
          <p:cNvPr id="13" name="Text Placeholder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25" name="Text Placeholder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Content Placeholder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8" name="Content Placeholder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0"/>
          </p:nvPr>
        </p:nvSpPr>
        <p:spPr/>
        <p:txBody>
          <a:bodyPr/>
          <a:lstStyle/>
          <a:p>
            <a:fld id="{1D8BD707-D9CF-40AE-B4C6-C98DA3205C09}" type="datetimeFigureOut">
              <a:rPr lang="en-US" smtClean="0"/>
              <a:pPr/>
              <a:t>6/22/2021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229600" y="6477000"/>
            <a:ext cx="762000" cy="246888"/>
          </a:xfrm>
        </p:spPr>
        <p:txBody>
          <a:bodyPr/>
          <a:lstStyle/>
          <a:p>
            <a:fld id="{B6F15528-21DE-4FAA-801E-634DDDAF4B2B}" type="slidenum">
              <a:rPr lang="en-US" smtClean="0"/>
              <a:pPr/>
              <a:t>‹#›</a:t>
            </a:fld>
            <a:endParaRPr lang="en-US"/>
          </a:p>
        </p:txBody>
      </p:sp>
      <p:sp>
        <p:nvSpPr>
          <p:cNvPr id="11" name="Straight Connector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1D8BD707-D9CF-40AE-B4C6-C98DA3205C09}" type="datetimeFigureOut">
              <a:rPr lang="en-US" smtClean="0"/>
              <a:pPr/>
              <a:t>6/22/2021</a:t>
            </a:fld>
            <a:endParaRPr lang="en-US"/>
          </a:p>
        </p:txBody>
      </p:sp>
      <p:sp>
        <p:nvSpPr>
          <p:cNvPr id="21" name="Footer Placeholder 20"/>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6/22/2021</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Straight Connector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title"/>
          </p:nvPr>
        </p:nvSpPr>
        <p:spPr>
          <a:xfrm>
            <a:off x="457200" y="5486400"/>
            <a:ext cx="8458200" cy="520700"/>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14" name="Content Placeholder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1D8BD707-D9CF-40AE-B4C6-C98DA3205C09}" type="datetimeFigureOut">
              <a:rPr lang="en-US" smtClean="0"/>
              <a:pPr/>
              <a:t>6/22/2021</a:t>
            </a:fld>
            <a:endParaRPr lang="en-US"/>
          </a:p>
        </p:txBody>
      </p:sp>
      <p:sp>
        <p:nvSpPr>
          <p:cNvPr id="29" name="Footer Placeholder 28"/>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en-US" smtClean="0"/>
              <a:t>Click icon to add picture</a:t>
            </a:r>
            <a:endParaRPr kumimoji="0"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6/22/2021</a:t>
            </a:fld>
            <a:endParaRPr lang="en-US"/>
          </a:p>
        </p:txBody>
      </p:sp>
      <p:sp>
        <p:nvSpPr>
          <p:cNvPr id="5" name="Footer Placeholder 4"/>
          <p:cNvSpPr>
            <a:spLocks noGrp="1"/>
          </p:cNvSpPr>
          <p:nvPr>
            <p:ph type="ftr" sz="quarter" idx="11"/>
          </p:nvPr>
        </p:nvSpPr>
        <p:spPr/>
        <p:txBody>
          <a:bodyPr/>
          <a:lstStyle/>
          <a:p>
            <a:endParaRPr lang="en-US"/>
          </a:p>
        </p:txBody>
      </p:sp>
      <p:sp>
        <p:nvSpPr>
          <p:cNvPr id="31" name="Slide Number Placeholder 30"/>
          <p:cNvSpPr>
            <a:spLocks noGrp="1"/>
          </p:cNvSpPr>
          <p:nvPr>
            <p:ph type="sldNum" sz="quarter" idx="12"/>
          </p:nvPr>
        </p:nvSpPr>
        <p:spPr/>
        <p:txBody>
          <a:bodyPr/>
          <a:lstStyle/>
          <a:p>
            <a:fld id="{B6F15528-21DE-4FAA-801E-634DDDAF4B2B}" type="slidenum">
              <a:rPr lang="en-US" smtClean="0"/>
              <a:pPr/>
              <a:t>‹#›</a:t>
            </a:fld>
            <a:endParaRPr lang="en-US"/>
          </a:p>
        </p:txBody>
      </p:sp>
      <p:sp>
        <p:nvSpPr>
          <p:cNvPr id="17" name="Title 16"/>
          <p:cNvSpPr>
            <a:spLocks noGrp="1"/>
          </p:cNvSpPr>
          <p:nvPr>
            <p:ph type="title"/>
          </p:nvPr>
        </p:nvSpPr>
        <p:spPr>
          <a:xfrm>
            <a:off x="381000" y="4993760"/>
            <a:ext cx="5867400" cy="522288"/>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549276"/>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549276"/>
            <a:ext cx="62484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Text Placeholder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1" name="Date Placeholder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1D8BD707-D9CF-40AE-B4C6-C98DA3205C09}" type="datetimeFigureOut">
              <a:rPr lang="en-US" smtClean="0"/>
              <a:pPr/>
              <a:t>6/22/2021</a:t>
            </a:fld>
            <a:endParaRPr lang="en-US"/>
          </a:p>
        </p:txBody>
      </p:sp>
      <p:sp>
        <p:nvSpPr>
          <p:cNvPr id="28" name="Footer Placeholder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en-US"/>
          </a:p>
        </p:txBody>
      </p:sp>
      <p:sp>
        <p:nvSpPr>
          <p:cNvPr id="5" name="Slide Number Placeholder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B6F15528-21DE-4FAA-801E-634DDDAF4B2B}" type="slidenum">
              <a:rPr lang="en-US" smtClean="0"/>
              <a:pPr/>
              <a:t>‹#›</a:t>
            </a:fld>
            <a:endParaRPr lang="en-US"/>
          </a:p>
        </p:txBody>
      </p:sp>
      <p:sp>
        <p:nvSpPr>
          <p:cNvPr id="10" name="Title Placeholder 9"/>
          <p:cNvSpPr>
            <a:spLocks noGrp="1"/>
          </p:cNvSpPr>
          <p:nvPr>
            <p:ph type="title"/>
          </p:nvPr>
        </p:nvSpPr>
        <p:spPr>
          <a:xfrm>
            <a:off x="304800" y="457200"/>
            <a:ext cx="8686800" cy="838200"/>
          </a:xfrm>
          <a:prstGeom prst="rect">
            <a:avLst/>
          </a:prstGeom>
        </p:spPr>
        <p:txBody>
          <a:bodyPr vert="horz" anchor="ctr">
            <a:normAutofit/>
          </a:bodyPr>
          <a:lstStyle/>
          <a:p>
            <a:r>
              <a:rPr kumimoji="0" lang="en-US" smtClean="0"/>
              <a:t>Click to edit Master title style</a:t>
            </a:r>
            <a:endParaRPr kumimoji="0" lang="en-US"/>
          </a:p>
        </p:txBody>
      </p:sp>
      <p:sp>
        <p:nvSpPr>
          <p:cNvPr id="9" name="Straight Connector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Straight Connector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panose="05020102010507070707"/>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panose="05020102010507070707"/>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panose="05020102010507070707"/>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panose="05020102010507070707"/>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panose="05020102010507070707"/>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panose="05020102010507070707"/>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panose="05020102010507070707"/>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panose="05020102010507070707"/>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panose="05020102010507070707"/>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Presentations</a:t>
            </a:r>
            <a:endParaRPr lang="en-US" dirty="0"/>
          </a:p>
        </p:txBody>
      </p:sp>
      <p:pic>
        <p:nvPicPr>
          <p:cNvPr id="4" name="Content Placeholder 3" descr="presentation-skills.jpg"/>
          <p:cNvPicPr>
            <a:picLocks noGrp="1" noChangeAspect="1"/>
          </p:cNvPicPr>
          <p:nvPr>
            <p:ph idx="1"/>
          </p:nvPr>
        </p:nvPicPr>
        <p:blipFill>
          <a:blip r:embed="rId2"/>
          <a:stretch>
            <a:fillRect/>
          </a:stretch>
        </p:blipFill>
        <p:spPr>
          <a:xfrm>
            <a:off x="838200" y="1793081"/>
            <a:ext cx="7620000" cy="4048125"/>
          </a:xfr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lnSpcReduction="10000"/>
          </a:bodyPr>
          <a:lstStyle/>
          <a:p>
            <a:pPr algn="ctr">
              <a:buNone/>
            </a:pPr>
            <a:r>
              <a:rPr lang="en-US" sz="2400" b="1" u="sng" dirty="0" smtClean="0">
                <a:solidFill>
                  <a:schemeClr val="tx1"/>
                </a:solidFill>
                <a:latin typeface="Times New Roman" panose="02020603050405020304" pitchFamily="18" charset="0"/>
                <a:cs typeface="Times New Roman" panose="02020603050405020304" pitchFamily="18" charset="0"/>
              </a:rPr>
              <a:t>Formal Presentation</a:t>
            </a:r>
            <a:endParaRPr lang="en-US" sz="2400" dirty="0" smtClean="0">
              <a:solidFill>
                <a:schemeClr val="tx1"/>
              </a:solidFill>
              <a:latin typeface="Times New Roman" panose="02020603050405020304" pitchFamily="18" charset="0"/>
              <a:cs typeface="Times New Roman" panose="02020603050405020304" pitchFamily="18" charset="0"/>
            </a:endParaRPr>
          </a:p>
          <a:p>
            <a:pPr algn="just">
              <a:buNone/>
            </a:pPr>
            <a:r>
              <a:rPr lang="en-US" sz="2400" b="1" dirty="0" smtClean="0"/>
              <a:t>	</a:t>
            </a:r>
            <a:r>
              <a:rPr lang="en-US" sz="2400" b="1" u="sng" dirty="0" smtClean="0">
                <a:latin typeface="Times New Roman" pitchFamily="18" charset="0"/>
                <a:cs typeface="Times New Roman" pitchFamily="18" charset="0"/>
              </a:rPr>
              <a:t>Introduction</a:t>
            </a:r>
            <a:endParaRPr lang="en-US" sz="2400"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Successful and inspiring speakers are remembered not only because they were eloquent, </a:t>
            </a:r>
            <a:r>
              <a:rPr lang="en-IN" sz="2400" dirty="0" err="1" smtClean="0">
                <a:latin typeface="Times New Roman" pitchFamily="18" charset="0"/>
                <a:cs typeface="Times New Roman" pitchFamily="18" charset="0"/>
              </a:rPr>
              <a:t>humourous</a:t>
            </a:r>
            <a:r>
              <a:rPr lang="en-IN" sz="2400" dirty="0" smtClean="0">
                <a:latin typeface="Times New Roman" pitchFamily="18" charset="0"/>
                <a:cs typeface="Times New Roman" pitchFamily="18" charset="0"/>
              </a:rPr>
              <a:t>, or had a good style, but primarily because their messages and ideas </a:t>
            </a:r>
            <a:r>
              <a:rPr lang="en-IN" sz="2400" dirty="0" smtClean="0">
                <a:latin typeface="Times New Roman" pitchFamily="18" charset="0"/>
                <a:cs typeface="Times New Roman" pitchFamily="18" charset="0"/>
              </a:rPr>
              <a:t>cause </a:t>
            </a:r>
            <a:r>
              <a:rPr lang="en-IN" sz="2400" dirty="0" smtClean="0">
                <a:latin typeface="Times New Roman" pitchFamily="18" charset="0"/>
                <a:cs typeface="Times New Roman" pitchFamily="18" charset="0"/>
              </a:rPr>
              <a:t>change in their audience’s actions, attitudes, lives, or </a:t>
            </a:r>
            <a:r>
              <a:rPr lang="en-IN" sz="2400" dirty="0" smtClean="0">
                <a:latin typeface="Times New Roman" pitchFamily="18" charset="0"/>
                <a:cs typeface="Times New Roman" pitchFamily="18" charset="0"/>
              </a:rPr>
              <a:t>make </a:t>
            </a:r>
            <a:r>
              <a:rPr lang="en-IN" sz="2400" dirty="0" smtClean="0">
                <a:latin typeface="Times New Roman" pitchFamily="18" charset="0"/>
                <a:cs typeface="Times New Roman" pitchFamily="18" charset="0"/>
              </a:rPr>
              <a:t>the purpose clear to them. This is true for all types of presentations--Professional Presentations, Business Speeches or Classroom Lectures.</a:t>
            </a:r>
            <a:endParaRPr lang="en-US" sz="2400" dirty="0" smtClean="0">
              <a:latin typeface="Times New Roman" pitchFamily="18" charset="0"/>
              <a:cs typeface="Times New Roman" pitchFamily="18" charset="0"/>
            </a:endParaRPr>
          </a:p>
          <a:p>
            <a:pPr algn="just">
              <a:buNone/>
            </a:pPr>
            <a:r>
              <a:rPr lang="en-IN" sz="2400" dirty="0" smtClean="0">
                <a:latin typeface="Times New Roman" pitchFamily="18" charset="0"/>
                <a:cs typeface="Times New Roman" pitchFamily="18" charset="0"/>
              </a:rPr>
              <a:t>	Throughout our career, we are bound to encounter innumerable situations that require professional presentations to be made such as: </a:t>
            </a:r>
            <a:endParaRPr lang="en-US"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	</a:t>
            </a:r>
            <a:r>
              <a:rPr lang="en-IN" sz="2400" b="1" dirty="0" smtClean="0">
                <a:latin typeface="Times New Roman" pitchFamily="18" charset="0"/>
                <a:cs typeface="Times New Roman" pitchFamily="18" charset="0"/>
              </a:rPr>
              <a:t>A Team Leader </a:t>
            </a:r>
            <a:r>
              <a:rPr lang="en-IN" sz="2400" dirty="0" smtClean="0">
                <a:latin typeface="Times New Roman" pitchFamily="18" charset="0"/>
                <a:cs typeface="Times New Roman" pitchFamily="18" charset="0"/>
              </a:rPr>
              <a:t>-the corporate body about a product</a:t>
            </a:r>
            <a:endParaRPr lang="en-US"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	</a:t>
            </a:r>
            <a:r>
              <a:rPr lang="en-IN" sz="2400" b="1" dirty="0" smtClean="0">
                <a:latin typeface="Times New Roman" pitchFamily="18" charset="0"/>
                <a:cs typeface="Times New Roman" pitchFamily="18" charset="0"/>
              </a:rPr>
              <a:t>A Top Administrator of an Institution</a:t>
            </a:r>
            <a:r>
              <a:rPr lang="en-IN" sz="2400" dirty="0" smtClean="0">
                <a:latin typeface="Times New Roman" pitchFamily="18" charset="0"/>
                <a:cs typeface="Times New Roman" pitchFamily="18" charset="0"/>
              </a:rPr>
              <a:t>-the goals, activities, and  	  	                                              achievements</a:t>
            </a:r>
            <a:endParaRPr lang="en-US"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	</a:t>
            </a:r>
            <a:r>
              <a:rPr lang="en-IN" sz="2400" b="1" dirty="0" smtClean="0">
                <a:latin typeface="Times New Roman" pitchFamily="18" charset="0"/>
                <a:cs typeface="Times New Roman" pitchFamily="18" charset="0"/>
              </a:rPr>
              <a:t>A Project Manager</a:t>
            </a:r>
            <a:r>
              <a:rPr lang="en-IN" sz="2400" dirty="0" smtClean="0">
                <a:latin typeface="Times New Roman" pitchFamily="18" charset="0"/>
                <a:cs typeface="Times New Roman" pitchFamily="18" charset="0"/>
              </a:rPr>
              <a:t>-the results of a project</a:t>
            </a:r>
            <a:endParaRPr lang="en-US"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	</a:t>
            </a:r>
            <a:r>
              <a:rPr lang="en-IN" sz="2400" b="1" dirty="0" smtClean="0">
                <a:latin typeface="Times New Roman" pitchFamily="18" charset="0"/>
                <a:cs typeface="Times New Roman" pitchFamily="18" charset="0"/>
              </a:rPr>
              <a:t>A College Student</a:t>
            </a:r>
            <a:r>
              <a:rPr lang="en-IN" sz="2400" dirty="0" smtClean="0">
                <a:latin typeface="Times New Roman" pitchFamily="18" charset="0"/>
                <a:cs typeface="Times New Roman" pitchFamily="18" charset="0"/>
              </a:rPr>
              <a:t>-project reports to fellow students and faculty    		            members</a:t>
            </a:r>
            <a:endParaRPr lang="en-US" sz="2400" dirty="0" smtClean="0">
              <a:latin typeface="Times New Roman" pitchFamily="18" charset="0"/>
              <a:cs typeface="Times New Roman" pitchFamily="18" charset="0"/>
            </a:endParaRPr>
          </a:p>
          <a:p>
            <a:pPr algn="just">
              <a:buNone/>
            </a:pPr>
            <a:endParaRPr lang="en-US" sz="2400" dirty="0" smtClean="0">
              <a:solidFill>
                <a:srgbClr val="7030A0"/>
              </a:solidFill>
              <a:latin typeface="Times New Roman" panose="02020603050405020304" pitchFamily="18" charset="0"/>
              <a:cs typeface="Times New Roman" panose="02020603050405020304" pitchFamily="18" charset="0"/>
            </a:endParaRPr>
          </a:p>
          <a:p>
            <a:pPr algn="just">
              <a:buNone/>
            </a:pPr>
            <a:endParaRPr lang="en-US" sz="2400" b="1" u="sng" dirty="0" smtClean="0">
              <a:latin typeface="Times New Roman" panose="02020603050405020304" pitchFamily="18" charset="0"/>
              <a:cs typeface="Times New Roman" panose="02020603050405020304" pitchFamily="18" charset="0"/>
            </a:endParaRPr>
          </a:p>
          <a:p>
            <a:pPr algn="just">
              <a:buNone/>
            </a:pPr>
            <a:endParaRPr lang="en-US" sz="2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a:bodyPr>
          <a:lstStyle/>
          <a:p>
            <a:pPr algn="ctr">
              <a:buNone/>
            </a:pPr>
            <a:r>
              <a:rPr lang="en-US" sz="2400" b="1" u="sng" dirty="0" smtClean="0">
                <a:solidFill>
                  <a:schemeClr val="tx1"/>
                </a:solidFill>
                <a:latin typeface="Times New Roman" panose="02020603050405020304" pitchFamily="18" charset="0"/>
                <a:cs typeface="Times New Roman" panose="02020603050405020304" pitchFamily="18" charset="0"/>
              </a:rPr>
              <a:t>Formal Presentation</a:t>
            </a:r>
          </a:p>
          <a:p>
            <a:pPr>
              <a:buNone/>
            </a:pPr>
            <a:r>
              <a:rPr lang="en-IN" sz="2400" dirty="0" smtClean="0">
                <a:latin typeface="Times New Roman" pitchFamily="18" charset="0"/>
                <a:cs typeface="Times New Roman" pitchFamily="18" charset="0"/>
              </a:rPr>
              <a:t>	</a:t>
            </a:r>
          </a:p>
          <a:p>
            <a:pPr>
              <a:buNone/>
            </a:pPr>
            <a:r>
              <a:rPr lang="en-IN" sz="2400" dirty="0" smtClean="0">
                <a:latin typeface="Times New Roman" pitchFamily="18" charset="0"/>
                <a:cs typeface="Times New Roman" pitchFamily="18" charset="0"/>
              </a:rPr>
              <a:t>	The following points are to be attended to when preparing for a professional presentation.</a:t>
            </a:r>
            <a:endParaRPr lang="en-US" sz="2400" dirty="0" smtClean="0">
              <a:latin typeface="Times New Roman" pitchFamily="18" charset="0"/>
              <a:cs typeface="Times New Roman" pitchFamily="18" charset="0"/>
            </a:endParaRPr>
          </a:p>
          <a:p>
            <a:pPr lvl="0">
              <a:buNone/>
            </a:pPr>
            <a:r>
              <a:rPr lang="en-IN" sz="2400" b="1" dirty="0" smtClean="0">
                <a:latin typeface="Times New Roman" pitchFamily="18" charset="0"/>
                <a:cs typeface="Times New Roman" pitchFamily="18" charset="0"/>
              </a:rPr>
              <a:t>	Planning</a:t>
            </a:r>
            <a:r>
              <a:rPr lang="en-IN" sz="2400" dirty="0" smtClean="0">
                <a:latin typeface="Times New Roman" pitchFamily="18" charset="0"/>
                <a:cs typeface="Times New Roman" pitchFamily="18" charset="0"/>
              </a:rPr>
              <a:t>: Occasion, audience, purpose, thesis and material</a:t>
            </a:r>
            <a:endParaRPr lang="en-US" sz="2400" dirty="0" smtClean="0">
              <a:latin typeface="Times New Roman" pitchFamily="18" charset="0"/>
              <a:cs typeface="Times New Roman" pitchFamily="18" charset="0"/>
            </a:endParaRPr>
          </a:p>
          <a:p>
            <a:pPr lvl="0">
              <a:buNone/>
            </a:pPr>
            <a:r>
              <a:rPr lang="en-IN" sz="2400" b="1" dirty="0" smtClean="0">
                <a:latin typeface="Times New Roman" pitchFamily="18" charset="0"/>
                <a:cs typeface="Times New Roman" pitchFamily="18" charset="0"/>
              </a:rPr>
              <a:t>	Outlining and Structuring</a:t>
            </a:r>
            <a:r>
              <a:rPr lang="en-IN" sz="2400" dirty="0" smtClean="0">
                <a:latin typeface="Times New Roman" pitchFamily="18" charset="0"/>
                <a:cs typeface="Times New Roman" pitchFamily="18" charset="0"/>
              </a:rPr>
              <a:t>: Introduction, Main Body, and 					   Conclusion</a:t>
            </a:r>
            <a:endParaRPr lang="en-US" sz="2400" dirty="0" smtClean="0">
              <a:latin typeface="Times New Roman" pitchFamily="18" charset="0"/>
              <a:cs typeface="Times New Roman" pitchFamily="18" charset="0"/>
            </a:endParaRPr>
          </a:p>
          <a:p>
            <a:pPr lvl="0">
              <a:buNone/>
            </a:pPr>
            <a:r>
              <a:rPr lang="en-IN" sz="2400" b="1" dirty="0" smtClean="0">
                <a:latin typeface="Times New Roman" pitchFamily="18" charset="0"/>
                <a:cs typeface="Times New Roman" pitchFamily="18" charset="0"/>
              </a:rPr>
              <a:t>	Choosing the Mode of Delivery</a:t>
            </a:r>
            <a:endParaRPr lang="en-US" sz="2400" dirty="0" smtClean="0">
              <a:latin typeface="Times New Roman" pitchFamily="18" charset="0"/>
              <a:cs typeface="Times New Roman" pitchFamily="18" charset="0"/>
            </a:endParaRPr>
          </a:p>
          <a:p>
            <a:pPr lvl="0">
              <a:buNone/>
            </a:pPr>
            <a:r>
              <a:rPr lang="en-IN" sz="2400" b="1" dirty="0" smtClean="0">
                <a:latin typeface="Times New Roman" pitchFamily="18" charset="0"/>
                <a:cs typeface="Times New Roman" pitchFamily="18" charset="0"/>
              </a:rPr>
              <a:t>	Guidelines for effective delivery</a:t>
            </a:r>
            <a:endParaRPr lang="en-US" sz="2400" dirty="0" smtClean="0">
              <a:latin typeface="Times New Roman" pitchFamily="18" charset="0"/>
              <a:cs typeface="Times New Roman" pitchFamily="18" charset="0"/>
            </a:endParaRPr>
          </a:p>
          <a:p>
            <a:pPr lvl="0">
              <a:buNone/>
            </a:pPr>
            <a:r>
              <a:rPr lang="en-IN" sz="2400" b="1" dirty="0" smtClean="0">
                <a:latin typeface="Times New Roman" pitchFamily="18" charset="0"/>
                <a:cs typeface="Times New Roman" pitchFamily="18" charset="0"/>
              </a:rPr>
              <a:t>	Body language and voice</a:t>
            </a:r>
            <a:endParaRPr lang="en-US" sz="2400" dirty="0" smtClean="0">
              <a:latin typeface="Times New Roman" pitchFamily="18" charset="0"/>
              <a:cs typeface="Times New Roman" pitchFamily="18" charset="0"/>
            </a:endParaRPr>
          </a:p>
          <a:p>
            <a:pPr lvl="0">
              <a:buNone/>
            </a:pPr>
            <a:r>
              <a:rPr lang="en-IN" sz="2400" b="1" dirty="0" smtClean="0">
                <a:latin typeface="Times New Roman" pitchFamily="18" charset="0"/>
                <a:cs typeface="Times New Roman" pitchFamily="18" charset="0"/>
              </a:rPr>
              <a:t>	Visual aids</a:t>
            </a:r>
            <a:endParaRPr lang="en-US" sz="2400" dirty="0" smtClean="0">
              <a:latin typeface="Times New Roman" pitchFamily="18" charset="0"/>
              <a:cs typeface="Times New Roman" pitchFamily="18" charset="0"/>
            </a:endParaRPr>
          </a:p>
          <a:p>
            <a:pPr algn="just">
              <a:buNone/>
            </a:pPr>
            <a:endParaRPr lang="en-US" sz="2400" dirty="0" smtClean="0">
              <a:solidFill>
                <a:schemeClr val="tx1"/>
              </a:solidFill>
              <a:latin typeface="Times New Roman" panose="02020603050405020304" pitchFamily="18" charset="0"/>
              <a:cs typeface="Times New Roman" panose="02020603050405020304" pitchFamily="18" charset="0"/>
            </a:endParaRPr>
          </a:p>
          <a:p>
            <a:pPr algn="just">
              <a:buNone/>
            </a:pPr>
            <a:r>
              <a:rPr lang="en-US" sz="2400" b="1" dirty="0" smtClean="0"/>
              <a:t>	</a:t>
            </a:r>
            <a:endParaRPr lang="en-US" sz="2400" dirty="0" smtClean="0">
              <a:solidFill>
                <a:srgbClr val="7030A0"/>
              </a:solidFill>
              <a:latin typeface="Times New Roman" panose="02020603050405020304" pitchFamily="18" charset="0"/>
              <a:cs typeface="Times New Roman" panose="02020603050405020304" pitchFamily="18" charset="0"/>
            </a:endParaRPr>
          </a:p>
          <a:p>
            <a:pPr algn="just">
              <a:buNone/>
            </a:pPr>
            <a:endParaRPr lang="en-US" sz="2400" b="1" u="sng" dirty="0" smtClean="0">
              <a:latin typeface="Times New Roman" panose="02020603050405020304" pitchFamily="18" charset="0"/>
              <a:cs typeface="Times New Roman" panose="02020603050405020304" pitchFamily="18" charset="0"/>
            </a:endParaRPr>
          </a:p>
          <a:p>
            <a:pPr algn="just">
              <a:buNone/>
            </a:pPr>
            <a:endParaRPr lang="en-US" sz="2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lnSpcReduction="10000"/>
          </a:bodyPr>
          <a:lstStyle/>
          <a:p>
            <a:pPr algn="ctr">
              <a:buNone/>
            </a:pPr>
            <a:r>
              <a:rPr lang="en-US" sz="2400" b="1" u="sng" dirty="0" smtClean="0">
                <a:solidFill>
                  <a:schemeClr val="tx1"/>
                </a:solidFill>
                <a:latin typeface="Times New Roman" panose="02020603050405020304" pitchFamily="18" charset="0"/>
                <a:cs typeface="Times New Roman" panose="02020603050405020304" pitchFamily="18" charset="0"/>
              </a:rPr>
              <a:t>Formal Presentation</a:t>
            </a:r>
          </a:p>
          <a:p>
            <a:pPr lvl="0">
              <a:buNone/>
            </a:pPr>
            <a:r>
              <a:rPr lang="en-IN" sz="2400" dirty="0" smtClean="0"/>
              <a:t>	</a:t>
            </a:r>
            <a:r>
              <a:rPr lang="en-IN" sz="2400" b="1" dirty="0" smtClean="0">
                <a:latin typeface="Times New Roman" pitchFamily="18" charset="0"/>
                <a:cs typeface="Times New Roman" pitchFamily="18" charset="0"/>
              </a:rPr>
              <a:t>Planning</a:t>
            </a:r>
            <a:r>
              <a:rPr lang="en-IN" sz="2400" dirty="0" smtClean="0">
                <a:latin typeface="Times New Roman" pitchFamily="18" charset="0"/>
                <a:cs typeface="Times New Roman" pitchFamily="18" charset="0"/>
              </a:rPr>
              <a:t>: Effective preparation enables us to answer all the questions and doubts about our speech before they arise. The contents of our speech, and how we deliver it, are based on five important factors:</a:t>
            </a:r>
            <a:endParaRPr lang="en-US" sz="2400" dirty="0" smtClean="0">
              <a:latin typeface="Times New Roman" pitchFamily="18" charset="0"/>
              <a:cs typeface="Times New Roman" pitchFamily="18" charset="0"/>
            </a:endParaRPr>
          </a:p>
          <a:p>
            <a:pPr lvl="0">
              <a:buNone/>
            </a:pPr>
            <a:r>
              <a:rPr lang="en-IN" sz="2400" dirty="0" smtClean="0">
                <a:latin typeface="Times New Roman" pitchFamily="18" charset="0"/>
                <a:cs typeface="Times New Roman" pitchFamily="18" charset="0"/>
              </a:rPr>
              <a:t>	</a:t>
            </a:r>
            <a:r>
              <a:rPr lang="en-IN" sz="2400" dirty="0" err="1" smtClean="0">
                <a:latin typeface="Times New Roman" pitchFamily="18" charset="0"/>
                <a:cs typeface="Times New Roman" pitchFamily="18" charset="0"/>
              </a:rPr>
              <a:t>a.Occasion</a:t>
            </a:r>
            <a:r>
              <a:rPr lang="en-IN" sz="2400" dirty="0" smtClean="0">
                <a:latin typeface="Times New Roman" pitchFamily="18" charset="0"/>
                <a:cs typeface="Times New Roman" pitchFamily="18" charset="0"/>
              </a:rPr>
              <a:t>	b. Audience	c. Purpose	d. Thesis	e. Material</a:t>
            </a:r>
            <a:endParaRPr lang="en-US"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lvl="0">
              <a:buNone/>
            </a:pPr>
            <a:r>
              <a:rPr lang="en-IN" sz="2400" dirty="0" smtClean="0">
                <a:latin typeface="Times New Roman" pitchFamily="18" charset="0"/>
                <a:cs typeface="Times New Roman" pitchFamily="18" charset="0"/>
              </a:rPr>
              <a:t>	</a:t>
            </a:r>
            <a:r>
              <a:rPr lang="en-IN" sz="2400" u="sng" dirty="0" smtClean="0">
                <a:latin typeface="Times New Roman" pitchFamily="18" charset="0"/>
                <a:cs typeface="Times New Roman" pitchFamily="18" charset="0"/>
              </a:rPr>
              <a:t>Occasion</a:t>
            </a:r>
            <a:r>
              <a:rPr lang="en-IN" sz="2400" dirty="0" smtClean="0">
                <a:latin typeface="Times New Roman" pitchFamily="18" charset="0"/>
                <a:cs typeface="Times New Roman" pitchFamily="18" charset="0"/>
              </a:rPr>
              <a:t>: This refers to the factors such as the </a:t>
            </a:r>
            <a:r>
              <a:rPr lang="en-IN" sz="2400" b="1" dirty="0" smtClean="0">
                <a:latin typeface="Times New Roman" pitchFamily="18" charset="0"/>
                <a:cs typeface="Times New Roman" pitchFamily="18" charset="0"/>
              </a:rPr>
              <a:t>facilities</a:t>
            </a:r>
            <a:r>
              <a:rPr lang="en-IN" sz="2400" dirty="0" smtClean="0">
                <a:latin typeface="Times New Roman" pitchFamily="18" charset="0"/>
                <a:cs typeface="Times New Roman" pitchFamily="18" charset="0"/>
              </a:rPr>
              <a:t> available for our presentation, </a:t>
            </a:r>
            <a:r>
              <a:rPr lang="en-IN" sz="2400" b="1" dirty="0" smtClean="0">
                <a:latin typeface="Times New Roman" pitchFamily="18" charset="0"/>
                <a:cs typeface="Times New Roman" pitchFamily="18" charset="0"/>
              </a:rPr>
              <a:t>time</a:t>
            </a:r>
            <a:r>
              <a:rPr lang="en-IN" sz="2400" dirty="0" smtClean="0">
                <a:latin typeface="Times New Roman" pitchFamily="18" charset="0"/>
                <a:cs typeface="Times New Roman" pitchFamily="18" charset="0"/>
              </a:rPr>
              <a:t>, and </a:t>
            </a:r>
            <a:r>
              <a:rPr lang="en-IN" sz="2400" b="1" dirty="0" smtClean="0">
                <a:latin typeface="Times New Roman" pitchFamily="18" charset="0"/>
                <a:cs typeface="Times New Roman" pitchFamily="18" charset="0"/>
              </a:rPr>
              <a:t>context</a:t>
            </a:r>
            <a:r>
              <a:rPr lang="en-IN" sz="2400" dirty="0" smtClean="0">
                <a:latin typeface="Times New Roman" pitchFamily="18" charset="0"/>
                <a:cs typeface="Times New Roman" pitchFamily="18" charset="0"/>
              </a:rPr>
              <a:t> of our presentation. </a:t>
            </a:r>
            <a:endParaRPr lang="en-US" sz="2400" dirty="0" smtClean="0">
              <a:latin typeface="Times New Roman" pitchFamily="18" charset="0"/>
              <a:cs typeface="Times New Roman" pitchFamily="18" charset="0"/>
            </a:endParaRPr>
          </a:p>
          <a:p>
            <a:pPr>
              <a:buNone/>
            </a:pPr>
            <a:r>
              <a:rPr lang="en-IN" sz="2400" b="1" dirty="0" smtClean="0">
                <a:latin typeface="Times New Roman" pitchFamily="18" charset="0"/>
                <a:cs typeface="Times New Roman" pitchFamily="18" charset="0"/>
              </a:rPr>
              <a:t>	Facilities</a:t>
            </a:r>
            <a:r>
              <a:rPr lang="en-IN" sz="2400" dirty="0" smtClean="0">
                <a:latin typeface="Times New Roman" pitchFamily="18" charset="0"/>
                <a:cs typeface="Times New Roman" pitchFamily="18" charset="0"/>
              </a:rPr>
              <a:t> include the venue or locale along with the projection equipment, lighting, seating, ventilation, etc.</a:t>
            </a:r>
            <a:endParaRPr lang="en-US" sz="2400" dirty="0" smtClean="0">
              <a:latin typeface="Times New Roman" pitchFamily="18" charset="0"/>
              <a:cs typeface="Times New Roman" pitchFamily="18" charset="0"/>
            </a:endParaRPr>
          </a:p>
          <a:p>
            <a:pPr>
              <a:buNone/>
            </a:pPr>
            <a:r>
              <a:rPr lang="en-IN" sz="2400" b="1" dirty="0" smtClean="0">
                <a:latin typeface="Times New Roman" pitchFamily="18" charset="0"/>
                <a:cs typeface="Times New Roman" pitchFamily="18" charset="0"/>
              </a:rPr>
              <a:t>	Time</a:t>
            </a:r>
            <a:r>
              <a:rPr lang="en-IN" sz="2400" dirty="0" smtClean="0">
                <a:latin typeface="Times New Roman" pitchFamily="18" charset="0"/>
                <a:cs typeface="Times New Roman" pitchFamily="18" charset="0"/>
              </a:rPr>
              <a:t> refers to both the time of the day of presentation and the duration of the talk. Professional presentations are brief, we should present the important points in the first few minutes.</a:t>
            </a:r>
            <a:endParaRPr lang="en-US" sz="2400" dirty="0" smtClean="0">
              <a:latin typeface="Times New Roman" pitchFamily="18" charset="0"/>
              <a:cs typeface="Times New Roman" pitchFamily="18" charset="0"/>
            </a:endParaRPr>
          </a:p>
          <a:p>
            <a:pPr>
              <a:buNone/>
            </a:pPr>
            <a:r>
              <a:rPr lang="en-IN" sz="2400" b="1" dirty="0" smtClean="0">
                <a:latin typeface="Times New Roman" pitchFamily="18" charset="0"/>
                <a:cs typeface="Times New Roman" pitchFamily="18" charset="0"/>
              </a:rPr>
              <a:t>	Context </a:t>
            </a:r>
            <a:r>
              <a:rPr lang="en-IN" sz="2400" dirty="0" smtClean="0">
                <a:latin typeface="Times New Roman" pitchFamily="18" charset="0"/>
                <a:cs typeface="Times New Roman" pitchFamily="18" charset="0"/>
              </a:rPr>
              <a:t>refers to the events surrounding our presentation. When we are presenting in a team, we need to consider the team members. We would need to modify ourselves to the existing situation just before presenting our part.</a:t>
            </a:r>
            <a:endParaRPr lang="en-US" sz="2400" dirty="0" smtClean="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a:bodyPr>
          <a:lstStyle/>
          <a:p>
            <a:pPr algn="ctr">
              <a:buNone/>
            </a:pPr>
            <a:r>
              <a:rPr lang="en-US" sz="2400" b="1" u="sng" dirty="0" smtClean="0">
                <a:solidFill>
                  <a:schemeClr val="tx1"/>
                </a:solidFill>
                <a:latin typeface="Times New Roman" panose="02020603050405020304" pitchFamily="18" charset="0"/>
                <a:cs typeface="Times New Roman" panose="02020603050405020304" pitchFamily="18" charset="0"/>
              </a:rPr>
              <a:t>Formal Presentation</a:t>
            </a:r>
          </a:p>
          <a:p>
            <a:pPr algn="just">
              <a:buNone/>
            </a:pPr>
            <a:r>
              <a:rPr lang="en-IN" sz="2400" dirty="0" smtClean="0"/>
              <a:t>	</a:t>
            </a:r>
          </a:p>
          <a:p>
            <a:pPr algn="just">
              <a:buNone/>
            </a:pPr>
            <a:r>
              <a:rPr lang="en-IN" sz="2400" dirty="0" smtClean="0">
                <a:latin typeface="Times New Roman" pitchFamily="18" charset="0"/>
                <a:cs typeface="Times New Roman" pitchFamily="18" charset="0"/>
              </a:rPr>
              <a:t>	b.1- </a:t>
            </a:r>
            <a:r>
              <a:rPr lang="en-IN" sz="2400" b="1" dirty="0" smtClean="0">
                <a:latin typeface="Times New Roman" pitchFamily="18" charset="0"/>
                <a:cs typeface="Times New Roman" pitchFamily="18" charset="0"/>
              </a:rPr>
              <a:t>Audience:</a:t>
            </a:r>
            <a:r>
              <a:rPr lang="en-IN" sz="2400" dirty="0" smtClean="0">
                <a:latin typeface="Times New Roman" pitchFamily="18" charset="0"/>
                <a:cs typeface="Times New Roman" pitchFamily="18" charset="0"/>
              </a:rPr>
              <a:t> Audience are at the receiving end of our communication. They may be our friends, clients, colleagues, sometimes unfamiliar faces, or a combination of all these. The nature of our audience has a direct impact on the strategy we devise for our presentation. Hence, it is necessary to have some prior knowledge of the audience. </a:t>
            </a:r>
            <a:endParaRPr lang="en-US" sz="2400" dirty="0" smtClean="0">
              <a:latin typeface="Times New Roman" pitchFamily="18" charset="0"/>
              <a:cs typeface="Times New Roman" pitchFamily="18" charset="0"/>
            </a:endParaRPr>
          </a:p>
          <a:p>
            <a:pPr algn="just">
              <a:buNone/>
            </a:pPr>
            <a:r>
              <a:rPr lang="en-IN" sz="2400" dirty="0" smtClean="0">
                <a:latin typeface="Times New Roman" pitchFamily="18" charset="0"/>
                <a:cs typeface="Times New Roman" pitchFamily="18" charset="0"/>
              </a:rPr>
              <a:t>	* What are their interests, likes, and dislikes?</a:t>
            </a:r>
            <a:endParaRPr lang="en-US" sz="2400" dirty="0" smtClean="0">
              <a:latin typeface="Times New Roman" pitchFamily="18" charset="0"/>
              <a:cs typeface="Times New Roman" pitchFamily="18" charset="0"/>
            </a:endParaRPr>
          </a:p>
          <a:p>
            <a:pPr algn="just">
              <a:buNone/>
            </a:pPr>
            <a:r>
              <a:rPr lang="en-IN" sz="2400" dirty="0" smtClean="0">
                <a:latin typeface="Times New Roman" pitchFamily="18" charset="0"/>
                <a:cs typeface="Times New Roman" pitchFamily="18" charset="0"/>
              </a:rPr>
              <a:t>	* Are they familiar with the topic?</a:t>
            </a:r>
            <a:endParaRPr lang="en-US" sz="2400" dirty="0" smtClean="0">
              <a:latin typeface="Times New Roman" pitchFamily="18" charset="0"/>
              <a:cs typeface="Times New Roman" pitchFamily="18" charset="0"/>
            </a:endParaRPr>
          </a:p>
          <a:p>
            <a:pPr algn="just">
              <a:buNone/>
            </a:pPr>
            <a:r>
              <a:rPr lang="en-IN" sz="2400" dirty="0" smtClean="0">
                <a:latin typeface="Times New Roman" pitchFamily="18" charset="0"/>
                <a:cs typeface="Times New Roman" pitchFamily="18" charset="0"/>
              </a:rPr>
              <a:t>	* Is their attitude hostile or friendly?</a:t>
            </a:r>
            <a:endParaRPr lang="en-US" sz="2400" dirty="0" smtClean="0">
              <a:latin typeface="Times New Roman" pitchFamily="18" charset="0"/>
              <a:cs typeface="Times New Roman" pitchFamily="18" charset="0"/>
            </a:endParaRPr>
          </a:p>
          <a:p>
            <a:pPr algn="just">
              <a:buNone/>
            </a:pPr>
            <a:r>
              <a:rPr lang="en-IN" sz="2400" dirty="0" smtClean="0">
                <a:latin typeface="Times New Roman" pitchFamily="18" charset="0"/>
                <a:cs typeface="Times New Roman" pitchFamily="18" charset="0"/>
              </a:rPr>
              <a:t>	* What is the size of the group?</a:t>
            </a:r>
            <a:endParaRPr lang="en-US" sz="2400" dirty="0" smtClean="0">
              <a:latin typeface="Times New Roman" pitchFamily="18" charset="0"/>
              <a:cs typeface="Times New Roman" pitchFamily="18" charset="0"/>
            </a:endParaRPr>
          </a:p>
          <a:p>
            <a:pPr algn="just">
              <a:buNone/>
            </a:pPr>
            <a:r>
              <a:rPr lang="en-IN" sz="2400" dirty="0" smtClean="0">
                <a:latin typeface="Times New Roman" pitchFamily="18" charset="0"/>
                <a:cs typeface="Times New Roman" pitchFamily="18" charset="0"/>
              </a:rPr>
              <a:t>	* Age range? Gender distribution?</a:t>
            </a:r>
          </a:p>
          <a:p>
            <a:pPr algn="just">
              <a:buNone/>
            </a:pPr>
            <a:r>
              <a:rPr lang="en-IN" sz="2400" dirty="0" smtClean="0">
                <a:solidFill>
                  <a:schemeClr val="tx1"/>
                </a:solidFill>
                <a:latin typeface="Times New Roman" pitchFamily="18" charset="0"/>
                <a:cs typeface="Times New Roman" pitchFamily="18" charset="0"/>
              </a:rPr>
              <a:t>     * Cultural diversity</a:t>
            </a:r>
            <a:endParaRPr lang="en-US" sz="2400" dirty="0" smtClean="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b.2-LOCALE</a:t>
            </a:r>
            <a:endParaRPr lang="en-US" dirty="0"/>
          </a:p>
        </p:txBody>
      </p:sp>
      <p:sp>
        <p:nvSpPr>
          <p:cNvPr id="3" name="Content Placeholder 2"/>
          <p:cNvSpPr>
            <a:spLocks noGrp="1"/>
          </p:cNvSpPr>
          <p:nvPr>
            <p:ph idx="1"/>
          </p:nvPr>
        </p:nvSpPr>
        <p:spPr/>
        <p:txBody>
          <a:bodyPr>
            <a:normAutofit lnSpcReduction="10000"/>
          </a:bodyPr>
          <a:lstStyle/>
          <a:p>
            <a:r>
              <a:rPr lang="en-US" dirty="0" smtClean="0"/>
              <a:t>Locale means Physical Environment</a:t>
            </a:r>
          </a:p>
          <a:p>
            <a:r>
              <a:rPr lang="en-US" dirty="0" smtClean="0"/>
              <a:t>The speaker should know about-</a:t>
            </a:r>
          </a:p>
          <a:p>
            <a:r>
              <a:rPr lang="en-US" dirty="0" smtClean="0"/>
              <a:t>1. Place of presentation</a:t>
            </a:r>
          </a:p>
          <a:p>
            <a:r>
              <a:rPr lang="en-US" dirty="0" smtClean="0"/>
              <a:t>2. A podium or table provided</a:t>
            </a:r>
          </a:p>
          <a:p>
            <a:r>
              <a:rPr lang="en-US" dirty="0" smtClean="0"/>
              <a:t>3. Public address system available</a:t>
            </a:r>
          </a:p>
          <a:p>
            <a:r>
              <a:rPr lang="en-US" dirty="0" smtClean="0"/>
              <a:t>4. Seating arrangement, room temperature and lighting</a:t>
            </a:r>
          </a:p>
          <a:p>
            <a:r>
              <a:rPr lang="en-US" dirty="0" smtClean="0"/>
              <a:t>5. Visual aids available</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lnSpcReduction="10000"/>
          </a:bodyPr>
          <a:lstStyle/>
          <a:p>
            <a:pPr algn="ctr">
              <a:buNone/>
            </a:pPr>
            <a:r>
              <a:rPr lang="en-US" sz="2400" b="1" u="sng" dirty="0" smtClean="0">
                <a:solidFill>
                  <a:schemeClr val="tx1"/>
                </a:solidFill>
                <a:latin typeface="Times New Roman" panose="02020603050405020304" pitchFamily="18" charset="0"/>
                <a:cs typeface="Times New Roman" panose="02020603050405020304" pitchFamily="18" charset="0"/>
              </a:rPr>
              <a:t>Formal Presentation</a:t>
            </a:r>
          </a:p>
          <a:p>
            <a:pPr>
              <a:buNone/>
            </a:pPr>
            <a:r>
              <a:rPr lang="en-IN" sz="2400" dirty="0" smtClean="0"/>
              <a:t>	</a:t>
            </a:r>
          </a:p>
          <a:p>
            <a:pPr>
              <a:buNone/>
            </a:pPr>
            <a:r>
              <a:rPr lang="en-IN" sz="2400" dirty="0" smtClean="0">
                <a:latin typeface="Times New Roman" pitchFamily="18" charset="0"/>
                <a:cs typeface="Times New Roman" pitchFamily="18" charset="0"/>
              </a:rPr>
              <a:t>	c. </a:t>
            </a:r>
            <a:r>
              <a:rPr lang="en-IN" sz="2400" b="1" dirty="0" smtClean="0">
                <a:latin typeface="Times New Roman" pitchFamily="18" charset="0"/>
                <a:cs typeface="Times New Roman" pitchFamily="18" charset="0"/>
              </a:rPr>
              <a:t>Purpose</a:t>
            </a:r>
            <a:r>
              <a:rPr lang="en-IN" sz="2400" dirty="0" smtClean="0">
                <a:latin typeface="Times New Roman" pitchFamily="18" charset="0"/>
                <a:cs typeface="Times New Roman" pitchFamily="18" charset="0"/>
              </a:rPr>
              <a:t>: There can be different purposes of a presentation: </a:t>
            </a:r>
            <a:endParaRPr lang="en-US"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	</a:t>
            </a:r>
            <a:r>
              <a:rPr lang="en-IN" sz="2400" b="1" dirty="0" smtClean="0">
                <a:latin typeface="Times New Roman" pitchFamily="18" charset="0"/>
                <a:cs typeface="Times New Roman" pitchFamily="18" charset="0"/>
              </a:rPr>
              <a:t>To Inform, To Analyse , To Persuade, to entertain and to motivate</a:t>
            </a:r>
            <a:endParaRPr lang="en-US" sz="2400" b="1"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	When the purpose is to provide information or to analyse a situation, we generally interact with the audience in a limited manner.</a:t>
            </a:r>
            <a:endParaRPr lang="en-US"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	When the purpose is to analyse a situation a speaker generally take suitable time to understand the situation and the matter.</a:t>
            </a:r>
            <a:endParaRPr lang="en-US"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	When the purpose is to persuade people to take a particular action, collaborate with them in solving a problem, or making a decision, the interaction would be more.  </a:t>
            </a:r>
            <a:endParaRPr lang="en-US" sz="2400" dirty="0" smtClean="0">
              <a:latin typeface="Times New Roman" pitchFamily="18" charset="0"/>
              <a:cs typeface="Times New Roman" pitchFamily="18" charset="0"/>
            </a:endParaRPr>
          </a:p>
          <a:p>
            <a:pPr algn="just">
              <a:buNone/>
            </a:pPr>
            <a:endParaRPr lang="en-US" sz="2400" dirty="0" smtClean="0">
              <a:solidFill>
                <a:schemeClr val="tx1"/>
              </a:solidFill>
              <a:latin typeface="Times New Roman" panose="02020603050405020304" pitchFamily="18" charset="0"/>
              <a:cs typeface="Times New Roman" panose="02020603050405020304" pitchFamily="18" charset="0"/>
            </a:endParaRPr>
          </a:p>
          <a:p>
            <a:pPr algn="just">
              <a:buNone/>
            </a:pPr>
            <a:endParaRPr lang="en-US" sz="2400" dirty="0" smtClean="0">
              <a:solidFill>
                <a:schemeClr val="tx1"/>
              </a:solidFill>
              <a:latin typeface="Times New Roman" panose="02020603050405020304" pitchFamily="18" charset="0"/>
              <a:cs typeface="Times New Roman" panose="02020603050405020304" pitchFamily="18" charset="0"/>
            </a:endParaRPr>
          </a:p>
          <a:p>
            <a:pPr algn="just">
              <a:buNone/>
            </a:pPr>
            <a:r>
              <a:rPr lang="en-US" sz="2400" b="1" dirty="0" smtClean="0"/>
              <a:t>	</a:t>
            </a:r>
            <a:endParaRPr lang="en-US" sz="2400" dirty="0" smtClean="0">
              <a:solidFill>
                <a:srgbClr val="7030A0"/>
              </a:solidFill>
              <a:latin typeface="Times New Roman" panose="02020603050405020304" pitchFamily="18" charset="0"/>
              <a:cs typeface="Times New Roman" panose="02020603050405020304" pitchFamily="18" charset="0"/>
            </a:endParaRPr>
          </a:p>
          <a:p>
            <a:pPr algn="just">
              <a:buNone/>
            </a:pPr>
            <a:endParaRPr lang="en-US" sz="2400" b="1" u="sng" dirty="0" smtClean="0">
              <a:latin typeface="Times New Roman" panose="02020603050405020304" pitchFamily="18" charset="0"/>
              <a:cs typeface="Times New Roman" panose="02020603050405020304" pitchFamily="18" charset="0"/>
            </a:endParaRPr>
          </a:p>
          <a:p>
            <a:pPr algn="just">
              <a:buNone/>
            </a:pPr>
            <a:endParaRPr lang="en-US" sz="2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fontScale="92500" lnSpcReduction="20000"/>
          </a:bodyPr>
          <a:lstStyle/>
          <a:p>
            <a:pPr algn="ctr">
              <a:buNone/>
            </a:pPr>
            <a:r>
              <a:rPr lang="en-US" sz="2400" b="1" u="sng" dirty="0" smtClean="0">
                <a:solidFill>
                  <a:schemeClr val="tx1"/>
                </a:solidFill>
                <a:latin typeface="Times New Roman" panose="02020603050405020304" pitchFamily="18" charset="0"/>
                <a:cs typeface="Times New Roman" panose="02020603050405020304" pitchFamily="18" charset="0"/>
              </a:rPr>
              <a:t>Formal Presentation</a:t>
            </a:r>
          </a:p>
          <a:p>
            <a:pPr algn="ctr">
              <a:buNone/>
            </a:pPr>
            <a:endParaRPr lang="en-US" sz="2400" b="1" u="sng" dirty="0" smtClean="0">
              <a:solidFill>
                <a:schemeClr val="tx1"/>
              </a:solidFill>
              <a:latin typeface="Times New Roman" panose="02020603050405020304" pitchFamily="18" charset="0"/>
              <a:cs typeface="Times New Roman" panose="02020603050405020304" pitchFamily="18" charset="0"/>
            </a:endParaRPr>
          </a:p>
          <a:p>
            <a:pPr>
              <a:buNone/>
            </a:pPr>
            <a:r>
              <a:rPr lang="en-IN" sz="2400" b="1" dirty="0" smtClean="0">
                <a:latin typeface="Times New Roman" pitchFamily="18" charset="0"/>
                <a:cs typeface="Times New Roman" pitchFamily="18" charset="0"/>
              </a:rPr>
              <a:t>	d. Thesis Statement</a:t>
            </a:r>
            <a:r>
              <a:rPr lang="en-IN" sz="2400" dirty="0" smtClean="0">
                <a:latin typeface="Times New Roman" pitchFamily="18" charset="0"/>
                <a:cs typeface="Times New Roman" pitchFamily="18" charset="0"/>
              </a:rPr>
              <a:t>: The thesis statement is very important in a presentation because it spells out the subject and establishes its impact among the audience. It is also the central idea of a presentation. Simple language should be used to frame a complete, declarative statement. </a:t>
            </a:r>
            <a:endParaRPr lang="en-US"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	Example of thesis statement written by a student for a presentation on ‘</a:t>
            </a:r>
            <a:r>
              <a:rPr lang="en-IN" sz="2400" b="1" i="1" dirty="0" smtClean="0">
                <a:latin typeface="Times New Roman" pitchFamily="18" charset="0"/>
                <a:cs typeface="Times New Roman" pitchFamily="18" charset="0"/>
              </a:rPr>
              <a:t>Choosing a reputed university for higher education</a:t>
            </a:r>
            <a:r>
              <a:rPr lang="en-IN" sz="2400" dirty="0" smtClean="0">
                <a:latin typeface="Times New Roman" pitchFamily="18" charset="0"/>
                <a:cs typeface="Times New Roman" pitchFamily="18" charset="0"/>
              </a:rPr>
              <a:t>’ the effective thesis statement would be:</a:t>
            </a:r>
            <a:endParaRPr lang="en-US"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	* Choosing a reputed university for higher university for higher education has five significant advantages (tells the audience that they will know these benefits after listening to presentation)</a:t>
            </a:r>
            <a:endParaRPr lang="en-US"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	After thesis statement allow yourself enough time to explore and develop your ideas on:</a:t>
            </a:r>
            <a:endParaRPr lang="en-US" sz="2400" dirty="0" smtClean="0">
              <a:latin typeface="Times New Roman" pitchFamily="18" charset="0"/>
              <a:cs typeface="Times New Roman" pitchFamily="18" charset="0"/>
            </a:endParaRPr>
          </a:p>
          <a:p>
            <a:pPr>
              <a:buNone/>
            </a:pPr>
            <a:r>
              <a:rPr lang="en-IN" sz="2400" b="1" dirty="0" smtClean="0">
                <a:latin typeface="Times New Roman" pitchFamily="18" charset="0"/>
                <a:cs typeface="Times New Roman" pitchFamily="18" charset="0"/>
              </a:rPr>
              <a:t>	Topic</a:t>
            </a:r>
            <a:r>
              <a:rPr lang="en-IN" sz="2400" dirty="0" smtClean="0">
                <a:latin typeface="Times New Roman" pitchFamily="18" charset="0"/>
                <a:cs typeface="Times New Roman" pitchFamily="18" charset="0"/>
              </a:rPr>
              <a:t>: Choosing a reputed university for higher education</a:t>
            </a:r>
            <a:endParaRPr lang="en-US" sz="2400" dirty="0" smtClean="0">
              <a:latin typeface="Times New Roman" pitchFamily="18" charset="0"/>
              <a:cs typeface="Times New Roman" pitchFamily="18" charset="0"/>
            </a:endParaRPr>
          </a:p>
          <a:p>
            <a:pPr>
              <a:buNone/>
            </a:pPr>
            <a:r>
              <a:rPr lang="en-IN" sz="2400" b="1" dirty="0" smtClean="0">
                <a:latin typeface="Times New Roman" pitchFamily="18" charset="0"/>
                <a:cs typeface="Times New Roman" pitchFamily="18" charset="0"/>
              </a:rPr>
              <a:t>	Topic Area</a:t>
            </a:r>
            <a:r>
              <a:rPr lang="en-IN" sz="2400" dirty="0" smtClean="0">
                <a:latin typeface="Times New Roman" pitchFamily="18" charset="0"/>
                <a:cs typeface="Times New Roman" pitchFamily="18" charset="0"/>
              </a:rPr>
              <a:t>: Advantages of a reputed university</a:t>
            </a:r>
            <a:endParaRPr lang="en-US" sz="2400" dirty="0" smtClean="0">
              <a:latin typeface="Times New Roman" pitchFamily="18" charset="0"/>
              <a:cs typeface="Times New Roman" pitchFamily="18" charset="0"/>
            </a:endParaRPr>
          </a:p>
          <a:p>
            <a:pPr>
              <a:buNone/>
            </a:pPr>
            <a:r>
              <a:rPr lang="en-IN" sz="2400" b="1" dirty="0" smtClean="0">
                <a:latin typeface="Times New Roman" pitchFamily="18" charset="0"/>
                <a:cs typeface="Times New Roman" pitchFamily="18" charset="0"/>
              </a:rPr>
              <a:t>	General Purpose</a:t>
            </a:r>
            <a:r>
              <a:rPr lang="en-IN" sz="2400" dirty="0" smtClean="0">
                <a:latin typeface="Times New Roman" pitchFamily="18" charset="0"/>
                <a:cs typeface="Times New Roman" pitchFamily="18" charset="0"/>
              </a:rPr>
              <a:t>: To inform</a:t>
            </a:r>
            <a:endParaRPr lang="en-US" sz="2400" dirty="0" smtClean="0">
              <a:latin typeface="Times New Roman" pitchFamily="18" charset="0"/>
              <a:cs typeface="Times New Roman" pitchFamily="18" charset="0"/>
            </a:endParaRPr>
          </a:p>
          <a:p>
            <a:pPr>
              <a:buNone/>
            </a:pPr>
            <a:r>
              <a:rPr lang="en-IN" sz="2400" b="1" dirty="0" smtClean="0">
                <a:latin typeface="Times New Roman" pitchFamily="18" charset="0"/>
                <a:cs typeface="Times New Roman" pitchFamily="18" charset="0"/>
              </a:rPr>
              <a:t>	Specific Purpose</a:t>
            </a:r>
            <a:r>
              <a:rPr lang="en-IN" sz="2400" dirty="0" smtClean="0">
                <a:latin typeface="Times New Roman" pitchFamily="18" charset="0"/>
                <a:cs typeface="Times New Roman" pitchFamily="18" charset="0"/>
              </a:rPr>
              <a:t>: I wish to tell my audience about the benefits they will reap by choosing a reputed university.</a:t>
            </a:r>
            <a:endParaRPr lang="en-US" sz="2400" dirty="0" smtClean="0">
              <a:latin typeface="Times New Roman" pitchFamily="18" charset="0"/>
              <a:cs typeface="Times New Roman" pitchFamily="18" charset="0"/>
            </a:endParaRPr>
          </a:p>
          <a:p>
            <a:pPr>
              <a:buNone/>
            </a:pPr>
            <a:r>
              <a:rPr lang="en-IN" sz="2400" b="1" dirty="0" smtClean="0">
                <a:latin typeface="Times New Roman" pitchFamily="18" charset="0"/>
                <a:cs typeface="Times New Roman" pitchFamily="18" charset="0"/>
              </a:rPr>
              <a:t>	Thesis Statement</a:t>
            </a:r>
            <a:r>
              <a:rPr lang="en-IN" sz="2400" dirty="0" smtClean="0">
                <a:latin typeface="Times New Roman" pitchFamily="18" charset="0"/>
                <a:cs typeface="Times New Roman" pitchFamily="18" charset="0"/>
              </a:rPr>
              <a:t>: Choosing a reputed university for higher education has five significant advantages</a:t>
            </a:r>
            <a:r>
              <a:rPr lang="en-IN" sz="2400" dirty="0" smtClean="0"/>
              <a:t>.</a:t>
            </a:r>
            <a:endParaRPr lang="en-US" sz="2400" dirty="0" smtClean="0">
              <a:solidFill>
                <a:srgbClr val="7030A0"/>
              </a:solidFill>
              <a:latin typeface="Times New Roman" panose="02020603050405020304" pitchFamily="18" charset="0"/>
              <a:cs typeface="Times New Roman" panose="02020603050405020304" pitchFamily="18" charset="0"/>
            </a:endParaRPr>
          </a:p>
          <a:p>
            <a:pPr algn="just">
              <a:buNone/>
            </a:pPr>
            <a:endParaRPr lang="en-US" sz="2400" b="1" u="sng" dirty="0" smtClean="0">
              <a:latin typeface="Times New Roman" panose="02020603050405020304" pitchFamily="18" charset="0"/>
              <a:cs typeface="Times New Roman" panose="02020603050405020304" pitchFamily="18" charset="0"/>
            </a:endParaRPr>
          </a:p>
          <a:p>
            <a:pPr algn="just">
              <a:buNone/>
            </a:pPr>
            <a:endParaRPr lang="en-US" sz="2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fontScale="92500"/>
          </a:bodyPr>
          <a:lstStyle/>
          <a:p>
            <a:pPr algn="ctr">
              <a:buNone/>
            </a:pPr>
            <a:r>
              <a:rPr lang="en-US" sz="2400" b="1" u="sng" dirty="0" smtClean="0">
                <a:solidFill>
                  <a:schemeClr val="tx1"/>
                </a:solidFill>
                <a:latin typeface="Times New Roman" panose="02020603050405020304" pitchFamily="18" charset="0"/>
                <a:cs typeface="Times New Roman" panose="02020603050405020304" pitchFamily="18" charset="0"/>
              </a:rPr>
              <a:t>Formal Presentation</a:t>
            </a:r>
          </a:p>
          <a:p>
            <a:pPr>
              <a:buNone/>
            </a:pPr>
            <a:r>
              <a:rPr lang="en-IN" sz="2400" b="1" dirty="0" smtClean="0">
                <a:latin typeface="Times New Roman" pitchFamily="18" charset="0"/>
                <a:cs typeface="Times New Roman" pitchFamily="18" charset="0"/>
              </a:rPr>
              <a:t>	e. -Material</a:t>
            </a:r>
            <a:r>
              <a:rPr lang="en-IN" sz="2400" dirty="0" smtClean="0">
                <a:latin typeface="Times New Roman" pitchFamily="18" charset="0"/>
                <a:cs typeface="Times New Roman" pitchFamily="18" charset="0"/>
              </a:rPr>
              <a:t>: Once we complete formulating our thesis, we need to develop the information that elaborates it. Collecting material requires some research. For example, when we are explaining a process or procedure, the main text of our presentation will include a series of steps involved.</a:t>
            </a:r>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pPr>
              <a:buNone/>
            </a:pPr>
            <a:r>
              <a:rPr lang="en-IN" sz="2400" b="1" dirty="0" smtClean="0">
                <a:latin typeface="Times New Roman" pitchFamily="18" charset="0"/>
                <a:cs typeface="Times New Roman" pitchFamily="18" charset="0"/>
              </a:rPr>
              <a:t>	Outlining and Structuring</a:t>
            </a:r>
            <a:r>
              <a:rPr lang="en-IN" sz="2400" dirty="0" smtClean="0">
                <a:latin typeface="Times New Roman" pitchFamily="18" charset="0"/>
                <a:cs typeface="Times New Roman" pitchFamily="18" charset="0"/>
              </a:rPr>
              <a:t>: An outline is a framework in which bits and pieces of the presentation material are fitted. It serves as a guide to show us the right path for our presentation. A presentation should have the following format:</a:t>
            </a:r>
            <a:endParaRPr lang="en-US" sz="2400" dirty="0" smtClean="0">
              <a:latin typeface="Times New Roman" pitchFamily="18" charset="0"/>
              <a:cs typeface="Times New Roman" pitchFamily="18" charset="0"/>
            </a:endParaRPr>
          </a:p>
          <a:p>
            <a:pPr lvl="0">
              <a:buNone/>
            </a:pPr>
            <a:r>
              <a:rPr lang="en-IN" sz="2400" b="1" dirty="0" smtClean="0">
                <a:latin typeface="Times New Roman" pitchFamily="18" charset="0"/>
                <a:cs typeface="Times New Roman" pitchFamily="18" charset="0"/>
              </a:rPr>
              <a:t>	Introduction</a:t>
            </a:r>
            <a:r>
              <a:rPr lang="en-IN" sz="2400" dirty="0" smtClean="0">
                <a:latin typeface="Times New Roman" pitchFamily="18" charset="0"/>
                <a:cs typeface="Times New Roman" pitchFamily="18" charset="0"/>
              </a:rPr>
              <a:t>: It should grab attention, introduce topic, contain a strategy for establishing credibility, preview the speech, establish rules for questions, and have a smooth transition to the main text.</a:t>
            </a:r>
            <a:endParaRPr lang="en-US" sz="2400" dirty="0" smtClean="0">
              <a:latin typeface="Times New Roman" pitchFamily="18" charset="0"/>
              <a:cs typeface="Times New Roman" pitchFamily="18" charset="0"/>
            </a:endParaRPr>
          </a:p>
          <a:p>
            <a:pPr lvl="0">
              <a:buNone/>
            </a:pPr>
            <a:r>
              <a:rPr lang="en-IN" sz="2400" b="1" dirty="0" smtClean="0">
                <a:latin typeface="Times New Roman" pitchFamily="18" charset="0"/>
                <a:cs typeface="Times New Roman" pitchFamily="18" charset="0"/>
              </a:rPr>
              <a:t>	Main Body</a:t>
            </a:r>
            <a:r>
              <a:rPr lang="en-IN" sz="2400" dirty="0" smtClean="0">
                <a:latin typeface="Times New Roman" pitchFamily="18" charset="0"/>
                <a:cs typeface="Times New Roman" pitchFamily="18" charset="0"/>
              </a:rPr>
              <a:t>: It should contain all the main points and supporting material; the entire matter should be organized in to a logical sequence.</a:t>
            </a:r>
            <a:endParaRPr lang="en-US" sz="2400" dirty="0" smtClean="0">
              <a:latin typeface="Times New Roman" pitchFamily="18" charset="0"/>
              <a:cs typeface="Times New Roman" pitchFamily="18" charset="0"/>
            </a:endParaRPr>
          </a:p>
          <a:p>
            <a:pPr>
              <a:buNone/>
            </a:pPr>
            <a:r>
              <a:rPr lang="en-IN" sz="2400" b="1" dirty="0" smtClean="0">
                <a:latin typeface="Times New Roman" pitchFamily="18" charset="0"/>
                <a:cs typeface="Times New Roman" pitchFamily="18" charset="0"/>
              </a:rPr>
              <a:t>	Conclusion</a:t>
            </a:r>
            <a:r>
              <a:rPr lang="en-IN" sz="2400" dirty="0" smtClean="0">
                <a:latin typeface="Times New Roman" pitchFamily="18" charset="0"/>
                <a:cs typeface="Times New Roman" pitchFamily="18" charset="0"/>
              </a:rPr>
              <a:t>: It should contain signal, highlight/summary, closing statement/re-emphasis, a vote of thanks, and invitation to questions.</a:t>
            </a:r>
            <a:endParaRPr lang="en-US" sz="2400" b="1" u="sng" dirty="0" smtClean="0">
              <a:latin typeface="Times New Roman" pitchFamily="18" charset="0"/>
              <a:cs typeface="Times New Roman" pitchFamily="18" charset="0"/>
            </a:endParaRPr>
          </a:p>
          <a:p>
            <a:pPr algn="just">
              <a:buNone/>
            </a:pPr>
            <a:endParaRPr lang="en-US" sz="2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fontScale="85000" lnSpcReduction="10000"/>
          </a:bodyPr>
          <a:lstStyle/>
          <a:p>
            <a:endParaRPr lang="en-US" sz="2400" b="1" u="sng" dirty="0" smtClean="0"/>
          </a:p>
          <a:p>
            <a:pPr algn="just">
              <a:buNone/>
            </a:pPr>
            <a:r>
              <a:rPr lang="en-US" sz="2400" b="1" dirty="0" smtClean="0"/>
              <a:t>	</a:t>
            </a:r>
            <a:r>
              <a:rPr lang="en-US" sz="2400" b="1" u="sng" dirty="0" smtClean="0">
                <a:latin typeface="Times New Roman" panose="02020603050405020304" pitchFamily="18" charset="0"/>
                <a:cs typeface="Times New Roman" panose="02020603050405020304" pitchFamily="18" charset="0"/>
              </a:rPr>
              <a:t>Organizing Contents</a:t>
            </a:r>
            <a:r>
              <a:rPr lang="en-US" sz="2400" dirty="0" smtClean="0">
                <a:latin typeface="Times New Roman" panose="02020603050405020304" pitchFamily="18" charset="0"/>
                <a:cs typeface="Times New Roman" panose="02020603050405020304" pitchFamily="18" charset="0"/>
              </a:rPr>
              <a:t>:  </a:t>
            </a:r>
          </a:p>
          <a:p>
            <a:pPr algn="just">
              <a:buNone/>
            </a:pPr>
            <a:r>
              <a:rPr lang="en-US" sz="2400" dirty="0" smtClean="0">
                <a:latin typeface="Times New Roman" panose="02020603050405020304" pitchFamily="18" charset="0"/>
                <a:cs typeface="Times New Roman" panose="02020603050405020304" pitchFamily="18" charset="0"/>
              </a:rPr>
              <a:t>	</a:t>
            </a:r>
            <a:r>
              <a:rPr lang="en-US" sz="2400" dirty="0" smtClean="0">
                <a:solidFill>
                  <a:schemeClr val="tx1"/>
                </a:solidFill>
                <a:latin typeface="Times New Roman" panose="02020603050405020304" pitchFamily="18" charset="0"/>
                <a:cs typeface="Times New Roman" panose="02020603050405020304" pitchFamily="18" charset="0"/>
              </a:rPr>
              <a:t>A speaker should always prepare more material than required, as this will help him feel confident.  He should arrange his contents of his presentation into three major parts namely, introduction, main body, and conclusion.</a:t>
            </a:r>
          </a:p>
          <a:p>
            <a:pPr algn="just">
              <a:buNone/>
            </a:pPr>
            <a:r>
              <a:rPr lang="en-US" sz="2400" dirty="0" smtClean="0">
                <a:solidFill>
                  <a:schemeClr val="tx1"/>
                </a:solidFill>
                <a:latin typeface="Times New Roman" panose="02020603050405020304" pitchFamily="18" charset="0"/>
                <a:cs typeface="Times New Roman" panose="02020603050405020304" pitchFamily="18" charset="0"/>
              </a:rPr>
              <a:t>	(a).  </a:t>
            </a:r>
            <a:r>
              <a:rPr lang="en-US" sz="2400" u="sng" dirty="0" smtClean="0">
                <a:solidFill>
                  <a:schemeClr val="tx1"/>
                </a:solidFill>
                <a:latin typeface="Times New Roman" panose="02020603050405020304" pitchFamily="18" charset="0"/>
                <a:cs typeface="Times New Roman" panose="02020603050405020304" pitchFamily="18" charset="0"/>
              </a:rPr>
              <a:t>Introduction:</a:t>
            </a:r>
            <a:r>
              <a:rPr lang="en-US" sz="2400" dirty="0" smtClean="0">
                <a:solidFill>
                  <a:schemeClr val="tx1"/>
                </a:solidFill>
                <a:latin typeface="Times New Roman" panose="02020603050405020304" pitchFamily="18" charset="0"/>
                <a:cs typeface="Times New Roman" panose="02020603050405020304" pitchFamily="18" charset="0"/>
              </a:rPr>
              <a:t>  The introduction comprises the porch or the opening statement, the aim, the layout.  The porch can be a question, a sincere greeting, or a starting statement.  This catches the attention of his audience and prepares them to listen to the rest of his presentation.</a:t>
            </a:r>
          </a:p>
          <a:p>
            <a:pPr algn="just">
              <a:buNone/>
            </a:pPr>
            <a:r>
              <a:rPr lang="en-US" sz="2400" i="1" dirty="0" smtClean="0">
                <a:solidFill>
                  <a:schemeClr val="tx1"/>
                </a:solidFill>
                <a:latin typeface="Times New Roman" panose="02020603050405020304" pitchFamily="18" charset="0"/>
                <a:cs typeface="Times New Roman" panose="02020603050405020304" pitchFamily="18" charset="0"/>
              </a:rPr>
              <a:t>	</a:t>
            </a:r>
            <a:r>
              <a:rPr lang="en-US" sz="2400" i="1" u="sng" dirty="0" smtClean="0">
                <a:solidFill>
                  <a:schemeClr val="tx1"/>
                </a:solidFill>
                <a:latin typeface="Times New Roman" panose="02020603050405020304" pitchFamily="18" charset="0"/>
                <a:cs typeface="Times New Roman" panose="02020603050405020304" pitchFamily="18" charset="0"/>
              </a:rPr>
              <a:t>Example:</a:t>
            </a:r>
            <a:r>
              <a:rPr lang="en-US" sz="2400" dirty="0" smtClean="0">
                <a:solidFill>
                  <a:schemeClr val="tx1"/>
                </a:solidFill>
                <a:latin typeface="Times New Roman" panose="02020603050405020304" pitchFamily="18" charset="0"/>
                <a:cs typeface="Times New Roman" panose="02020603050405020304" pitchFamily="18" charset="0"/>
              </a:rPr>
              <a:t>  </a:t>
            </a:r>
            <a:r>
              <a:rPr lang="en-US" sz="2400" i="1" dirty="0" smtClean="0">
                <a:solidFill>
                  <a:schemeClr val="tx1"/>
                </a:solidFill>
                <a:latin typeface="Times New Roman" panose="02020603050405020304" pitchFamily="18" charset="0"/>
                <a:cs typeface="Times New Roman" panose="02020603050405020304" pitchFamily="18" charset="0"/>
              </a:rPr>
              <a:t>“I am here to brief you about the details of this appraisal system.  I will start by giving a brief idea about the earlier system and then proceed to discuss the highlights of the new system.”</a:t>
            </a:r>
          </a:p>
          <a:p>
            <a:pPr algn="just">
              <a:buNone/>
            </a:pPr>
            <a:r>
              <a:rPr lang="en-US" sz="2400" dirty="0" smtClean="0">
                <a:solidFill>
                  <a:schemeClr val="tx1"/>
                </a:solidFill>
              </a:rPr>
              <a:t>	</a:t>
            </a:r>
            <a:r>
              <a:rPr lang="en-US" sz="2400" dirty="0" smtClean="0">
                <a:solidFill>
                  <a:schemeClr val="tx1"/>
                </a:solidFill>
                <a:latin typeface="Times New Roman" panose="02020603050405020304" pitchFamily="18" charset="0"/>
                <a:cs typeface="Times New Roman" panose="02020603050405020304" pitchFamily="18" charset="0"/>
              </a:rPr>
              <a:t>(b). </a:t>
            </a:r>
            <a:r>
              <a:rPr lang="en-US" sz="2400" u="sng" dirty="0" smtClean="0">
                <a:solidFill>
                  <a:schemeClr val="tx1"/>
                </a:solidFill>
                <a:latin typeface="Times New Roman" panose="02020603050405020304" pitchFamily="18" charset="0"/>
                <a:cs typeface="Times New Roman" panose="02020603050405020304" pitchFamily="18" charset="0"/>
              </a:rPr>
              <a:t>Main Body</a:t>
            </a:r>
            <a:r>
              <a:rPr lang="en-US" sz="2400" dirty="0" smtClean="0">
                <a:solidFill>
                  <a:schemeClr val="tx1"/>
                </a:solidFill>
                <a:latin typeface="Times New Roman" panose="02020603050405020304" pitchFamily="18" charset="0"/>
                <a:cs typeface="Times New Roman" panose="02020603050405020304" pitchFamily="18" charset="0"/>
              </a:rPr>
              <a:t>:  In main body, </a:t>
            </a:r>
            <a:r>
              <a:rPr lang="en-US" sz="2400" dirty="0" smtClean="0">
                <a:solidFill>
                  <a:schemeClr val="tx1"/>
                </a:solidFill>
                <a:latin typeface="Times New Roman" panose="02020603050405020304" pitchFamily="18" charset="0"/>
                <a:cs typeface="Times New Roman" panose="02020603050405020304" pitchFamily="18" charset="0"/>
              </a:rPr>
              <a:t>the highlighted </a:t>
            </a:r>
            <a:r>
              <a:rPr lang="en-US" sz="2400" dirty="0" smtClean="0">
                <a:solidFill>
                  <a:schemeClr val="tx1"/>
                </a:solidFill>
                <a:latin typeface="Times New Roman" panose="02020603050405020304" pitchFamily="18" charset="0"/>
                <a:cs typeface="Times New Roman" panose="02020603050405020304" pitchFamily="18" charset="0"/>
              </a:rPr>
              <a:t>major points in </a:t>
            </a:r>
            <a:r>
              <a:rPr lang="en-US" sz="2400" dirty="0" smtClean="0">
                <a:solidFill>
                  <a:schemeClr val="tx1"/>
                </a:solidFill>
                <a:latin typeface="Times New Roman" panose="02020603050405020304" pitchFamily="18" charset="0"/>
                <a:cs typeface="Times New Roman" panose="02020603050405020304" pitchFamily="18" charset="0"/>
              </a:rPr>
              <a:t>the opening </a:t>
            </a:r>
            <a:r>
              <a:rPr lang="en-US" sz="2400" dirty="0" smtClean="0">
                <a:solidFill>
                  <a:schemeClr val="tx1"/>
                </a:solidFill>
                <a:latin typeface="Times New Roman" panose="02020603050405020304" pitchFamily="18" charset="0"/>
                <a:cs typeface="Times New Roman" panose="02020603050405020304" pitchFamily="18" charset="0"/>
              </a:rPr>
              <a:t>are expanded upon </a:t>
            </a:r>
            <a:r>
              <a:rPr lang="en-US" sz="2400" dirty="0" smtClean="0">
                <a:solidFill>
                  <a:schemeClr val="tx1"/>
                </a:solidFill>
                <a:latin typeface="Times New Roman" panose="02020603050405020304" pitchFamily="18" charset="0"/>
                <a:cs typeface="Times New Roman" panose="02020603050405020304" pitchFamily="18" charset="0"/>
              </a:rPr>
              <a:t>.  </a:t>
            </a:r>
            <a:r>
              <a:rPr lang="en-US" sz="2400" dirty="0" smtClean="0">
                <a:solidFill>
                  <a:schemeClr val="tx1"/>
                </a:solidFill>
                <a:latin typeface="Times New Roman" panose="02020603050405020304" pitchFamily="18" charset="0"/>
                <a:cs typeface="Times New Roman" panose="02020603050405020304" pitchFamily="18" charset="0"/>
              </a:rPr>
              <a:t>Depending upon </a:t>
            </a:r>
            <a:r>
              <a:rPr lang="en-US" sz="2400" dirty="0" smtClean="0">
                <a:solidFill>
                  <a:schemeClr val="tx1"/>
                </a:solidFill>
                <a:latin typeface="Times New Roman" panose="02020603050405020304" pitchFamily="18" charset="0"/>
                <a:cs typeface="Times New Roman" panose="02020603050405020304" pitchFamily="18" charset="0"/>
              </a:rPr>
              <a:t>the </a:t>
            </a:r>
            <a:r>
              <a:rPr lang="en-US" sz="2400" dirty="0" smtClean="0">
                <a:solidFill>
                  <a:schemeClr val="tx1"/>
                </a:solidFill>
                <a:latin typeface="Times New Roman" panose="02020603050405020304" pitchFamily="18" charset="0"/>
                <a:cs typeface="Times New Roman" panose="02020603050405020304" pitchFamily="18" charset="0"/>
              </a:rPr>
              <a:t>topic, and </a:t>
            </a:r>
            <a:r>
              <a:rPr lang="en-US" sz="2400" dirty="0" smtClean="0">
                <a:solidFill>
                  <a:schemeClr val="tx1"/>
                </a:solidFill>
                <a:latin typeface="Times New Roman" panose="02020603050405020304" pitchFamily="18" charset="0"/>
                <a:cs typeface="Times New Roman" panose="02020603050405020304" pitchFamily="18" charset="0"/>
              </a:rPr>
              <a:t>the </a:t>
            </a:r>
            <a:r>
              <a:rPr lang="en-US" sz="2400" dirty="0" smtClean="0">
                <a:solidFill>
                  <a:schemeClr val="tx1"/>
                </a:solidFill>
                <a:latin typeface="Times New Roman" panose="02020603050405020304" pitchFamily="18" charset="0"/>
                <a:cs typeface="Times New Roman" panose="02020603050405020304" pitchFamily="18" charset="0"/>
              </a:rPr>
              <a:t>introduction, </a:t>
            </a:r>
            <a:r>
              <a:rPr lang="en-US" sz="2400" dirty="0" smtClean="0">
                <a:solidFill>
                  <a:schemeClr val="tx1"/>
                </a:solidFill>
                <a:latin typeface="Times New Roman" panose="02020603050405020304" pitchFamily="18" charset="0"/>
                <a:cs typeface="Times New Roman" panose="02020603050405020304" pitchFamily="18" charset="0"/>
              </a:rPr>
              <a:t>the speaker </a:t>
            </a:r>
            <a:r>
              <a:rPr lang="en-US" sz="2400" dirty="0" smtClean="0">
                <a:solidFill>
                  <a:schemeClr val="tx1"/>
                </a:solidFill>
                <a:latin typeface="Times New Roman" panose="02020603050405020304" pitchFamily="18" charset="0"/>
                <a:cs typeface="Times New Roman" panose="02020603050405020304" pitchFamily="18" charset="0"/>
              </a:rPr>
              <a:t>can choose from any of the following patterns to organize the main body of </a:t>
            </a:r>
            <a:r>
              <a:rPr lang="en-US" sz="2400" dirty="0" smtClean="0">
                <a:solidFill>
                  <a:schemeClr val="tx1"/>
                </a:solidFill>
                <a:latin typeface="Times New Roman" panose="02020603050405020304" pitchFamily="18" charset="0"/>
                <a:cs typeface="Times New Roman" panose="02020603050405020304" pitchFamily="18" charset="0"/>
              </a:rPr>
              <a:t>the  </a:t>
            </a:r>
            <a:r>
              <a:rPr lang="en-US" sz="2400" dirty="0" smtClean="0">
                <a:solidFill>
                  <a:schemeClr val="tx1"/>
                </a:solidFill>
                <a:latin typeface="Times New Roman" panose="02020603050405020304" pitchFamily="18" charset="0"/>
                <a:cs typeface="Times New Roman" panose="02020603050405020304" pitchFamily="18" charset="0"/>
              </a:rPr>
              <a:t>speech.  </a:t>
            </a:r>
          </a:p>
          <a:p>
            <a:pPr algn="just">
              <a:buNone/>
            </a:pPr>
            <a:r>
              <a:rPr lang="en-US" sz="2400" dirty="0" smtClean="0">
                <a:solidFill>
                  <a:schemeClr val="tx1"/>
                </a:solidFill>
                <a:latin typeface="Times New Roman" panose="02020603050405020304" pitchFamily="18" charset="0"/>
                <a:cs typeface="Times New Roman" panose="02020603050405020304" pitchFamily="18" charset="0"/>
              </a:rPr>
              <a:t>	* Chronological       * Categorical      * Cause and effect      * Problem-solution</a:t>
            </a:r>
          </a:p>
          <a:p>
            <a:pPr algn="just">
              <a:buNone/>
            </a:pPr>
            <a:r>
              <a:rPr lang="en-US" sz="2400" dirty="0" smtClean="0">
                <a:solidFill>
                  <a:schemeClr val="tx1"/>
                </a:solidFill>
                <a:latin typeface="Times New Roman" panose="02020603050405020304" pitchFamily="18" charset="0"/>
                <a:cs typeface="Times New Roman" panose="02020603050405020304" pitchFamily="18" charset="0"/>
              </a:rPr>
              <a:t>	©.  </a:t>
            </a:r>
            <a:r>
              <a:rPr lang="en-US" sz="2400" u="sng" dirty="0" smtClean="0">
                <a:solidFill>
                  <a:schemeClr val="tx1"/>
                </a:solidFill>
                <a:latin typeface="Times New Roman" panose="02020603050405020304" pitchFamily="18" charset="0"/>
                <a:cs typeface="Times New Roman" panose="02020603050405020304" pitchFamily="18" charset="0"/>
              </a:rPr>
              <a:t>Conclusion:</a:t>
            </a:r>
            <a:r>
              <a:rPr lang="en-US" sz="2400" dirty="0" smtClean="0">
                <a:solidFill>
                  <a:schemeClr val="tx1"/>
                </a:solidFill>
                <a:latin typeface="Times New Roman" panose="02020603050405020304" pitchFamily="18" charset="0"/>
                <a:cs typeface="Times New Roman" panose="02020603050405020304" pitchFamily="18" charset="0"/>
              </a:rPr>
              <a:t>  The speaker can conclude his presentation by reviewing the main points giving a signal such as to sum up, to conclude, to review or reminding the audience briefly about the purpose of </a:t>
            </a:r>
            <a:r>
              <a:rPr lang="en-US" sz="2400" dirty="0" smtClean="0">
                <a:solidFill>
                  <a:schemeClr val="tx1"/>
                </a:solidFill>
                <a:latin typeface="Times New Roman" panose="02020603050405020304" pitchFamily="18" charset="0"/>
                <a:cs typeface="Times New Roman" panose="02020603050405020304" pitchFamily="18" charset="0"/>
              </a:rPr>
              <a:t>the </a:t>
            </a:r>
            <a:r>
              <a:rPr lang="en-US" sz="2400" dirty="0" smtClean="0">
                <a:solidFill>
                  <a:schemeClr val="tx1"/>
                </a:solidFill>
                <a:latin typeface="Times New Roman" panose="02020603050405020304" pitchFamily="18" charset="0"/>
                <a:cs typeface="Times New Roman" panose="02020603050405020304" pitchFamily="18" charset="0"/>
              </a:rPr>
              <a:t>presentation.  </a:t>
            </a:r>
            <a:r>
              <a:rPr lang="en-US" sz="2400" b="1" dirty="0" smtClean="0">
                <a:latin typeface="Times New Roman" panose="02020603050405020304" pitchFamily="18" charset="0"/>
                <a:cs typeface="Times New Roman" panose="02020603050405020304" pitchFamily="18" charset="0"/>
              </a:rPr>
              <a:t>	</a:t>
            </a:r>
            <a:endParaRPr lang="en-US" sz="2400" dirty="0" smtClean="0">
              <a:solidFill>
                <a:srgbClr val="7030A0"/>
              </a:solidFill>
              <a:latin typeface="Times New Roman" panose="02020603050405020304" pitchFamily="18" charset="0"/>
              <a:cs typeface="Times New Roman" panose="02020603050405020304" pitchFamily="18" charset="0"/>
            </a:endParaRPr>
          </a:p>
          <a:p>
            <a:pPr algn="just">
              <a:buNone/>
            </a:pPr>
            <a:endParaRPr lang="en-US" sz="2400" b="1" u="sng" dirty="0" smtClean="0">
              <a:latin typeface="Times New Roman" panose="02020603050405020304" pitchFamily="18" charset="0"/>
              <a:cs typeface="Times New Roman" panose="02020603050405020304" pitchFamily="18" charset="0"/>
            </a:endParaRPr>
          </a:p>
          <a:p>
            <a:pPr algn="just">
              <a:buNone/>
            </a:pPr>
            <a:endParaRPr lang="en-US" sz="2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fontScale="92500" lnSpcReduction="10000"/>
          </a:bodyPr>
          <a:lstStyle/>
          <a:p>
            <a:pPr algn="just">
              <a:buNone/>
            </a:pPr>
            <a:r>
              <a:rPr lang="en-US" sz="2400" b="1" dirty="0" smtClean="0"/>
              <a:t>	</a:t>
            </a:r>
            <a:r>
              <a:rPr lang="en-US" sz="2400" b="1" u="sng" dirty="0" smtClean="0">
                <a:latin typeface="Times New Roman" pitchFamily="18" charset="0"/>
                <a:cs typeface="Times New Roman" pitchFamily="18" charset="0"/>
              </a:rPr>
              <a:t>Understanding Nuances (Modes) of Delivery</a:t>
            </a:r>
            <a:endParaRPr lang="en-US" sz="2400"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a:t>
            </a:r>
            <a:r>
              <a:rPr lang="en-US" sz="2400" dirty="0" smtClean="0">
                <a:solidFill>
                  <a:schemeClr val="tx1"/>
                </a:solidFill>
                <a:latin typeface="Times New Roman" pitchFamily="18" charset="0"/>
                <a:cs typeface="Times New Roman" pitchFamily="18" charset="0"/>
              </a:rPr>
              <a:t>There are four modes of delivery which can be used for making presentations.</a:t>
            </a:r>
          </a:p>
          <a:p>
            <a:pPr algn="just">
              <a:buNone/>
            </a:pPr>
            <a:r>
              <a:rPr lang="en-US" sz="2400" dirty="0" smtClean="0">
                <a:solidFill>
                  <a:schemeClr val="tx1"/>
                </a:solidFill>
                <a:latin typeface="Times New Roman" pitchFamily="18" charset="0"/>
                <a:cs typeface="Times New Roman" pitchFamily="18" charset="0"/>
              </a:rPr>
              <a:t>	(a).  </a:t>
            </a:r>
            <a:r>
              <a:rPr lang="en-US" sz="2400" u="sng" dirty="0" smtClean="0">
                <a:solidFill>
                  <a:schemeClr val="tx1"/>
                </a:solidFill>
                <a:latin typeface="Times New Roman" pitchFamily="18" charset="0"/>
                <a:cs typeface="Times New Roman" pitchFamily="18" charset="0"/>
              </a:rPr>
              <a:t>Extemporaneous</a:t>
            </a:r>
            <a:r>
              <a:rPr lang="en-US" sz="2400" dirty="0" smtClean="0">
                <a:solidFill>
                  <a:schemeClr val="tx1"/>
                </a:solidFill>
                <a:latin typeface="Times New Roman" pitchFamily="18" charset="0"/>
                <a:cs typeface="Times New Roman" pitchFamily="18" charset="0"/>
              </a:rPr>
              <a:t>:  In extemporaneous </a:t>
            </a:r>
            <a:r>
              <a:rPr lang="en-US" sz="2400" dirty="0" smtClean="0">
                <a:solidFill>
                  <a:schemeClr val="tx1"/>
                </a:solidFill>
                <a:latin typeface="Times New Roman" pitchFamily="18" charset="0"/>
                <a:cs typeface="Times New Roman" pitchFamily="18" charset="0"/>
              </a:rPr>
              <a:t>presentation, </a:t>
            </a:r>
            <a:r>
              <a:rPr lang="en-US" sz="2400" dirty="0" smtClean="0">
                <a:solidFill>
                  <a:schemeClr val="tx1"/>
                </a:solidFill>
                <a:latin typeface="Times New Roman" pitchFamily="18" charset="0"/>
                <a:cs typeface="Times New Roman" pitchFamily="18" charset="0"/>
              </a:rPr>
              <a:t>a good speaker </a:t>
            </a:r>
            <a:r>
              <a:rPr lang="en-US" sz="2400" dirty="0" err="1" smtClean="0">
                <a:solidFill>
                  <a:schemeClr val="tx1"/>
                </a:solidFill>
                <a:latin typeface="Times New Roman" pitchFamily="18" charset="0"/>
                <a:cs typeface="Times New Roman" pitchFamily="18" charset="0"/>
              </a:rPr>
              <a:t>preparse</a:t>
            </a:r>
            <a:r>
              <a:rPr lang="en-US" sz="2400" dirty="0" smtClean="0">
                <a:solidFill>
                  <a:schemeClr val="tx1"/>
                </a:solidFill>
                <a:latin typeface="Times New Roman" pitchFamily="18" charset="0"/>
                <a:cs typeface="Times New Roman" pitchFamily="18" charset="0"/>
              </a:rPr>
              <a:t> </a:t>
            </a:r>
            <a:r>
              <a:rPr lang="en-US" sz="2400" dirty="0" smtClean="0">
                <a:solidFill>
                  <a:schemeClr val="tx1"/>
                </a:solidFill>
                <a:latin typeface="Times New Roman" pitchFamily="18" charset="0"/>
                <a:cs typeface="Times New Roman" pitchFamily="18" charset="0"/>
              </a:rPr>
              <a:t>the notes beforehand.  Presentation sounds quite spontaneous to the audience, as after thorough preparation, a speaker speaks while thinking.</a:t>
            </a:r>
          </a:p>
          <a:p>
            <a:pPr>
              <a:buNone/>
            </a:pPr>
            <a:r>
              <a:rPr lang="en-US" sz="2400" dirty="0" smtClean="0">
                <a:solidFill>
                  <a:schemeClr val="tx1"/>
                </a:solidFill>
                <a:latin typeface="Times New Roman" pitchFamily="18" charset="0"/>
                <a:cs typeface="Times New Roman" pitchFamily="18" charset="0"/>
              </a:rPr>
              <a:t>	</a:t>
            </a:r>
          </a:p>
          <a:p>
            <a:pPr>
              <a:buNone/>
            </a:pPr>
            <a:r>
              <a:rPr lang="en-US" sz="2400" b="1" dirty="0" smtClean="0">
                <a:solidFill>
                  <a:schemeClr val="tx1"/>
                </a:solidFill>
                <a:latin typeface="Times New Roman" pitchFamily="18" charset="0"/>
                <a:cs typeface="Times New Roman" pitchFamily="18" charset="0"/>
              </a:rPr>
              <a:t>	</a:t>
            </a:r>
            <a:r>
              <a:rPr lang="en-US" sz="2400" b="1" dirty="0" smtClean="0">
                <a:latin typeface="Times New Roman" pitchFamily="18" charset="0"/>
                <a:cs typeface="Times New Roman" pitchFamily="18" charset="0"/>
              </a:rPr>
              <a:t>Advantages:</a:t>
            </a:r>
            <a:r>
              <a:rPr lang="en-US" sz="2400" dirty="0" smtClean="0">
                <a:latin typeface="Times New Roman" pitchFamily="18" charset="0"/>
                <a:cs typeface="Times New Roman" pitchFamily="18" charset="0"/>
              </a:rPr>
              <a:t> </a:t>
            </a:r>
          </a:p>
          <a:p>
            <a:pPr lvl="0">
              <a:buNone/>
            </a:pPr>
            <a:r>
              <a:rPr lang="en-US" sz="2400" dirty="0" smtClean="0">
                <a:latin typeface="Times New Roman" pitchFamily="18" charset="0"/>
                <a:cs typeface="Times New Roman" pitchFamily="18" charset="0"/>
              </a:rPr>
              <a:t>	1. Well preparation for the presentation results in the best possible structured way.</a:t>
            </a:r>
          </a:p>
          <a:p>
            <a:pPr lvl="0">
              <a:buNone/>
            </a:pPr>
            <a:r>
              <a:rPr lang="en-US" sz="2400" dirty="0" smtClean="0">
                <a:latin typeface="Times New Roman" pitchFamily="18" charset="0"/>
                <a:cs typeface="Times New Roman" pitchFamily="18" charset="0"/>
              </a:rPr>
              <a:t>	2. Thorough preparation makes the speaker self-confident and assured.</a:t>
            </a:r>
          </a:p>
          <a:p>
            <a:pPr>
              <a:buNone/>
            </a:pPr>
            <a:r>
              <a:rPr lang="en-US" sz="2400"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Disadvantages: </a:t>
            </a:r>
          </a:p>
          <a:p>
            <a:pPr lvl="0">
              <a:buNone/>
            </a:pPr>
            <a:r>
              <a:rPr lang="en-US" sz="2400" dirty="0" smtClean="0">
                <a:latin typeface="Times New Roman" pitchFamily="18" charset="0"/>
                <a:cs typeface="Times New Roman" pitchFamily="18" charset="0"/>
              </a:rPr>
              <a:t>	1. Inadequate preparation can make a speaker uncomfortable.</a:t>
            </a:r>
          </a:p>
          <a:p>
            <a:pPr lvl="0">
              <a:buNone/>
            </a:pPr>
            <a:r>
              <a:rPr lang="en-US" sz="2400" dirty="0" smtClean="0">
                <a:latin typeface="Times New Roman" pitchFamily="18" charset="0"/>
                <a:cs typeface="Times New Roman" pitchFamily="18" charset="0"/>
              </a:rPr>
              <a:t>	2. Too much dependency on notes and cards </a:t>
            </a:r>
            <a:r>
              <a:rPr lang="en-US" sz="2400" dirty="0" smtClean="0">
                <a:latin typeface="Times New Roman" pitchFamily="18" charset="0"/>
                <a:cs typeface="Times New Roman" pitchFamily="18" charset="0"/>
              </a:rPr>
              <a:t>causes </a:t>
            </a:r>
            <a:r>
              <a:rPr lang="en-US" sz="2400" dirty="0" smtClean="0">
                <a:latin typeface="Times New Roman" pitchFamily="18" charset="0"/>
                <a:cs typeface="Times New Roman" pitchFamily="18" charset="0"/>
              </a:rPr>
              <a:t>the loss of spontaneity. </a:t>
            </a:r>
          </a:p>
          <a:p>
            <a:pPr algn="just">
              <a:buNone/>
            </a:pPr>
            <a:r>
              <a:rPr lang="en-US" sz="2400" dirty="0" smtClean="0">
                <a:solidFill>
                  <a:schemeClr val="tx1"/>
                </a:solidFill>
                <a:latin typeface="Times New Roman" pitchFamily="18" charset="0"/>
                <a:cs typeface="Times New Roman" pitchFamily="18" charset="0"/>
              </a:rPr>
              <a:t>  </a:t>
            </a:r>
          </a:p>
          <a:p>
            <a:pPr algn="just">
              <a:buNone/>
            </a:pPr>
            <a:r>
              <a:rPr lang="en-US" sz="2400" dirty="0" smtClean="0">
                <a:solidFill>
                  <a:schemeClr val="tx1"/>
                </a:solidFill>
                <a:latin typeface="Times New Roman" pitchFamily="18" charset="0"/>
                <a:cs typeface="Times New Roman" pitchFamily="18" charset="0"/>
              </a:rPr>
              <a:t>	</a:t>
            </a:r>
            <a:endParaRPr lang="en-US" sz="2400" b="1" dirty="0">
              <a:ln w="1905"/>
              <a:solidFill>
                <a:schemeClr val="tx1"/>
              </a:solidFill>
              <a:effectLst>
                <a:innerShdw blurRad="69850" dist="43180" dir="5400000">
                  <a:srgbClr val="000000">
                    <a:alpha val="65000"/>
                  </a:srgbClr>
                </a:innerShdw>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a:bodyPr>
          <a:lstStyle/>
          <a:p>
            <a:pPr algn="just">
              <a:buNone/>
            </a:pPr>
            <a:r>
              <a:rPr lang="en-US" sz="2400" b="1" dirty="0" smtClean="0"/>
              <a:t>	</a:t>
            </a:r>
            <a:r>
              <a:rPr lang="en-US" sz="2400" dirty="0" smtClean="0">
                <a:solidFill>
                  <a:schemeClr val="tx1"/>
                </a:solidFill>
                <a:latin typeface="Times New Roman" pitchFamily="18" charset="0"/>
                <a:cs typeface="Times New Roman" pitchFamily="18" charset="0"/>
              </a:rPr>
              <a:t>(b). </a:t>
            </a:r>
            <a:r>
              <a:rPr lang="en-US" sz="2400" u="sng" dirty="0" smtClean="0">
                <a:solidFill>
                  <a:schemeClr val="tx1"/>
                </a:solidFill>
                <a:latin typeface="Times New Roman" pitchFamily="18" charset="0"/>
                <a:cs typeface="Times New Roman" pitchFamily="18" charset="0"/>
              </a:rPr>
              <a:t>Manuscript</a:t>
            </a:r>
            <a:r>
              <a:rPr lang="en-US" sz="2400" dirty="0" smtClean="0">
                <a:solidFill>
                  <a:schemeClr val="tx1"/>
                </a:solidFill>
                <a:latin typeface="Times New Roman" pitchFamily="18" charset="0"/>
                <a:cs typeface="Times New Roman" pitchFamily="18" charset="0"/>
              </a:rPr>
              <a:t>:  In manuscript presentation, material is written out and the speaker is supposed to read it out aloud verbatim. </a:t>
            </a:r>
          </a:p>
          <a:p>
            <a:pPr>
              <a:buNone/>
            </a:pPr>
            <a:r>
              <a:rPr lang="en-US" sz="2400" dirty="0" smtClean="0">
                <a:solidFill>
                  <a:schemeClr val="tx1"/>
                </a:solidFill>
                <a:latin typeface="Times New Roman" pitchFamily="18" charset="0"/>
                <a:cs typeface="Times New Roman" pitchFamily="18" charset="0"/>
              </a:rPr>
              <a:t>	</a:t>
            </a:r>
          </a:p>
          <a:p>
            <a:pPr>
              <a:buNone/>
            </a:pPr>
            <a:r>
              <a:rPr lang="en-US" sz="2400" b="1" dirty="0" smtClean="0">
                <a:solidFill>
                  <a:schemeClr val="tx1"/>
                </a:solidFill>
                <a:latin typeface="Times New Roman" pitchFamily="18" charset="0"/>
                <a:cs typeface="Times New Roman" pitchFamily="18" charset="0"/>
              </a:rPr>
              <a:t>	</a:t>
            </a:r>
            <a:r>
              <a:rPr lang="en-US" sz="2400" b="1" dirty="0" smtClean="0">
                <a:latin typeface="Times New Roman" pitchFamily="18" charset="0"/>
                <a:cs typeface="Times New Roman" pitchFamily="18" charset="0"/>
              </a:rPr>
              <a:t>Advantages</a:t>
            </a:r>
            <a:r>
              <a:rPr lang="en-US" sz="2400" dirty="0" smtClean="0">
                <a:latin typeface="Times New Roman" pitchFamily="18" charset="0"/>
                <a:cs typeface="Times New Roman" pitchFamily="18" charset="0"/>
              </a:rPr>
              <a:t>:</a:t>
            </a:r>
          </a:p>
          <a:p>
            <a:pPr>
              <a:buNone/>
            </a:pPr>
            <a:r>
              <a:rPr lang="en-US" sz="2400" dirty="0" smtClean="0">
                <a:latin typeface="Times New Roman" pitchFamily="18" charset="0"/>
                <a:cs typeface="Times New Roman" pitchFamily="18" charset="0"/>
              </a:rPr>
              <a:t>	1. Permanent and accurate record of whatever we have to say.</a:t>
            </a:r>
          </a:p>
          <a:p>
            <a:pPr>
              <a:buNone/>
            </a:pPr>
            <a:r>
              <a:rPr lang="en-US" sz="2400" dirty="0" smtClean="0">
                <a:latin typeface="Times New Roman" pitchFamily="18" charset="0"/>
                <a:cs typeface="Times New Roman" pitchFamily="18" charset="0"/>
              </a:rPr>
              <a:t>	2. No chance of tampering with the facts and figures.</a:t>
            </a:r>
          </a:p>
          <a:p>
            <a:pPr>
              <a:buNone/>
            </a:pPr>
            <a:r>
              <a:rPr lang="en-US" sz="2400" dirty="0" smtClean="0">
                <a:latin typeface="Times New Roman" pitchFamily="18" charset="0"/>
                <a:cs typeface="Times New Roman" pitchFamily="18" charset="0"/>
              </a:rPr>
              <a:t>	3. The material is organized systematically.</a:t>
            </a:r>
          </a:p>
          <a:p>
            <a:pPr>
              <a:buNone/>
            </a:pPr>
            <a:r>
              <a:rPr lang="en-US" sz="2400" dirty="0" smtClean="0">
                <a:latin typeface="Times New Roman" pitchFamily="18" charset="0"/>
                <a:cs typeface="Times New Roman" pitchFamily="18" charset="0"/>
              </a:rPr>
              <a:t>	4. Language gets polished.</a:t>
            </a:r>
          </a:p>
          <a:p>
            <a:pPr>
              <a:buNone/>
            </a:pPr>
            <a:r>
              <a:rPr lang="en-US" sz="2400" dirty="0" smtClean="0">
                <a:latin typeface="Times New Roman" pitchFamily="18" charset="0"/>
                <a:cs typeface="Times New Roman" pitchFamily="18" charset="0"/>
              </a:rPr>
              <a:t>	</a:t>
            </a:r>
          </a:p>
          <a:p>
            <a:pPr>
              <a:buNone/>
            </a:pPr>
            <a:r>
              <a:rPr lang="en-US" sz="2400" b="1" dirty="0" smtClean="0">
                <a:latin typeface="Times New Roman" pitchFamily="18" charset="0"/>
                <a:cs typeface="Times New Roman" pitchFamily="18" charset="0"/>
              </a:rPr>
              <a:t>	Disadvantages</a:t>
            </a:r>
            <a:r>
              <a:rPr lang="en-US" sz="2400" dirty="0" smtClean="0">
                <a:latin typeface="Times New Roman" pitchFamily="18" charset="0"/>
                <a:cs typeface="Times New Roman" pitchFamily="18" charset="0"/>
              </a:rPr>
              <a:t>: </a:t>
            </a:r>
          </a:p>
          <a:p>
            <a:pPr lvl="0">
              <a:buNone/>
            </a:pPr>
            <a:r>
              <a:rPr lang="en-US" sz="2400" dirty="0" smtClean="0">
                <a:latin typeface="Times New Roman" pitchFamily="18" charset="0"/>
                <a:cs typeface="Times New Roman" pitchFamily="18" charset="0"/>
              </a:rPr>
              <a:t>	1. The speaker gets less time for making proper eye contact with the audience.</a:t>
            </a:r>
          </a:p>
          <a:p>
            <a:pPr lvl="0">
              <a:buNone/>
            </a:pPr>
            <a:r>
              <a:rPr lang="en-US" sz="2400" dirty="0" smtClean="0">
                <a:latin typeface="Times New Roman" pitchFamily="18" charset="0"/>
                <a:cs typeface="Times New Roman" pitchFamily="18" charset="0"/>
              </a:rPr>
              <a:t>	2. Speaker cannot talk to the audience.</a:t>
            </a:r>
          </a:p>
          <a:p>
            <a:pPr lvl="0">
              <a:buNone/>
            </a:pPr>
            <a:r>
              <a:rPr lang="en-US" sz="2400" dirty="0" smtClean="0">
                <a:latin typeface="Times New Roman" pitchFamily="18" charset="0"/>
                <a:cs typeface="Times New Roman" pitchFamily="18" charset="0"/>
              </a:rPr>
              <a:t>	3. Adaptation is difficult, if the need arises.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lnSpcReduction="10000"/>
          </a:bodyPr>
          <a:lstStyle/>
          <a:p>
            <a:pPr algn="just">
              <a:buNone/>
            </a:pPr>
            <a:r>
              <a:rPr lang="en-US" sz="2400" b="1" dirty="0" smtClean="0"/>
              <a:t>	</a:t>
            </a:r>
            <a:r>
              <a:rPr lang="en-US" sz="2400" dirty="0" smtClean="0">
                <a:solidFill>
                  <a:schemeClr val="tx1"/>
                </a:solidFill>
                <a:latin typeface="Times New Roman" pitchFamily="18" charset="0"/>
                <a:cs typeface="Times New Roman" pitchFamily="18" charset="0"/>
              </a:rPr>
              <a:t>	©.  </a:t>
            </a:r>
            <a:r>
              <a:rPr lang="en-US" sz="2400" u="sng" dirty="0" smtClean="0">
                <a:solidFill>
                  <a:schemeClr val="tx1"/>
                </a:solidFill>
                <a:latin typeface="Times New Roman" pitchFamily="18" charset="0"/>
                <a:cs typeface="Times New Roman" pitchFamily="18" charset="0"/>
              </a:rPr>
              <a:t>Impromptu:</a:t>
            </a:r>
            <a:r>
              <a:rPr lang="en-US" sz="2400" dirty="0" smtClean="0">
                <a:solidFill>
                  <a:schemeClr val="tx1"/>
                </a:solidFill>
                <a:latin typeface="Times New Roman" pitchFamily="18" charset="0"/>
                <a:cs typeface="Times New Roman" pitchFamily="18" charset="0"/>
              </a:rPr>
              <a:t>  The impromptu mode is what we use when we have to deliver an informal speech without preparation.  </a:t>
            </a:r>
          </a:p>
          <a:p>
            <a:pPr algn="just">
              <a:buNone/>
            </a:pPr>
            <a:r>
              <a:rPr lang="en-US" sz="2400" dirty="0" smtClean="0">
                <a:solidFill>
                  <a:schemeClr val="tx1"/>
                </a:solidFill>
                <a:latin typeface="Times New Roman" pitchFamily="18" charset="0"/>
                <a:cs typeface="Times New Roman" pitchFamily="18" charset="0"/>
              </a:rPr>
              <a:t>	</a:t>
            </a:r>
            <a:r>
              <a:rPr lang="en-US" sz="2400" u="sng" dirty="0" smtClean="0">
                <a:solidFill>
                  <a:schemeClr val="tx1"/>
                </a:solidFill>
                <a:latin typeface="Times New Roman" pitchFamily="18" charset="0"/>
                <a:cs typeface="Times New Roman" pitchFamily="18" charset="0"/>
              </a:rPr>
              <a:t>Example</a:t>
            </a:r>
            <a:r>
              <a:rPr lang="en-US" sz="2400" dirty="0" smtClean="0">
                <a:solidFill>
                  <a:schemeClr val="tx1"/>
                </a:solidFill>
                <a:latin typeface="Times New Roman" pitchFamily="18" charset="0"/>
                <a:cs typeface="Times New Roman" pitchFamily="18" charset="0"/>
              </a:rPr>
              <a:t>:  At a formal dinner party we may be invited to deliver a vote of thanks.</a:t>
            </a:r>
          </a:p>
          <a:p>
            <a:pPr>
              <a:buNone/>
            </a:pPr>
            <a:r>
              <a:rPr lang="en-US" sz="2400" dirty="0" smtClean="0">
                <a:solidFill>
                  <a:schemeClr val="tx1"/>
                </a:solidFill>
                <a:latin typeface="Times New Roman" pitchFamily="18" charset="0"/>
                <a:cs typeface="Times New Roman" pitchFamily="18" charset="0"/>
              </a:rPr>
              <a:t>	</a:t>
            </a:r>
          </a:p>
          <a:p>
            <a:pPr>
              <a:buNone/>
            </a:pPr>
            <a:r>
              <a:rPr lang="en-US" sz="2400" b="1" dirty="0" smtClean="0">
                <a:solidFill>
                  <a:schemeClr val="tx1"/>
                </a:solidFill>
                <a:latin typeface="Times New Roman" pitchFamily="18" charset="0"/>
                <a:cs typeface="Times New Roman" pitchFamily="18" charset="0"/>
              </a:rPr>
              <a:t>	</a:t>
            </a:r>
            <a:r>
              <a:rPr lang="en-US" sz="2400" b="1" dirty="0" smtClean="0">
                <a:latin typeface="Times New Roman" pitchFamily="18" charset="0"/>
                <a:cs typeface="Times New Roman" pitchFamily="18" charset="0"/>
              </a:rPr>
              <a:t>Advantages</a:t>
            </a:r>
            <a:r>
              <a:rPr lang="en-US" sz="2400" dirty="0" smtClean="0">
                <a:latin typeface="Times New Roman" pitchFamily="18" charset="0"/>
                <a:cs typeface="Times New Roman" pitchFamily="18" charset="0"/>
              </a:rPr>
              <a:t>:</a:t>
            </a:r>
          </a:p>
          <a:p>
            <a:pPr lvl="0">
              <a:buNone/>
            </a:pPr>
            <a:r>
              <a:rPr lang="en-US" sz="2400" dirty="0" smtClean="0">
                <a:latin typeface="Times New Roman" pitchFamily="18" charset="0"/>
                <a:cs typeface="Times New Roman" pitchFamily="18" charset="0"/>
              </a:rPr>
              <a:t>	1. Speaker sounds very natural.</a:t>
            </a:r>
          </a:p>
          <a:p>
            <a:pPr lvl="0">
              <a:buNone/>
            </a:pPr>
            <a:r>
              <a:rPr lang="en-US" sz="2400" dirty="0" smtClean="0">
                <a:latin typeface="Times New Roman" pitchFamily="18" charset="0"/>
                <a:cs typeface="Times New Roman" pitchFamily="18" charset="0"/>
              </a:rPr>
              <a:t>	2. Speaker get a chance to express his thoughts irrespective of what others think or say about that particular topic.</a:t>
            </a:r>
          </a:p>
          <a:p>
            <a:pPr>
              <a:buNone/>
            </a:pPr>
            <a:r>
              <a:rPr lang="en-US" sz="2400" dirty="0" smtClean="0">
                <a:latin typeface="Times New Roman" pitchFamily="18" charset="0"/>
                <a:cs typeface="Times New Roman" pitchFamily="18" charset="0"/>
              </a:rPr>
              <a:t>	</a:t>
            </a:r>
          </a:p>
          <a:p>
            <a:pPr>
              <a:buNone/>
            </a:pPr>
            <a:r>
              <a:rPr lang="en-US" sz="2400" b="1" dirty="0" smtClean="0">
                <a:latin typeface="Times New Roman" pitchFamily="18" charset="0"/>
                <a:cs typeface="Times New Roman" pitchFamily="18" charset="0"/>
              </a:rPr>
              <a:t>	Disadvantages</a:t>
            </a:r>
            <a:r>
              <a:rPr lang="en-US" sz="2400" dirty="0" smtClean="0">
                <a:latin typeface="Times New Roman" pitchFamily="18" charset="0"/>
                <a:cs typeface="Times New Roman" pitchFamily="18" charset="0"/>
              </a:rPr>
              <a:t>:</a:t>
            </a:r>
          </a:p>
          <a:p>
            <a:pPr lvl="0">
              <a:buNone/>
            </a:pPr>
            <a:r>
              <a:rPr lang="en-US" sz="2400" dirty="0" smtClean="0">
                <a:latin typeface="Times New Roman" pitchFamily="18" charset="0"/>
                <a:cs typeface="Times New Roman" pitchFamily="18" charset="0"/>
              </a:rPr>
              <a:t>	1. The presentation lacks organized development of ideas.</a:t>
            </a:r>
          </a:p>
          <a:p>
            <a:pPr lvl="0">
              <a:buNone/>
            </a:pPr>
            <a:r>
              <a:rPr lang="en-US" sz="2400" dirty="0" smtClean="0">
                <a:latin typeface="Times New Roman" pitchFamily="18" charset="0"/>
                <a:cs typeface="Times New Roman" pitchFamily="18" charset="0"/>
              </a:rPr>
              <a:t>	2. There is no supplementary material such as data, statistics, illustrations and figures.</a:t>
            </a:r>
          </a:p>
          <a:p>
            <a:pPr lvl="0">
              <a:buNone/>
            </a:pPr>
            <a:r>
              <a:rPr lang="en-US" sz="2400" dirty="0" smtClean="0">
                <a:latin typeface="Times New Roman" pitchFamily="18" charset="0"/>
                <a:cs typeface="Times New Roman" pitchFamily="18" charset="0"/>
              </a:rPr>
              <a:t>	3. The presentation may turn out to be a failure if the speaker has inadequate proficiency in the language he/she uses.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553200"/>
          </a:xfrm>
        </p:spPr>
        <p:txBody>
          <a:bodyPr>
            <a:normAutofit/>
          </a:bodyPr>
          <a:lstStyle/>
          <a:p>
            <a:pPr algn="just">
              <a:buNone/>
            </a:pPr>
            <a:r>
              <a:rPr lang="en-US" sz="2400" b="1" dirty="0" smtClean="0"/>
              <a:t>	</a:t>
            </a:r>
            <a:r>
              <a:rPr lang="en-US" sz="2400" dirty="0" smtClean="0">
                <a:solidFill>
                  <a:schemeClr val="tx1"/>
                </a:solidFill>
                <a:latin typeface="Times New Roman" pitchFamily="18" charset="0"/>
                <a:cs typeface="Times New Roman" pitchFamily="18" charset="0"/>
              </a:rPr>
              <a:t>(d).  </a:t>
            </a:r>
            <a:r>
              <a:rPr lang="en-US" sz="2400" u="sng" dirty="0" smtClean="0">
                <a:solidFill>
                  <a:schemeClr val="tx1"/>
                </a:solidFill>
                <a:latin typeface="Times New Roman" pitchFamily="18" charset="0"/>
                <a:cs typeface="Times New Roman" pitchFamily="18" charset="0"/>
              </a:rPr>
              <a:t>Memorization</a:t>
            </a:r>
            <a:r>
              <a:rPr lang="en-US" sz="2400" dirty="0" smtClean="0">
                <a:solidFill>
                  <a:schemeClr val="tx1"/>
                </a:solidFill>
                <a:latin typeface="Times New Roman" pitchFamily="18" charset="0"/>
                <a:cs typeface="Times New Roman" pitchFamily="18" charset="0"/>
              </a:rPr>
              <a:t>:  Usually a speaker memorizes only the main parts and is in the habit of writing key words on his cards to help him out through the actual presentation.  In this, speech is written out beforehand, then committed to memory.</a:t>
            </a:r>
          </a:p>
          <a:p>
            <a:pPr algn="just">
              <a:buNone/>
            </a:pPr>
            <a:r>
              <a:rPr lang="en-US" sz="2400" b="1" dirty="0" smtClean="0">
                <a:ln w="1905"/>
                <a:solidFill>
                  <a:schemeClr val="tx1"/>
                </a:solidFill>
                <a:effectLst>
                  <a:innerShdw blurRad="69850" dist="43180" dir="5400000">
                    <a:srgbClr val="000000">
                      <a:alpha val="65000"/>
                    </a:srgbClr>
                  </a:innerShdw>
                </a:effectLst>
                <a:latin typeface="Times New Roman" pitchFamily="18" charset="0"/>
                <a:cs typeface="Times New Roman" pitchFamily="18" charset="0"/>
              </a:rPr>
              <a:t>	</a:t>
            </a:r>
          </a:p>
          <a:p>
            <a:pPr>
              <a:buNone/>
            </a:pPr>
            <a:r>
              <a:rPr lang="en-US" sz="2400" dirty="0" smtClean="0"/>
              <a:t>	</a:t>
            </a:r>
            <a:r>
              <a:rPr lang="en-US" sz="2400" b="1" dirty="0" smtClean="0">
                <a:latin typeface="Times New Roman" pitchFamily="18" charset="0"/>
                <a:cs typeface="Times New Roman" pitchFamily="18" charset="0"/>
              </a:rPr>
              <a:t>Advantages</a:t>
            </a:r>
            <a:r>
              <a:rPr lang="en-US" sz="2400" dirty="0" smtClean="0">
                <a:latin typeface="Times New Roman" pitchFamily="18" charset="0"/>
                <a:cs typeface="Times New Roman" pitchFamily="18" charset="0"/>
              </a:rPr>
              <a:t>:</a:t>
            </a:r>
          </a:p>
          <a:p>
            <a:pPr lvl="0">
              <a:buNone/>
            </a:pPr>
            <a:r>
              <a:rPr lang="en-US" sz="2400" dirty="0" smtClean="0">
                <a:latin typeface="Times New Roman" pitchFamily="18" charset="0"/>
                <a:cs typeface="Times New Roman" pitchFamily="18" charset="0"/>
              </a:rPr>
              <a:t>	Speaker can maintain eye contact with the audience.</a:t>
            </a:r>
          </a:p>
          <a:p>
            <a:pPr lvl="0">
              <a:buNone/>
            </a:pPr>
            <a:r>
              <a:rPr lang="en-US" sz="2400" dirty="0" smtClean="0">
                <a:latin typeface="Times New Roman" pitchFamily="18" charset="0"/>
                <a:cs typeface="Times New Roman" pitchFamily="18" charset="0"/>
              </a:rPr>
              <a:t>	He can easily move and use non-verbal communication.</a:t>
            </a:r>
          </a:p>
          <a:p>
            <a:pPr>
              <a:buNone/>
            </a:pPr>
            <a:r>
              <a:rPr lang="en-US" sz="2400" dirty="0" smtClean="0">
                <a:latin typeface="Times New Roman" pitchFamily="18" charset="0"/>
                <a:cs typeface="Times New Roman" pitchFamily="18" charset="0"/>
              </a:rPr>
              <a:t>	</a:t>
            </a:r>
          </a:p>
          <a:p>
            <a:pPr>
              <a:buNone/>
            </a:pPr>
            <a:r>
              <a:rPr lang="en-US" sz="2400" b="1" dirty="0" smtClean="0">
                <a:latin typeface="Times New Roman" pitchFamily="18" charset="0"/>
                <a:cs typeface="Times New Roman" pitchFamily="18" charset="0"/>
              </a:rPr>
              <a:t>	Disadvantages</a:t>
            </a:r>
            <a:r>
              <a:rPr lang="en-US" sz="2400" dirty="0" smtClean="0">
                <a:latin typeface="Times New Roman" pitchFamily="18" charset="0"/>
                <a:cs typeface="Times New Roman" pitchFamily="18" charset="0"/>
              </a:rPr>
              <a:t>:</a:t>
            </a:r>
          </a:p>
          <a:p>
            <a:pPr lvl="0">
              <a:buNone/>
            </a:pPr>
            <a:r>
              <a:rPr lang="en-US" sz="2400" dirty="0" smtClean="0">
                <a:latin typeface="Times New Roman" pitchFamily="18" charset="0"/>
                <a:cs typeface="Times New Roman" pitchFamily="18" charset="0"/>
              </a:rPr>
              <a:t>	Requires too much of time.</a:t>
            </a:r>
          </a:p>
          <a:p>
            <a:pPr lvl="0">
              <a:buNone/>
            </a:pPr>
            <a:r>
              <a:rPr lang="en-US" sz="2400" dirty="0" smtClean="0">
                <a:latin typeface="Times New Roman" pitchFamily="18" charset="0"/>
                <a:cs typeface="Times New Roman" pitchFamily="18" charset="0"/>
              </a:rPr>
              <a:t>	Memory skills may fail if the speaker has not rehearsed adequately.</a:t>
            </a:r>
          </a:p>
          <a:p>
            <a:pPr lvl="0">
              <a:buNone/>
            </a:pPr>
            <a:r>
              <a:rPr lang="en-US" sz="2400" dirty="0" smtClean="0">
                <a:latin typeface="Times New Roman" pitchFamily="18" charset="0"/>
                <a:cs typeface="Times New Roman" pitchFamily="18" charset="0"/>
              </a:rPr>
              <a:t>	Chances of forgetting words or ideas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endParaRPr lang="en-US" sz="8000" b="1" smtClean="0"/>
          </a:p>
          <a:p>
            <a:pPr algn="ctr">
              <a:buNone/>
            </a:pPr>
            <a:r>
              <a:rPr lang="en-US" sz="8000" b="1" smtClean="0"/>
              <a:t>Thank </a:t>
            </a:r>
            <a:r>
              <a:rPr lang="en-US" sz="8000" b="1" dirty="0" smtClean="0"/>
              <a:t>You</a:t>
            </a:r>
            <a:endParaRPr lang="en-US" sz="8000" b="1"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rek">
  <a:themeElements>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357</TotalTime>
  <Words>59</Words>
  <Application>WPS Presentation</Application>
  <PresentationFormat>On-screen Show (4:3)</PresentationFormat>
  <Paragraphs>129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Trek</vt:lpstr>
      <vt:lpstr>Presentations</vt:lpstr>
      <vt:lpstr>Slide 2</vt:lpstr>
      <vt:lpstr>Slide 3</vt:lpstr>
      <vt:lpstr>Slide 4</vt:lpstr>
      <vt:lpstr>Slide 5</vt:lpstr>
      <vt:lpstr>b.2-LOCALE</vt:lpstr>
      <vt:lpstr>Slide 7</vt:lpstr>
      <vt:lpstr>Slide 8</vt:lpstr>
      <vt:lpstr>Slide 9</vt:lpstr>
      <vt:lpstr>Slide 10</vt:lpstr>
      <vt:lpstr>Slide 11</vt:lpstr>
      <vt:lpstr>Slide 12</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Admin</cp:lastModifiedBy>
  <cp:revision>104</cp:revision>
  <dcterms:created xsi:type="dcterms:W3CDTF">2006-08-16T00:00:00Z</dcterms:created>
  <dcterms:modified xsi:type="dcterms:W3CDTF">2021-06-22T05:35:35Z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1033-10.2.0.5908</vt:lpwstr>
  </property>
</Properties>
</file>