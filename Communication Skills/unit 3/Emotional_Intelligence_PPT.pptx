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2" r:id="rId4"/>
    <p:sldId id="263" r:id="rId5"/>
    <p:sldId id="264" r:id="rId6"/>
    <p:sldId id="258" r:id="rId7"/>
    <p:sldId id="265" r:id="rId8"/>
    <p:sldId id="267" r:id="rId9"/>
    <p:sldId id="259" r:id="rId10"/>
    <p:sldId id="266" r:id="rId11"/>
    <p:sldId id="268" r:id="rId12"/>
    <p:sldId id="269" r:id="rId13"/>
    <p:sldId id="270" r:id="rId14"/>
    <p:sldId id="261" r:id="rId15"/>
    <p:sldId id="271" r:id="rId16"/>
    <p:sldId id="272" r:id="rId17"/>
    <p:sldId id="273" r:id="rId18"/>
    <p:sldId id="274" r:id="rId19"/>
    <p:sldId id="275" r:id="rId20"/>
    <p:sldId id="276" r:id="rId21"/>
    <p:sldId id="27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pPr/>
              <a:t>9/19/2025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1FF6DA9-008F-8B48-92A6-B652298478B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CAD085-E8A6-8845-BD4E-CB4CCA059FC4}" type="datetimeFigureOut">
              <a:rPr lang="en-US" smtClean="0"/>
              <a:pPr/>
              <a:t>9/19/2025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FF6DA9-008F-8B48-92A6-B652298478B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0507"/>
            <a:ext cx="7772400" cy="1509310"/>
          </a:xfrm>
        </p:spPr>
        <p:txBody>
          <a:bodyPr/>
          <a:lstStyle/>
          <a:p>
            <a:r>
              <a:rPr smtClean="0"/>
              <a:t>Emotional </a:t>
            </a:r>
            <a:r>
              <a:t>Intelligence</a:t>
            </a:r>
          </a:p>
        </p:txBody>
      </p:sp>
      <p:sp>
        <p:nvSpPr>
          <p:cNvPr id="3" name="Subtitle 2"/>
          <p:cNvSpPr>
            <a:spLocks noGrp="1"/>
          </p:cNvSpPr>
          <p:nvPr>
            <p:ph type="subTitle" idx="1"/>
          </p:nvPr>
        </p:nvSpPr>
        <p:spPr/>
        <p:txBody>
          <a:bodyPr/>
          <a:lstStyle/>
          <a:p>
            <a:endParaRPr/>
          </a:p>
        </p:txBody>
      </p:sp>
      <p:pic>
        <p:nvPicPr>
          <p:cNvPr id="2050" name="Picture 2"/>
          <p:cNvPicPr>
            <a:picLocks noChangeAspect="1" noChangeArrowheads="1"/>
          </p:cNvPicPr>
          <p:nvPr/>
        </p:nvPicPr>
        <p:blipFill>
          <a:blip r:embed="rId2"/>
          <a:srcRect/>
          <a:stretch>
            <a:fillRect/>
          </a:stretch>
        </p:blipFill>
        <p:spPr bwMode="auto">
          <a:xfrm>
            <a:off x="533400" y="2258457"/>
            <a:ext cx="7924799" cy="3955055"/>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a:t>
            </a:r>
            <a:r>
              <a:t>is Emotional Intelligence?</a:t>
            </a:r>
          </a:p>
        </p:txBody>
      </p:sp>
      <p:sp>
        <p:nvSpPr>
          <p:cNvPr id="3" name="Content Placeholder 2"/>
          <p:cNvSpPr>
            <a:spLocks noGrp="1"/>
          </p:cNvSpPr>
          <p:nvPr>
            <p:ph idx="1"/>
          </p:nvPr>
        </p:nvSpPr>
        <p:spPr/>
        <p:txBody>
          <a:bodyPr/>
          <a:lstStyle/>
          <a:p>
            <a:r>
              <a:t>Emotional Intelligence (EI) is the ability to recognize, understand, manage, and influence emotions in oneself and others. It plays a key role in personal and professional success.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Emotional intelligence (EI), or emotional quotient (EQ), is the ability to perceive, understand, manage, and use one's own emotions and those of others. It is a skill set that enables effective communication, strong relationships, and better decision-making, encompassing components like self-awareness, self-management, social awareness (empathy), and social skills. Unlike cognitive intelligence (IQ), EI is a learnable skill that can be developed and improved to lead a more fulfilling life and succeed in both personal and professional spheres.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Components of Emotional Intelligence</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Self-Awareness</a:t>
            </a:r>
            <a:r>
              <a:rPr lang="en-US" b="1" dirty="0" smtClean="0"/>
              <a:t>:</a:t>
            </a:r>
            <a:r>
              <a:rPr lang="en-US" dirty="0" smtClean="0"/>
              <a:t> </a:t>
            </a:r>
          </a:p>
          <a:p>
            <a:pPr fontAlgn="ctr"/>
            <a:r>
              <a:rPr lang="en-US" dirty="0" smtClean="0"/>
              <a:t>Recognizing and understanding your own emotions, strengths, weaknesses, and how they influence your thoughts and behavior. </a:t>
            </a:r>
          </a:p>
          <a:p>
            <a:r>
              <a:rPr lang="en-US" b="1" dirty="0" smtClean="0"/>
              <a:t>Self-Management:</a:t>
            </a:r>
            <a:r>
              <a:rPr lang="en-US" dirty="0" smtClean="0"/>
              <a:t> </a:t>
            </a:r>
          </a:p>
          <a:p>
            <a:pPr fontAlgn="ctr"/>
            <a:r>
              <a:rPr lang="en-US" dirty="0" smtClean="0"/>
              <a:t>The ability to effectively manage your emotions, regulate your responses, and channel positive emotions to achieve goals. </a:t>
            </a:r>
          </a:p>
          <a:p>
            <a:r>
              <a:rPr lang="en-US" b="1" dirty="0" smtClean="0"/>
              <a:t>Social Awareness (Empathy):</a:t>
            </a:r>
            <a:r>
              <a:rPr lang="en-US" dirty="0" smtClean="0"/>
              <a:t> </a:t>
            </a:r>
          </a:p>
          <a:p>
            <a:pPr fontAlgn="ctr"/>
            <a:r>
              <a:rPr lang="en-US" dirty="0" smtClean="0"/>
              <a:t>Understanding the emotions, needs, and perspectives of other people. </a:t>
            </a:r>
          </a:p>
          <a:p>
            <a:r>
              <a:rPr lang="en-US" b="1" dirty="0" smtClean="0"/>
              <a:t>Social Skills (Relationship Management):</a:t>
            </a:r>
            <a:r>
              <a:rPr lang="en-US" dirty="0" smtClean="0"/>
              <a:t> </a:t>
            </a:r>
          </a:p>
          <a:p>
            <a:r>
              <a:rPr lang="en-US" dirty="0" smtClean="0"/>
              <a:t>Using your awareness of your own and others' emotions to build effective and constructive relationships.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Emotional Intelligence Is Important</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Better </a:t>
            </a:r>
            <a:r>
              <a:rPr lang="en-US" b="1" dirty="0" smtClean="0"/>
              <a:t>Relationships:</a:t>
            </a:r>
            <a:r>
              <a:rPr lang="en-US" dirty="0" smtClean="0"/>
              <a:t> </a:t>
            </a:r>
          </a:p>
          <a:p>
            <a:pPr fontAlgn="ctr"/>
            <a:r>
              <a:rPr lang="en-US" dirty="0" smtClean="0"/>
              <a:t>High EI leads to improved communication, understanding, and connection with others. </a:t>
            </a:r>
          </a:p>
          <a:p>
            <a:r>
              <a:rPr lang="en-US" b="1" dirty="0" smtClean="0"/>
              <a:t>Effective Leadership:</a:t>
            </a:r>
            <a:r>
              <a:rPr lang="en-US" dirty="0" smtClean="0"/>
              <a:t> </a:t>
            </a:r>
          </a:p>
          <a:p>
            <a:pPr fontAlgn="ctr"/>
            <a:r>
              <a:rPr lang="en-US" dirty="0" smtClean="0"/>
              <a:t>Leaders with strong EI can empathize with their teams, manage conflict, and inspire effective collaboration. </a:t>
            </a:r>
          </a:p>
          <a:p>
            <a:r>
              <a:rPr lang="en-US" b="1" dirty="0" smtClean="0"/>
              <a:t>Enhanced Decision-Making:</a:t>
            </a:r>
            <a:r>
              <a:rPr lang="en-US" dirty="0" smtClean="0"/>
              <a:t> </a:t>
            </a:r>
          </a:p>
          <a:p>
            <a:pPr fontAlgn="ctr"/>
            <a:r>
              <a:rPr lang="en-US" dirty="0" smtClean="0"/>
              <a:t>By understanding emotions, you can make clearer decisions and solve problems more effectively. </a:t>
            </a:r>
          </a:p>
          <a:p>
            <a:r>
              <a:rPr lang="en-US" b="1" dirty="0" smtClean="0"/>
              <a:t>Personal Well-being:</a:t>
            </a:r>
            <a:r>
              <a:rPr lang="en-US" dirty="0" smtClean="0"/>
              <a:t> </a:t>
            </a:r>
          </a:p>
          <a:p>
            <a:r>
              <a:rPr lang="en-US" dirty="0" smtClean="0"/>
              <a:t>Managing emotions and understanding social cues contributes to a more fulfilling and balanced life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mtClean="0"/>
              <a:t>Importance </a:t>
            </a:r>
            <a:r>
              <a:t>of Emotional Intelligence</a:t>
            </a:r>
          </a:p>
        </p:txBody>
      </p:sp>
      <p:sp>
        <p:nvSpPr>
          <p:cNvPr id="3" name="Content Placeholder 2"/>
          <p:cNvSpPr>
            <a:spLocks noGrp="1"/>
          </p:cNvSpPr>
          <p:nvPr>
            <p:ph idx="1"/>
          </p:nvPr>
        </p:nvSpPr>
        <p:spPr/>
        <p:txBody>
          <a:bodyPr/>
          <a:lstStyle/>
          <a:p>
            <a:r>
              <a:t>• Enhances self-awareness and self-control</a:t>
            </a:r>
          </a:p>
          <a:p>
            <a:r>
              <a:t>• Improves communication and relationships</a:t>
            </a:r>
          </a:p>
          <a:p>
            <a:r>
              <a:t>• Helps manage stress and conflict</a:t>
            </a:r>
          </a:p>
          <a:p>
            <a:r>
              <a:t>• Boosts leadership and teamwork skills</a:t>
            </a:r>
          </a:p>
          <a:p>
            <a:r>
              <a:t>• Supports personal and professional growth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t>
            </a:r>
            <a:r>
              <a:rPr lang="en-US" dirty="0" smtClean="0"/>
              <a:t>elements of emotional intelligence (EI),</a:t>
            </a:r>
            <a:endParaRPr lang="en-US" dirty="0"/>
          </a:p>
        </p:txBody>
      </p:sp>
      <p:sp>
        <p:nvSpPr>
          <p:cNvPr id="3" name="Content Placeholder 2"/>
          <p:cNvSpPr>
            <a:spLocks noGrp="1"/>
          </p:cNvSpPr>
          <p:nvPr>
            <p:ph idx="1"/>
          </p:nvPr>
        </p:nvSpPr>
        <p:spPr/>
        <p:txBody>
          <a:bodyPr/>
          <a:lstStyle/>
          <a:p>
            <a:r>
              <a:rPr lang="en-US" dirty="0" smtClean="0"/>
              <a:t>The five key elements of emotional intelligence (EI), according to psychologist Daniel </a:t>
            </a:r>
            <a:r>
              <a:rPr lang="en-US" dirty="0" err="1" smtClean="0"/>
              <a:t>Goleman</a:t>
            </a:r>
            <a:r>
              <a:rPr lang="en-US" dirty="0" smtClean="0"/>
              <a:t>, are Self-Awareness, Self-Regulation, Motivation, Empathy, and Social Skills. These components help individuals understand and manage their own emotions, recognize and respond to the emotions of others, and build strong, effective relationships.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749147" y="683046"/>
            <a:ext cx="7755875" cy="5210978"/>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 Components of Emotional Intelligence</a:t>
            </a:r>
          </a:p>
        </p:txBody>
      </p:sp>
      <p:sp>
        <p:nvSpPr>
          <p:cNvPr id="3" name="Content Placeholder 2"/>
          <p:cNvSpPr>
            <a:spLocks noGrp="1"/>
          </p:cNvSpPr>
          <p:nvPr>
            <p:ph idx="1"/>
          </p:nvPr>
        </p:nvSpPr>
        <p:spPr/>
        <p:txBody>
          <a:bodyPr/>
          <a:lstStyle/>
          <a:p>
            <a:r>
              <a:t>• Self-Awareness – Recognizing your emotions</a:t>
            </a:r>
          </a:p>
          <a:p>
            <a:r>
              <a:t>• Self-Regulation – Managing your emotions</a:t>
            </a:r>
          </a:p>
          <a:p>
            <a:r>
              <a:t>• Motivation – Staying focused and positive</a:t>
            </a:r>
          </a:p>
          <a:p>
            <a:r>
              <a:t>• Empathy – Understanding others’ feelings</a:t>
            </a:r>
          </a:p>
          <a:p>
            <a:r>
              <a:t>• Social Skills – Building healthy relationships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3388"/>
            <a:ext cx="8229600" cy="45719"/>
          </a:xfrm>
        </p:spPr>
        <p:txBody>
          <a:bodyPr>
            <a:normAutofit fontScale="90000"/>
          </a:bodyPr>
          <a:lstStyle/>
          <a:p>
            <a:endParaRPr lang="en-US" dirty="0"/>
          </a:p>
        </p:txBody>
      </p:sp>
      <p:sp>
        <p:nvSpPr>
          <p:cNvPr id="3" name="Content Placeholder 2"/>
          <p:cNvSpPr>
            <a:spLocks noGrp="1"/>
          </p:cNvSpPr>
          <p:nvPr>
            <p:ph idx="1"/>
          </p:nvPr>
        </p:nvSpPr>
        <p:spPr>
          <a:xfrm>
            <a:off x="457200" y="572877"/>
            <a:ext cx="8229600" cy="5751723"/>
          </a:xfrm>
        </p:spPr>
        <p:txBody>
          <a:bodyPr>
            <a:normAutofit fontScale="92500" lnSpcReduction="20000"/>
          </a:bodyPr>
          <a:lstStyle/>
          <a:p>
            <a:r>
              <a:rPr lang="en-US" dirty="0" smtClean="0"/>
              <a:t>Here's a closer look at each element:</a:t>
            </a:r>
          </a:p>
          <a:p>
            <a:r>
              <a:rPr lang="en-US" b="1" dirty="0" smtClean="0"/>
              <a:t>Self-Awareness:</a:t>
            </a:r>
            <a:endParaRPr lang="en-US" dirty="0" smtClean="0"/>
          </a:p>
          <a:p>
            <a:pPr fontAlgn="ctr"/>
            <a:r>
              <a:rPr lang="en-US" dirty="0" smtClean="0"/>
              <a:t>The ability to recognize and understand your own moods, emotions, and drives, as well as their effect on others. </a:t>
            </a:r>
          </a:p>
          <a:p>
            <a:r>
              <a:rPr lang="en-US" b="1" dirty="0" smtClean="0"/>
              <a:t>Self-Regulation:</a:t>
            </a:r>
            <a:endParaRPr lang="en-US" dirty="0" smtClean="0"/>
          </a:p>
          <a:p>
            <a:pPr fontAlgn="ctr"/>
            <a:r>
              <a:rPr lang="en-US" dirty="0" smtClean="0"/>
              <a:t>The ability to control or redirect disruptive impulses and moods, to think before acting, and to manage your emotions in a healthy way. </a:t>
            </a:r>
          </a:p>
          <a:p>
            <a:r>
              <a:rPr lang="en-US" b="1" dirty="0" smtClean="0"/>
              <a:t>Motivation:</a:t>
            </a:r>
            <a:endParaRPr lang="en-US" dirty="0" smtClean="0"/>
          </a:p>
          <a:p>
            <a:pPr fontAlgn="ctr"/>
            <a:r>
              <a:rPr lang="en-US" dirty="0" smtClean="0"/>
              <a:t>An inner drive to achieve goals for reasons beyond external rewards, often stemming from a passion for work or personal purpose. </a:t>
            </a:r>
          </a:p>
          <a:p>
            <a:r>
              <a:rPr lang="en-US" b="1" dirty="0" smtClean="0"/>
              <a:t>Empathy:</a:t>
            </a:r>
            <a:endParaRPr lang="en-US" dirty="0" smtClean="0"/>
          </a:p>
          <a:p>
            <a:r>
              <a:rPr lang="en-US" dirty="0" smtClean="0"/>
              <a:t>The ability to understand the emotional makeup of other people, to put yourself in their shoes, and to respond to others' emotional needs.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Barriers to Emotional Intelligence</a:t>
            </a:r>
            <a:endParaRPr lang="en-US" dirty="0"/>
          </a:p>
        </p:txBody>
      </p:sp>
      <p:sp>
        <p:nvSpPr>
          <p:cNvPr id="3" name="Content Placeholder 2"/>
          <p:cNvSpPr>
            <a:spLocks noGrp="1"/>
          </p:cNvSpPr>
          <p:nvPr>
            <p:ph idx="1"/>
          </p:nvPr>
        </p:nvSpPr>
        <p:spPr/>
        <p:txBody>
          <a:bodyPr/>
          <a:lstStyle/>
          <a:p>
            <a:r>
              <a:rPr lang="en-US" dirty="0" smtClean="0"/>
              <a:t>Barriers to emotional intelligence (EI) include internal factors like lack of self-awareness, poor emotional regulation, pride, and mental health issues, as well as external factors such as stressful environments, a lack of formal EI training, digital dependency, and cultural barriers. High-pressure situations, constant information overload, a cultural emphasis on IQ over EQ, and a lack of opportunity to develop skills all contribute to limited EI.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17088"/>
          </a:xfrm>
        </p:spPr>
        <p:txBody>
          <a:bodyPr>
            <a:normAutofit fontScale="90000"/>
          </a:bodyPr>
          <a:lstStyle/>
          <a:p>
            <a:r>
              <a:rPr lang="en-US" dirty="0" smtClean="0"/>
              <a:t>Internal Barriers</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Lack </a:t>
            </a:r>
            <a:r>
              <a:rPr lang="en-US" b="1" dirty="0" smtClean="0"/>
              <a:t>of Self-Awareness:</a:t>
            </a:r>
            <a:r>
              <a:rPr lang="en-US" dirty="0" smtClean="0"/>
              <a:t> </a:t>
            </a:r>
          </a:p>
          <a:p>
            <a:pPr fontAlgn="ctr"/>
            <a:r>
              <a:rPr lang="en-US" dirty="0" smtClean="0"/>
              <a:t>Individuals may not recognize their own emotions, how these emotions affect their behavior, or their emotional triggers. </a:t>
            </a:r>
          </a:p>
          <a:p>
            <a:r>
              <a:rPr lang="en-US" b="1" dirty="0" smtClean="0"/>
              <a:t>Poor Self-Regulation:</a:t>
            </a:r>
            <a:r>
              <a:rPr lang="en-US" dirty="0" smtClean="0"/>
              <a:t> </a:t>
            </a:r>
          </a:p>
          <a:p>
            <a:pPr fontAlgn="ctr"/>
            <a:r>
              <a:rPr lang="en-US" dirty="0" smtClean="0"/>
              <a:t>Difficulty managing and controlling emotional responses, leading to impulsive actions. </a:t>
            </a:r>
          </a:p>
          <a:p>
            <a:r>
              <a:rPr lang="en-US" b="1" dirty="0" smtClean="0"/>
              <a:t>Mental Health Conditions:</a:t>
            </a:r>
            <a:r>
              <a:rPr lang="en-US" dirty="0" smtClean="0"/>
              <a:t> </a:t>
            </a:r>
          </a:p>
          <a:p>
            <a:pPr fontAlgn="ctr"/>
            <a:r>
              <a:rPr lang="en-US" dirty="0" smtClean="0"/>
              <a:t>Anxiety, depression, and past trauma can impede emotional processing and regulation, hindering EI development. </a:t>
            </a:r>
          </a:p>
          <a:p>
            <a:r>
              <a:rPr lang="en-US" b="1" dirty="0" smtClean="0"/>
              <a:t>Pride and Self-Absorption:</a:t>
            </a:r>
            <a:r>
              <a:rPr lang="en-US" dirty="0" smtClean="0"/>
              <a:t> </a:t>
            </a:r>
          </a:p>
          <a:p>
            <a:pPr fontAlgn="ctr"/>
            <a:r>
              <a:rPr lang="en-US" dirty="0" smtClean="0"/>
              <a:t>An unwillingness to listen to others, acknowledge differing feelings, or accept constructive feedback. </a:t>
            </a:r>
          </a:p>
          <a:p>
            <a:r>
              <a:rPr lang="en-US" b="1" dirty="0" smtClean="0"/>
              <a:t>Lack of Empathy and Social Skills:</a:t>
            </a:r>
            <a:r>
              <a:rPr lang="en-US" dirty="0" smtClean="0"/>
              <a:t> </a:t>
            </a:r>
          </a:p>
          <a:p>
            <a:r>
              <a:rPr lang="en-US" dirty="0" smtClean="0"/>
              <a:t>Difficulty connecting with others, understanding their perspectives, and building strong relationships.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External Barriers</a:t>
            </a:r>
            <a:br>
              <a:rPr lang="en-US" dirty="0" smtClean="0"/>
            </a:br>
            <a:endParaRPr lang="en-US" dirty="0"/>
          </a:p>
        </p:txBody>
      </p:sp>
      <p:sp>
        <p:nvSpPr>
          <p:cNvPr id="3" name="Content Placeholder 2"/>
          <p:cNvSpPr>
            <a:spLocks noGrp="1"/>
          </p:cNvSpPr>
          <p:nvPr>
            <p:ph idx="1"/>
          </p:nvPr>
        </p:nvSpPr>
        <p:spPr>
          <a:xfrm>
            <a:off x="457200" y="1410159"/>
            <a:ext cx="8229600" cy="4914441"/>
          </a:xfrm>
        </p:spPr>
        <p:txBody>
          <a:bodyPr>
            <a:normAutofit fontScale="70000" lnSpcReduction="20000"/>
          </a:bodyPr>
          <a:lstStyle/>
          <a:p>
            <a:r>
              <a:rPr lang="en-US" b="1" dirty="0" smtClean="0"/>
              <a:t>Stressful </a:t>
            </a:r>
            <a:r>
              <a:rPr lang="en-US" b="1" dirty="0" smtClean="0"/>
              <a:t>and Crisis-Oriented Environments:</a:t>
            </a:r>
            <a:r>
              <a:rPr lang="en-US" dirty="0" smtClean="0"/>
              <a:t> </a:t>
            </a:r>
          </a:p>
          <a:p>
            <a:pPr fontAlgn="ctr"/>
            <a:r>
              <a:rPr lang="en-US" dirty="0" smtClean="0"/>
              <a:t>High-pressure situations, such as those in the healthcare or IT industries, challenge emotional composure and effective responses. </a:t>
            </a:r>
          </a:p>
          <a:p>
            <a:r>
              <a:rPr lang="en-US" b="1" dirty="0" smtClean="0"/>
              <a:t>Lack of Education and Training:</a:t>
            </a:r>
            <a:r>
              <a:rPr lang="en-US" dirty="0" smtClean="0"/>
              <a:t> </a:t>
            </a:r>
          </a:p>
          <a:p>
            <a:pPr fontAlgn="ctr"/>
            <a:r>
              <a:rPr lang="en-US" dirty="0" smtClean="0"/>
              <a:t>Absence of formal, continuous programs to teach and develop emotional intelligence skills. </a:t>
            </a:r>
          </a:p>
          <a:p>
            <a:r>
              <a:rPr lang="en-US" b="1" dirty="0" smtClean="0"/>
              <a:t>Cultural Factors:</a:t>
            </a:r>
            <a:r>
              <a:rPr lang="en-US" dirty="0" smtClean="0"/>
              <a:t> </a:t>
            </a:r>
          </a:p>
          <a:p>
            <a:pPr fontAlgn="ctr"/>
            <a:r>
              <a:rPr lang="en-US" dirty="0" smtClean="0"/>
              <a:t>Cultural norms that value emotional restraint or prioritize intellect (IQ) over emotional understanding can impede EI growth. </a:t>
            </a:r>
          </a:p>
          <a:p>
            <a:r>
              <a:rPr lang="en-US" b="1" dirty="0" smtClean="0"/>
              <a:t>Digital Dependency:</a:t>
            </a:r>
            <a:r>
              <a:rPr lang="en-US" dirty="0" smtClean="0"/>
              <a:t> </a:t>
            </a:r>
          </a:p>
          <a:p>
            <a:pPr fontAlgn="ctr"/>
            <a:r>
              <a:rPr lang="en-US" dirty="0" smtClean="0"/>
              <a:t>Over-reliance on digital communication reduces face-to-face interactions, which are crucial for developing empathy and social awareness. </a:t>
            </a:r>
          </a:p>
          <a:p>
            <a:r>
              <a:rPr lang="en-US" b="1" dirty="0" smtClean="0"/>
              <a:t>Information Overload:</a:t>
            </a:r>
            <a:r>
              <a:rPr lang="en-US" dirty="0" smtClean="0"/>
              <a:t> </a:t>
            </a:r>
          </a:p>
          <a:p>
            <a:pPr fontAlgn="ctr"/>
            <a:r>
              <a:rPr lang="en-US" dirty="0" smtClean="0"/>
              <a:t>The constant influx of information in modern society can increase stress and make emotional regulation more difficult. </a:t>
            </a:r>
          </a:p>
          <a:p>
            <a:r>
              <a:rPr lang="en-US" b="1" dirty="0" smtClean="0"/>
              <a:t>Resource Constraints:</a:t>
            </a:r>
            <a:r>
              <a:rPr lang="en-US" dirty="0" smtClean="0"/>
              <a:t> </a:t>
            </a:r>
          </a:p>
          <a:p>
            <a:r>
              <a:rPr lang="en-US" dirty="0" smtClean="0"/>
              <a:t>Limited funding and time in organizations can lead to EI being overlooked in favor of other priorities.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mtClean="0"/>
              <a:t>How </a:t>
            </a:r>
            <a:r>
              <a:t>to Improve Emotional Intelligence</a:t>
            </a:r>
          </a:p>
        </p:txBody>
      </p:sp>
      <p:sp>
        <p:nvSpPr>
          <p:cNvPr id="3" name="Content Placeholder 2"/>
          <p:cNvSpPr>
            <a:spLocks noGrp="1"/>
          </p:cNvSpPr>
          <p:nvPr>
            <p:ph idx="1"/>
          </p:nvPr>
        </p:nvSpPr>
        <p:spPr/>
        <p:txBody>
          <a:bodyPr/>
          <a:lstStyle/>
          <a:p>
            <a:r>
              <a:t>• Practice mindfulness and reflection</a:t>
            </a:r>
          </a:p>
          <a:p>
            <a:r>
              <a:t>• Develop active listening skills</a:t>
            </a:r>
          </a:p>
          <a:p>
            <a:r>
              <a:t>• Manage stress effectively</a:t>
            </a:r>
          </a:p>
          <a:p>
            <a:r>
              <a:t>• Show empathy and compassion</a:t>
            </a:r>
          </a:p>
          <a:p>
            <a:r>
              <a:t>• Seek feedback and learn continuously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Improve Emotional Intelligence</a:t>
            </a:r>
            <a:endParaRPr lang="en-US" dirty="0"/>
          </a:p>
        </p:txBody>
      </p:sp>
      <p:sp>
        <p:nvSpPr>
          <p:cNvPr id="3" name="Content Placeholder 2"/>
          <p:cNvSpPr>
            <a:spLocks noGrp="1"/>
          </p:cNvSpPr>
          <p:nvPr>
            <p:ph idx="1"/>
          </p:nvPr>
        </p:nvSpPr>
        <p:spPr/>
        <p:txBody>
          <a:bodyPr>
            <a:normAutofit lnSpcReduction="10000"/>
          </a:bodyPr>
          <a:lstStyle/>
          <a:p>
            <a:r>
              <a:rPr lang="en-US" dirty="0" smtClean="0"/>
              <a:t>To improve emotional intelligence (EQ), practice self-awareness by observing and understanding your emotions, and improve self-management by developing coping mechanisms like deep breathing and mindfulness. Cultivate social awareness by actively listening to others and practicing empathy, and enhance relationship management by using clear communication, expressing gratitude, and collaborating to find solutions. Regularly seek feedback and commit to continuous learning to refine these skills.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 Self-Awareness</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Observe </a:t>
            </a:r>
            <a:r>
              <a:rPr lang="en-US" b="1" dirty="0" smtClean="0"/>
              <a:t>your emotions:</a:t>
            </a:r>
            <a:r>
              <a:rPr lang="en-US" dirty="0" smtClean="0"/>
              <a:t> </a:t>
            </a:r>
          </a:p>
          <a:p>
            <a:pPr fontAlgn="ctr"/>
            <a:r>
              <a:rPr lang="en-US" dirty="0" smtClean="0"/>
              <a:t>Pay attention to your feelings and identify their triggers in different situations. </a:t>
            </a:r>
          </a:p>
          <a:p>
            <a:r>
              <a:rPr lang="en-US" b="1" dirty="0" smtClean="0"/>
              <a:t>Journal daily:</a:t>
            </a:r>
            <a:r>
              <a:rPr lang="en-US" dirty="0" smtClean="0"/>
              <a:t> </a:t>
            </a:r>
          </a:p>
          <a:p>
            <a:pPr fontAlgn="ctr"/>
            <a:r>
              <a:rPr lang="en-US" dirty="0" smtClean="0"/>
              <a:t>Write down your emotions to reflect on their sources and understand patterns. </a:t>
            </a:r>
          </a:p>
          <a:p>
            <a:r>
              <a:rPr lang="en-US" b="1" dirty="0" smtClean="0"/>
              <a:t>Identify values:</a:t>
            </a:r>
            <a:r>
              <a:rPr lang="en-US" dirty="0" smtClean="0"/>
              <a:t> </a:t>
            </a:r>
          </a:p>
          <a:p>
            <a:r>
              <a:rPr lang="en-US" dirty="0" smtClean="0"/>
              <a:t>Understand your personal values to see the "why" behind your actions and emotions.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Self-Management</a:t>
            </a:r>
            <a:br>
              <a:rPr lang="en-US" dirty="0" smtClean="0"/>
            </a:br>
            <a:endParaRPr lang="en-US" dirty="0"/>
          </a:p>
        </p:txBody>
      </p:sp>
      <p:sp>
        <p:nvSpPr>
          <p:cNvPr id="3" name="Content Placeholder 2"/>
          <p:cNvSpPr>
            <a:spLocks noGrp="1"/>
          </p:cNvSpPr>
          <p:nvPr>
            <p:ph idx="1"/>
          </p:nvPr>
        </p:nvSpPr>
        <p:spPr/>
        <p:txBody>
          <a:bodyPr/>
          <a:lstStyle/>
          <a:p>
            <a:pPr fontAlgn="ctr"/>
            <a:r>
              <a:rPr lang="en-US" b="1" dirty="0" smtClean="0"/>
              <a:t>Practice </a:t>
            </a:r>
            <a:r>
              <a:rPr lang="en-US" b="1" dirty="0" smtClean="0"/>
              <a:t>mindfulness:</a:t>
            </a:r>
            <a:r>
              <a:rPr lang="en-US" dirty="0" smtClean="0"/>
              <a:t> Focus on the present moment to remain calm and centered. </a:t>
            </a:r>
          </a:p>
          <a:p>
            <a:pPr fontAlgn="ctr"/>
            <a:r>
              <a:rPr lang="en-US" b="1" dirty="0" smtClean="0"/>
              <a:t>Use coping mechanisms:</a:t>
            </a:r>
            <a:r>
              <a:rPr lang="en-US" dirty="0" smtClean="0"/>
              <a:t> Implement techniques like deep breathing or meditation when emotions become overwhelming. </a:t>
            </a:r>
          </a:p>
          <a:p>
            <a:pPr fontAlgn="ctr"/>
            <a:r>
              <a:rPr lang="en-US" b="1" dirty="0" smtClean="0"/>
              <a:t>Manage stress:</a:t>
            </a:r>
            <a:r>
              <a:rPr lang="en-US" dirty="0" smtClean="0"/>
              <a:t> Find healthy ways to deal with stress, such as exercise and hobbies. </a:t>
            </a:r>
          </a:p>
          <a:p>
            <a:r>
              <a:rPr lang="en-US" b="1" dirty="0" smtClean="0"/>
              <a:t>Take breaks:</a:t>
            </a:r>
            <a:r>
              <a:rPr lang="en-US" dirty="0" smtClean="0"/>
              <a:t> Give yourself time to think and plan before making important decisions. </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 Social Awareness</a:t>
            </a:r>
            <a:br>
              <a:rPr lang="en-US" dirty="0" smtClean="0"/>
            </a:br>
            <a:endParaRPr lang="en-US" dirty="0"/>
          </a:p>
        </p:txBody>
      </p:sp>
      <p:sp>
        <p:nvSpPr>
          <p:cNvPr id="3" name="Content Placeholder 2"/>
          <p:cNvSpPr>
            <a:spLocks noGrp="1"/>
          </p:cNvSpPr>
          <p:nvPr>
            <p:ph idx="1"/>
          </p:nvPr>
        </p:nvSpPr>
        <p:spPr/>
        <p:txBody>
          <a:bodyPr/>
          <a:lstStyle/>
          <a:p>
            <a:pPr fontAlgn="ctr"/>
            <a:r>
              <a:rPr lang="en-US" b="1" dirty="0" smtClean="0"/>
              <a:t>Practice </a:t>
            </a:r>
            <a:r>
              <a:rPr lang="en-US" b="1" dirty="0" smtClean="0"/>
              <a:t>active listening:</a:t>
            </a:r>
            <a:r>
              <a:rPr lang="en-US" dirty="0" smtClean="0"/>
              <a:t> Focus on verbal and nonverbal cues to truly understand others. </a:t>
            </a:r>
          </a:p>
          <a:p>
            <a:pPr fontAlgn="ctr"/>
            <a:r>
              <a:rPr lang="en-US" b="1" dirty="0" smtClean="0"/>
              <a:t>Cultivate empathy:</a:t>
            </a:r>
            <a:r>
              <a:rPr lang="en-US" dirty="0" smtClean="0"/>
              <a:t> Put yourself in others' shoes to understand their perspectives and feelings. </a:t>
            </a:r>
          </a:p>
          <a:p>
            <a:pPr fontAlgn="ctr"/>
            <a:r>
              <a:rPr lang="en-US" b="1" dirty="0" smtClean="0"/>
              <a:t>Be present:</a:t>
            </a:r>
            <a:r>
              <a:rPr lang="en-US" dirty="0" smtClean="0"/>
              <a:t> Give others your full attention in social interactions to better gauge their emotions. </a:t>
            </a:r>
          </a:p>
          <a:p>
            <a:r>
              <a:rPr lang="en-US" b="1" dirty="0" smtClean="0"/>
              <a:t>Request feedback:</a:t>
            </a:r>
            <a:r>
              <a:rPr lang="en-US" dirty="0" smtClean="0"/>
              <a:t> Ask trusted peers for constructive feedback to reveal blind spots.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Relationship Management</a:t>
            </a:r>
            <a:br>
              <a:rPr lang="en-US" dirty="0" smtClean="0"/>
            </a:br>
            <a:endParaRPr lang="en-US" dirty="0"/>
          </a:p>
        </p:txBody>
      </p:sp>
      <p:sp>
        <p:nvSpPr>
          <p:cNvPr id="3" name="Content Placeholder 2"/>
          <p:cNvSpPr>
            <a:spLocks noGrp="1"/>
          </p:cNvSpPr>
          <p:nvPr>
            <p:ph idx="1"/>
          </p:nvPr>
        </p:nvSpPr>
        <p:spPr/>
        <p:txBody>
          <a:bodyPr/>
          <a:lstStyle/>
          <a:p>
            <a:pPr fontAlgn="ctr"/>
            <a:r>
              <a:rPr lang="en-US" b="1" dirty="0" smtClean="0"/>
              <a:t>Communicate </a:t>
            </a:r>
            <a:r>
              <a:rPr lang="en-US" b="1" dirty="0" smtClean="0"/>
              <a:t>clearly:</a:t>
            </a:r>
            <a:r>
              <a:rPr lang="en-US" dirty="0" smtClean="0"/>
              <a:t> Explain your decisions and listen to others' reasoning to foster understanding. </a:t>
            </a:r>
          </a:p>
          <a:p>
            <a:pPr fontAlgn="ctr"/>
            <a:r>
              <a:rPr lang="en-US" b="1" dirty="0" smtClean="0"/>
              <a:t>Show gratitude:</a:t>
            </a:r>
            <a:r>
              <a:rPr lang="en-US" dirty="0" smtClean="0"/>
              <a:t> Express appreciation for others to build positive relationships. </a:t>
            </a:r>
          </a:p>
          <a:p>
            <a:pPr fontAlgn="ctr"/>
            <a:r>
              <a:rPr lang="en-US" b="1" dirty="0" smtClean="0"/>
              <a:t>Collaborate:</a:t>
            </a:r>
            <a:r>
              <a:rPr lang="en-US" dirty="0" smtClean="0"/>
              <a:t> Approach conflicts with a collaborative mindset, seeking mutually beneficial solutions. </a:t>
            </a:r>
          </a:p>
          <a:p>
            <a:r>
              <a:rPr lang="en-US" b="1" dirty="0" smtClean="0"/>
              <a:t>Be open-minded:</a:t>
            </a:r>
            <a:r>
              <a:rPr lang="en-US" dirty="0" smtClean="0"/>
              <a:t> Consider and understand different perspectives to be more approachable.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5. Continuous Learning</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b="1" dirty="0" smtClean="0"/>
              <a:t>Take </a:t>
            </a:r>
            <a:r>
              <a:rPr lang="en-US" b="1" dirty="0" smtClean="0"/>
              <a:t>an online course:</a:t>
            </a:r>
            <a:r>
              <a:rPr lang="en-US" dirty="0" smtClean="0"/>
              <a:t> </a:t>
            </a:r>
          </a:p>
          <a:p>
            <a:pPr fontAlgn="ctr"/>
            <a:r>
              <a:rPr lang="en-US" dirty="0" smtClean="0"/>
              <a:t>Consider taking a leadership or emotional intelligence course to deepen your understanding. </a:t>
            </a:r>
          </a:p>
          <a:p>
            <a:r>
              <a:rPr lang="en-US" b="1" dirty="0" smtClean="0"/>
              <a:t>Engage with resources:</a:t>
            </a:r>
            <a:r>
              <a:rPr lang="en-US" dirty="0" smtClean="0"/>
              <a:t> </a:t>
            </a:r>
          </a:p>
          <a:p>
            <a:pPr fontAlgn="ctr"/>
            <a:r>
              <a:rPr lang="en-US" dirty="0" smtClean="0"/>
              <a:t>Use emotional intelligence quizzes to identify specific areas for improvement. </a:t>
            </a:r>
          </a:p>
          <a:p>
            <a:r>
              <a:rPr lang="en-US" b="1" dirty="0" smtClean="0"/>
              <a:t>Commit to growth:</a:t>
            </a:r>
            <a:r>
              <a:rPr lang="en-US" dirty="0" smtClean="0"/>
              <a:t> </a:t>
            </a:r>
          </a:p>
          <a:p>
            <a:r>
              <a:rPr lang="en-US" dirty="0" smtClean="0"/>
              <a:t>Make a commitment to lifelong personal growth and the continuous refinement of your emotional intelligence skills. </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5" name="Picture 3"/>
          <p:cNvPicPr>
            <a:picLocks noGrp="1" noChangeAspect="1" noChangeArrowheads="1"/>
          </p:cNvPicPr>
          <p:nvPr>
            <p:ph idx="1"/>
          </p:nvPr>
        </p:nvPicPr>
        <p:blipFill>
          <a:blip r:embed="rId2"/>
          <a:srcRect/>
          <a:stretch>
            <a:fillRect/>
          </a:stretch>
        </p:blipFill>
        <p:spPr bwMode="auto">
          <a:xfrm>
            <a:off x="1156772" y="1847089"/>
            <a:ext cx="6312664" cy="4630830"/>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TotalTime>
  <Words>295</Words>
  <Application>Microsoft Macintosh PowerPoint</Application>
  <PresentationFormat>On-screen Show (4:3)</PresentationFormat>
  <Paragraphs>108</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Flow</vt:lpstr>
      <vt:lpstr>Emotional Intelligence</vt:lpstr>
      <vt:lpstr>What is Emotional Intelligence?</vt:lpstr>
      <vt:lpstr>Slide 3</vt:lpstr>
      <vt:lpstr>Key Components of Emotional Intelligence </vt:lpstr>
      <vt:lpstr>Why Emotional Intelligence Is Important </vt:lpstr>
      <vt:lpstr>Importance of Emotional Intelligence</vt:lpstr>
      <vt:lpstr>Key elements of emotional intelligence (EI),</vt:lpstr>
      <vt:lpstr>Slide 8</vt:lpstr>
      <vt:lpstr>🔑 Components of Emotional Intelligence</vt:lpstr>
      <vt:lpstr>Slide 10</vt:lpstr>
      <vt:lpstr>Barriers to Emotional Intelligence</vt:lpstr>
      <vt:lpstr>Internal Barriers </vt:lpstr>
      <vt:lpstr>External Barriers </vt:lpstr>
      <vt:lpstr>How to Improve Emotional Intelligence</vt:lpstr>
      <vt:lpstr>How to Improve Emotional Intelligence</vt:lpstr>
      <vt:lpstr>1. Self-Awareness </vt:lpstr>
      <vt:lpstr>2. Self-Management </vt:lpstr>
      <vt:lpstr>3. Social Awareness </vt:lpstr>
      <vt:lpstr>4. Relationship Management </vt:lpstr>
      <vt:lpstr>5. Continuous Learning </vt:lpstr>
      <vt:lpstr>Slide 21</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Emotional Intelligence</dc:title>
  <dc:creator>hod</dc:creator>
  <dc:description>generated using python-pptx</dc:description>
  <cp:lastModifiedBy>hod</cp:lastModifiedBy>
  <cp:revision>9</cp:revision>
  <dcterms:created xsi:type="dcterms:W3CDTF">2013-01-27T09:14:16Z</dcterms:created>
  <dcterms:modified xsi:type="dcterms:W3CDTF">2025-09-19T10:14:31Z</dcterms:modified>
</cp:coreProperties>
</file>