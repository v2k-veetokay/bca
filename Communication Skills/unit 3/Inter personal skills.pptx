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70" r:id="rId7"/>
    <p:sldId id="271" r:id="rId8"/>
    <p:sldId id="272" r:id="rId9"/>
    <p:sldId id="262" r:id="rId10"/>
    <p:sldId id="273" r:id="rId11"/>
    <p:sldId id="263" r:id="rId12"/>
    <p:sldId id="268" r:id="rId13"/>
    <p:sldId id="269" r:id="rId14"/>
    <p:sldId id="264" r:id="rId15"/>
    <p:sldId id="265" r:id="rId16"/>
    <p:sldId id="274" r:id="rId17"/>
    <p:sldId id="275" r:id="rId18"/>
    <p:sldId id="276" r:id="rId19"/>
    <p:sldId id="266" r:id="rId20"/>
    <p:sldId id="267"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86" d="100"/>
          <a:sy n="86" d="100"/>
        </p:scale>
        <p:origin x="-109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9151089"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Title 8"/>
          <p:cNvSpPr>
            <a:spLocks noGrp="1"/>
          </p:cNvSpPr>
          <p:nvPr>
            <p:ph type="ctrTitle"/>
          </p:nvPr>
        </p:nvSpPr>
        <p:spPr>
          <a:xfrm>
            <a:off x="685800" y="1752601"/>
            <a:ext cx="77724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grpSp>
        <p:nvGrpSpPr>
          <p:cNvPr id="2" name="Group 1"/>
          <p:cNvGrpSpPr/>
          <p:nvPr/>
        </p:nvGrpSpPr>
        <p:grpSpPr>
          <a:xfrm>
            <a:off x="-3765" y="4953000"/>
            <a:ext cx="9147765"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8B5F5FE3-D1C9-4227-B1F5-D31416897DC4}" type="datetimeFigureOut">
              <a:rPr lang="en-US" smtClean="0"/>
              <a:pPr/>
              <a:t>10/25/2025</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BC47D0D9-3487-48CE-A8FB-9E938F86D9E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C47D0D9-3487-48CE-A8FB-9E938F86D9E6}" type="slidenum">
              <a:rPr lang="en-US" smtClean="0"/>
              <a:pPr/>
              <a:t>‹#›</a:t>
            </a:fld>
            <a:endParaRPr lang="en-US"/>
          </a:p>
        </p:txBody>
      </p:sp>
      <p:sp>
        <p:nvSpPr>
          <p:cNvPr id="7" name="Title 6"/>
          <p:cNvSpPr>
            <a:spLocks noGrp="1"/>
          </p:cNvSpPr>
          <p:nvPr>
            <p:ph type="title"/>
          </p:nvPr>
        </p:nvSpPr>
        <p:spPr/>
        <p:txBody>
          <a:bodyPr rtlCol="0"/>
          <a:lstStyle>
            <a:extLst/>
          </a:lstStyle>
          <a:p>
            <a:r>
              <a:rPr kumimoji="0" lang="en-US" smtClean="0"/>
              <a:t>Click to edit Master title style</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76" y="1059712"/>
            <a:ext cx="77724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3922713" y="2931712"/>
            <a:ext cx="4572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C47D0D9-3487-48CE-A8FB-9E938F86D9E6}" type="slidenum">
              <a:rPr lang="en-US" smtClean="0"/>
              <a:pPr/>
              <a:t>‹#›</a:t>
            </a:fld>
            <a:endParaRPr lang="en-US"/>
          </a:p>
        </p:txBody>
      </p:sp>
      <p:sp>
        <p:nvSpPr>
          <p:cNvPr id="7" name="Chevron 6"/>
          <p:cNvSpPr/>
          <p:nvPr/>
        </p:nvSpPr>
        <p:spPr>
          <a:xfrm>
            <a:off x="3636680"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8" name="Chevron 7"/>
          <p:cNvSpPr/>
          <p:nvPr/>
        </p:nvSpPr>
        <p:spPr>
          <a:xfrm>
            <a:off x="3450264" y="3005472"/>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C47D0D9-3487-48CE-A8FB-9E938F86D9E6}" type="slidenum">
              <a:rPr lang="en-US" smtClean="0"/>
              <a:pPr/>
              <a:t>‹#›</a:t>
            </a:fld>
            <a:endParaRPr lang="en-US"/>
          </a:p>
        </p:txBody>
      </p:sp>
      <p:sp>
        <p:nvSpPr>
          <p:cNvPr id="8" name="Title 7"/>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C47D0D9-3487-48CE-A8FB-9E938F86D9E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C47D0D9-3487-48CE-A8FB-9E938F86D9E6}" type="slidenum">
              <a:rPr lang="en-US" smtClean="0"/>
              <a:pPr/>
              <a:t>‹#›</a:t>
            </a:fld>
            <a:endParaRPr lang="en-US"/>
          </a:p>
        </p:txBody>
      </p:sp>
      <p:sp>
        <p:nvSpPr>
          <p:cNvPr id="6" name="Title 5"/>
          <p:cNvSpPr>
            <a:spLocks noGrp="1"/>
          </p:cNvSpPr>
          <p:nvPr>
            <p:ph type="title"/>
          </p:nvPr>
        </p:nvSpPr>
        <p:spPr/>
        <p:txBody>
          <a:bodyPr rtlCol="0"/>
          <a:lstStyle>
            <a:extLst/>
          </a:lstStyle>
          <a:p>
            <a:r>
              <a:rPr kumimoji="0" lang="en-US" smtClean="0"/>
              <a:t>Click to edit Master title style</a:t>
            </a:r>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C47D0D9-3487-48CE-A8FB-9E938F86D9E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a:xfrm>
            <a:off x="6727032" y="6407944"/>
            <a:ext cx="1920240" cy="365760"/>
          </a:xfrm>
        </p:spPr>
        <p:txBody>
          <a:bodyPr/>
          <a:lstStyle>
            <a:extLst/>
          </a:lstStyle>
          <a:p>
            <a:fld id="{8B5F5FE3-D1C9-4227-B1F5-D31416897DC4}" type="datetimeFigureOut">
              <a:rPr lang="en-US" smtClean="0"/>
              <a:pPr/>
              <a:t>10/25/2025</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C47D0D9-3487-48CE-A8FB-9E938F86D9E6}"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141232" y="5443402"/>
            <a:ext cx="71628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smtClean="0"/>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8B5F5FE3-D1C9-4227-B1F5-D31416897DC4}" type="datetimeFigureOut">
              <a:rPr lang="en-US" smtClean="0"/>
              <a:pPr/>
              <a:t>10/25/2025</a:t>
            </a:fld>
            <a:endParaRPr lang="en-US"/>
          </a:p>
        </p:txBody>
      </p:sp>
      <p:sp>
        <p:nvSpPr>
          <p:cNvPr id="6" name="Footer Placeholder 5"/>
          <p:cNvSpPr>
            <a:spLocks noGrp="1"/>
          </p:cNvSpPr>
          <p:nvPr>
            <p:ph type="ftr" sz="quarter" idx="11"/>
          </p:nvPr>
        </p:nvSpPr>
        <p:spPr>
          <a:xfrm>
            <a:off x="4380072" y="6407944"/>
            <a:ext cx="235068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BC47D0D9-3487-48CE-A8FB-9E938F86D9E6}" type="slidenum">
              <a:rPr lang="en-US" smtClean="0"/>
              <a:pPr/>
              <a:t>‹#›</a:t>
            </a:fld>
            <a:endParaRPr lang="en-US"/>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smtClean="0"/>
              <a:t>Click to edit Master title style</a:t>
            </a:r>
            <a:endParaRPr kumimoji="0" lang="en-US"/>
          </a:p>
        </p:txBody>
      </p:sp>
      <p:sp>
        <p:nvSpPr>
          <p:cNvPr id="8" name="Freeform 7"/>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9" name="Freeform 8"/>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0" name="Right Triangle 9"/>
          <p:cNvSpPr>
            <a:spLocks/>
          </p:cNvSpPr>
          <p:nvPr/>
        </p:nvSpPr>
        <p:spPr bwMode="auto">
          <a:xfrm>
            <a:off x="-6042" y="5791253"/>
            <a:ext cx="3402314"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1" name="Straight Connector 10"/>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8664112"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
        <p:nvSpPr>
          <p:cNvPr id="13" name="Chevron 12"/>
          <p:cNvSpPr/>
          <p:nvPr/>
        </p:nvSpPr>
        <p:spPr>
          <a:xfrm>
            <a:off x="8477696" y="4988440"/>
            <a:ext cx="18288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extLst/>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481329"/>
            <a:ext cx="8229600" cy="4386071"/>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C47D0D9-3487-48CE-A8FB-9E938F86D9E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1"/>
            <a:ext cx="6324600" cy="5592760"/>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8B5F5FE3-D1C9-4227-B1F5-D31416897DC4}" type="datetimeFigureOut">
              <a:rPr lang="en-US" smtClean="0"/>
              <a:pPr/>
              <a:t>10/25/2025</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C47D0D9-3487-48CE-A8FB-9E938F86D9E6}"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6436" y="5001993"/>
            <a:ext cx="3802003"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Freeform 11"/>
          <p:cNvSpPr>
            <a:spLocks/>
          </p:cNvSpPr>
          <p:nvPr/>
        </p:nvSpPr>
        <p:spPr bwMode="auto">
          <a:xfrm>
            <a:off x="-53561" y="5785023"/>
            <a:ext cx="380200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extLst/>
          </a:lstStyle>
          <a:p>
            <a:endParaRPr kumimoji="0" lang="en-US"/>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extLst/>
          </a:lstStyle>
          <a:p>
            <a:pPr algn="ctr" eaLnBrk="1" latinLnBrk="0" hangingPunct="1"/>
            <a:endParaRPr kumimoji="0"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extLst/>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481328"/>
            <a:ext cx="8229600" cy="4525963"/>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727032" y="6407944"/>
            <a:ext cx="1920240" cy="365760"/>
          </a:xfrm>
          <a:prstGeom prst="rect">
            <a:avLst/>
          </a:prstGeom>
        </p:spPr>
        <p:txBody>
          <a:bodyPr vert="horz" anchor="b"/>
          <a:lstStyle>
            <a:lvl1pPr algn="l" eaLnBrk="1" latinLnBrk="0" hangingPunct="1">
              <a:defRPr kumimoji="0" sz="1000">
                <a:solidFill>
                  <a:schemeClr val="tx1"/>
                </a:solidFill>
              </a:defRPr>
            </a:lvl1pPr>
            <a:extLst/>
          </a:lstStyle>
          <a:p>
            <a:fld id="{8B5F5FE3-D1C9-4227-B1F5-D31416897DC4}" type="datetimeFigureOut">
              <a:rPr lang="en-US" smtClean="0"/>
              <a:pPr/>
              <a:t>10/25/2025</a:t>
            </a:fld>
            <a:endParaRPr lang="en-US"/>
          </a:p>
        </p:txBody>
      </p:sp>
      <p:sp>
        <p:nvSpPr>
          <p:cNvPr id="22" name="Footer Placeholder 21"/>
          <p:cNvSpPr>
            <a:spLocks noGrp="1"/>
          </p:cNvSpPr>
          <p:nvPr>
            <p:ph type="ftr" sz="quarter" idx="3"/>
          </p:nvPr>
        </p:nvSpPr>
        <p:spPr>
          <a:xfrm>
            <a:off x="4380072" y="6407944"/>
            <a:ext cx="235068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8647272" y="6407944"/>
            <a:ext cx="365760" cy="365125"/>
          </a:xfrm>
          <a:prstGeom prst="rect">
            <a:avLst/>
          </a:prstGeom>
        </p:spPr>
        <p:txBody>
          <a:bodyPr vert="horz" anchor="b"/>
          <a:lstStyle>
            <a:lvl1pPr algn="r" eaLnBrk="1" latinLnBrk="0" hangingPunct="1">
              <a:defRPr kumimoji="0" sz="1000" b="0">
                <a:solidFill>
                  <a:schemeClr val="tx1"/>
                </a:solidFill>
              </a:defRPr>
            </a:lvl1pPr>
            <a:extLst/>
          </a:lstStyle>
          <a:p>
            <a:fld id="{BC47D0D9-3487-48CE-A8FB-9E938F86D9E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dirty="0"/>
          </a:p>
        </p:txBody>
      </p:sp>
      <p:pic>
        <p:nvPicPr>
          <p:cNvPr id="1026" name="Picture 2"/>
          <p:cNvPicPr>
            <a:picLocks noChangeAspect="1" noChangeArrowheads="1"/>
          </p:cNvPicPr>
          <p:nvPr/>
        </p:nvPicPr>
        <p:blipFill>
          <a:blip r:embed="rId2"/>
          <a:srcRect/>
          <a:stretch>
            <a:fillRect/>
          </a:stretch>
        </p:blipFill>
        <p:spPr bwMode="auto">
          <a:xfrm>
            <a:off x="533401" y="457201"/>
            <a:ext cx="7924800" cy="5791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Interpersonal skills involve the ability to communicate and build relationships with others. Often called ‘people skills’, they tend to incorporate both your innate personality traits and how you have learned to handle certain social situations. Effective interpersonal skills can help you during the job interview process and can have a positive impact on your career advancement.</a:t>
            </a:r>
          </a:p>
          <a:p>
            <a:endParaRPr lang="en-US" dirty="0"/>
          </a:p>
        </p:txBody>
      </p:sp>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20000"/>
          </a:bodyPr>
          <a:lstStyle/>
          <a:p>
            <a:pPr lvl="0"/>
            <a:r>
              <a:rPr lang="en-US" dirty="0"/>
              <a:t>Interpersonal skills, often referred to as </a:t>
            </a:r>
            <a:r>
              <a:rPr lang="en-US" b="1" dirty="0"/>
              <a:t>'people skills'</a:t>
            </a:r>
            <a:r>
              <a:rPr lang="en-US" dirty="0"/>
              <a:t>, are crucial in every workplace as they aid in effective communication, building relationships and cooperating with others in a variety of scenarios.</a:t>
            </a:r>
          </a:p>
          <a:p>
            <a:pPr lvl="0"/>
            <a:r>
              <a:rPr lang="en-US" dirty="0"/>
              <a:t>These skills are highly transferable across industries and positions and include </a:t>
            </a:r>
            <a:r>
              <a:rPr lang="en-US" b="1" dirty="0"/>
              <a:t>active listening, dependability, empathy, leadership, teamwork</a:t>
            </a:r>
            <a:r>
              <a:rPr lang="en-US" dirty="0"/>
              <a:t>, among others, which greatly contribute to creating a positive work environment.</a:t>
            </a:r>
          </a:p>
          <a:p>
            <a:pPr lvl="0"/>
            <a:r>
              <a:rPr lang="en-US" dirty="0"/>
              <a:t>To improve your interpersonal skills, consider strategies such as attending workshops/online classes, seeking opportunities to build relationships, asking for constructive criticism, observing others' positive interactions and seeking mentorship.</a:t>
            </a:r>
          </a:p>
          <a:p>
            <a:endParaRPr lang="en-US" dirty="0"/>
          </a:p>
        </p:txBody>
      </p:sp>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dirty="0" smtClean="0"/>
              <a:t>Interpersonal communication skills are the abilities that enable someone to effectively interact and relate with others by conveying and understanding messages, both verbally and nonverbally. Key skills include </a:t>
            </a:r>
            <a:r>
              <a:rPr lang="en-US" b="1" dirty="0" smtClean="0"/>
              <a:t>active listening, clear expression of thoughts, empathy, nonverbal cue interpretation, teamwork, leadership, and conflict resolution</a:t>
            </a:r>
            <a:r>
              <a:rPr lang="en-US" dirty="0" smtClean="0"/>
              <a:t>, which are vital for building relationships and fostering productive environments in personal and professional settings</a:t>
            </a:r>
            <a:endParaRPr lang="en-US" dirty="0"/>
          </a:p>
        </p:txBody>
      </p:sp>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tretch>
            <a:fillRect/>
          </a:stretch>
        </p:blipFill>
        <p:spPr bwMode="auto">
          <a:xfrm>
            <a:off x="685800" y="228600"/>
            <a:ext cx="7848600" cy="6172199"/>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smtClean="0"/>
              <a:t>Interpersonal communication can be </a:t>
            </a:r>
            <a:r>
              <a:rPr lang="en-US" dirty="0" err="1" smtClean="0"/>
              <a:t>categorised</a:t>
            </a:r>
            <a:r>
              <a:rPr lang="en-US" dirty="0" smtClean="0"/>
              <a:t> into four main types. Below, we’ll briefly explain what each of these categories means:</a:t>
            </a:r>
          </a:p>
          <a:p>
            <a:r>
              <a:rPr lang="en-US" b="1" u="sng" dirty="0" smtClean="0"/>
              <a:t>Verbal</a:t>
            </a:r>
            <a:r>
              <a:rPr lang="en-US" b="1" dirty="0" smtClean="0"/>
              <a:t>. </a:t>
            </a:r>
            <a:r>
              <a:rPr lang="en-US" dirty="0" smtClean="0"/>
              <a:t>This is all about the words you’re actually saying and incorporates things like the language you choose, how persuasively you speak, and the use of affirmative sounds like “uh-huh” and “I see”. </a:t>
            </a:r>
          </a:p>
          <a:p>
            <a:r>
              <a:rPr lang="en-US" b="1" u="sng" dirty="0" smtClean="0"/>
              <a:t>Listening</a:t>
            </a:r>
            <a:r>
              <a:rPr lang="en-US" b="1" dirty="0" smtClean="0"/>
              <a:t>. </a:t>
            </a:r>
            <a:r>
              <a:rPr lang="en-US" dirty="0" smtClean="0"/>
              <a:t>Being able to listen attentively is one of the most important communication skills, whether you’re physically listening with your ears or being attentive in other ways. Listening can involve techniques such as clarification and reflection.</a:t>
            </a:r>
          </a:p>
          <a:p>
            <a:endParaRPr lang="en-US" dirty="0"/>
          </a:p>
        </p:txBody>
      </p:sp>
      <p:sp>
        <p:nvSpPr>
          <p:cNvPr id="3" name="Title 2"/>
          <p:cNvSpPr>
            <a:spLocks noGrp="1"/>
          </p:cNvSpPr>
          <p:nvPr>
            <p:ph type="title"/>
          </p:nvPr>
        </p:nvSpPr>
        <p:spPr/>
        <p:txBody>
          <a:bodyPr>
            <a:normAutofit fontScale="90000"/>
          </a:bodyPr>
          <a:lstStyle/>
          <a:p>
            <a:r>
              <a:rPr lang="en-US" dirty="0" smtClean="0"/>
              <a:t>Different types of interpersonal communication</a:t>
            </a:r>
            <a:br>
              <a:rPr lang="en-US" dirty="0" smtClean="0"/>
            </a:b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b="1" u="sng" dirty="0" smtClean="0"/>
              <a:t>Written communication</a:t>
            </a:r>
            <a:r>
              <a:rPr lang="en-US" b="1" dirty="0" smtClean="0"/>
              <a:t>. </a:t>
            </a:r>
            <a:r>
              <a:rPr lang="en-US" dirty="0" smtClean="0"/>
              <a:t>It is becoming increasingly essential to have good written communication, whether you’re using it in the workplace or on social media. This incorporates things like clarity, tone, grammar, and even things like punctuation and </a:t>
            </a:r>
            <a:r>
              <a:rPr lang="en-US" dirty="0" err="1" smtClean="0"/>
              <a:t>emojis</a:t>
            </a:r>
            <a:r>
              <a:rPr lang="en-US" dirty="0" smtClean="0"/>
              <a:t>.</a:t>
            </a:r>
          </a:p>
          <a:p>
            <a:r>
              <a:rPr lang="en-US" b="1" u="sng" dirty="0" smtClean="0"/>
              <a:t>Non-verbal communication</a:t>
            </a:r>
            <a:r>
              <a:rPr lang="en-US" b="1" dirty="0" smtClean="0"/>
              <a:t>. </a:t>
            </a:r>
            <a:r>
              <a:rPr lang="en-US" dirty="0" smtClean="0"/>
              <a:t>As mentioned earlier, this includes everything that’s not being said in a face-to-face conversation. That’s gestures, body language, facial expressions and tone of voice. Being able to use these non-verbal cues and notice them in others can be useful.</a:t>
            </a:r>
          </a:p>
          <a:p>
            <a:endParaRPr lang="en-US" dirty="0"/>
          </a:p>
        </p:txBody>
      </p:sp>
      <p:sp>
        <p:nvSpPr>
          <p:cNvPr id="3" name="Title 2"/>
          <p:cNvSpPr>
            <a:spLocks noGrp="1"/>
          </p:cNvSpPr>
          <p:nvPr>
            <p:ph type="title"/>
          </p:nvPr>
        </p:nvSpPr>
        <p:spPr/>
        <p:txBody>
          <a:bodyPr>
            <a:normAutofit fontScale="90000"/>
          </a:bodyPr>
          <a:lstStyle/>
          <a:p>
            <a:r>
              <a:rPr lang="en-US" dirty="0" smtClean="0"/>
              <a:t>Different types of interpersonal communication</a:t>
            </a:r>
            <a:br>
              <a:rPr lang="en-US" dirty="0" smtClean="0"/>
            </a:b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dirty="0" smtClean="0"/>
              <a:t>To give you an even broader understanding of these four different types of interpersonal communication, we’ve listed some examples underneath and revealed which category they fall under:</a:t>
            </a:r>
          </a:p>
          <a:p>
            <a:r>
              <a:rPr lang="en-US" b="1" dirty="0" smtClean="0"/>
              <a:t>Phone calls. </a:t>
            </a:r>
            <a:r>
              <a:rPr lang="en-US" dirty="0" smtClean="0"/>
              <a:t>Since you can only hear voices during phone calls, you have to rely on strong verbal communication skills.</a:t>
            </a:r>
          </a:p>
          <a:p>
            <a:r>
              <a:rPr lang="en-US" b="1" dirty="0" smtClean="0"/>
              <a:t>Presentations. </a:t>
            </a:r>
            <a:r>
              <a:rPr lang="en-US" dirty="0" smtClean="0"/>
              <a:t>You use all four types of interpersonal communication when presenting information. You need to speak clearly, use non-verbal cues, listen to your audience and refer to written texts.</a:t>
            </a:r>
          </a:p>
          <a:p>
            <a:r>
              <a:rPr lang="en-US" b="1" dirty="0" smtClean="0"/>
              <a:t>Email. </a:t>
            </a:r>
            <a:r>
              <a:rPr lang="en-US" dirty="0" smtClean="0"/>
              <a:t>You need good written communication when writing emails, especially in the workplace.</a:t>
            </a:r>
          </a:p>
          <a:p>
            <a:r>
              <a:rPr lang="en-US" b="1" dirty="0" smtClean="0"/>
              <a:t>Performing in a play. </a:t>
            </a:r>
            <a:r>
              <a:rPr lang="en-US" dirty="0" smtClean="0"/>
              <a:t>Performers need to use a mix of verbal and non-verbal communication to effectively entice the audience and get their message across.</a:t>
            </a:r>
          </a:p>
          <a:p>
            <a:r>
              <a:rPr lang="en-US" b="1" dirty="0" smtClean="0"/>
              <a:t>Texting. </a:t>
            </a:r>
            <a:r>
              <a:rPr lang="en-US" dirty="0" smtClean="0"/>
              <a:t>This relies on written communication but is less formal than emails or letters and requires a more </a:t>
            </a:r>
            <a:r>
              <a:rPr lang="en-US" dirty="0" err="1" smtClean="0"/>
              <a:t>personalised</a:t>
            </a:r>
            <a:r>
              <a:rPr lang="en-US" dirty="0" smtClean="0"/>
              <a:t> approach.</a:t>
            </a:r>
          </a:p>
          <a:p>
            <a:endParaRPr lang="en-US" dirty="0"/>
          </a:p>
        </p:txBody>
      </p:sp>
      <p:sp>
        <p:nvSpPr>
          <p:cNvPr id="3" name="Title 2"/>
          <p:cNvSpPr>
            <a:spLocks noGrp="1"/>
          </p:cNvSpPr>
          <p:nvPr>
            <p:ph type="title"/>
          </p:nvPr>
        </p:nvSpPr>
        <p:spPr/>
        <p:txBody>
          <a:bodyPr>
            <a:normAutofit fontScale="90000"/>
          </a:bodyPr>
          <a:lstStyle/>
          <a:p>
            <a:r>
              <a:rPr lang="en-US" dirty="0" smtClean="0"/>
              <a:t>Interpersonal communication examples</a:t>
            </a:r>
            <a:br>
              <a:rPr lang="en-US" dirty="0" smtClean="0"/>
            </a:b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2"/>
          <a:stretch>
            <a:fillRect/>
          </a:stretch>
        </p:blipFill>
        <p:spPr bwMode="auto">
          <a:xfrm>
            <a:off x="609600" y="304800"/>
            <a:ext cx="7696199" cy="6095999"/>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smtClean="0"/>
              <a:t>Interpersonal communication skills can improve your personal and professional relationships by helping you to express your thoughts and convey your intent clearly. Additionally, you’ll be more able to understand and </a:t>
            </a:r>
            <a:r>
              <a:rPr lang="en-US" dirty="0" err="1" smtClean="0"/>
              <a:t>empathise</a:t>
            </a:r>
            <a:r>
              <a:rPr lang="en-US" dirty="0" smtClean="0"/>
              <a:t> with others due to your listening skills.</a:t>
            </a:r>
            <a:endParaRPr lang="en-US" dirty="0"/>
          </a:p>
        </p:txBody>
      </p:sp>
      <p:sp>
        <p:nvSpPr>
          <p:cNvPr id="3" name="Title 2"/>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tretch>
            <a:fillRect/>
          </a:stretch>
        </p:blipFill>
        <p:spPr bwMode="auto">
          <a:xfrm>
            <a:off x="533400" y="533400"/>
            <a:ext cx="7924800" cy="5714999"/>
          </a:xfrm>
          <a:prstGeom prst="rect">
            <a:avLst/>
          </a:prstGeom>
          <a:noFill/>
          <a:ln w="9525">
            <a:noFill/>
            <a:miter lim="800000"/>
            <a:headEnd/>
            <a:tailEnd/>
          </a:ln>
          <a:effectLst/>
        </p:spPr>
      </p:pic>
      <p:sp>
        <p:nvSpPr>
          <p:cNvPr id="2" name="Title 1"/>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20000"/>
          </a:bodyPr>
          <a:lstStyle/>
          <a:p>
            <a:r>
              <a:rPr lang="en-US" dirty="0" smtClean="0"/>
              <a:t>There are four main principles to be aware of when considering interpersonal communication. These principles help to demonstrate the nature of interpersonal relations and should provide you with a deeper understanding.</a:t>
            </a:r>
          </a:p>
          <a:p>
            <a:r>
              <a:rPr lang="en-US" b="1" dirty="0" smtClean="0"/>
              <a:t>Inescapable. </a:t>
            </a:r>
            <a:r>
              <a:rPr lang="en-US" dirty="0" smtClean="0"/>
              <a:t>It’s pretty much impossible to escape interacting with other people. Even if you prefer time by yourself, you’ll probably be communicating regularly online with others.</a:t>
            </a:r>
          </a:p>
          <a:p>
            <a:r>
              <a:rPr lang="en-US" b="1" dirty="0" smtClean="0"/>
              <a:t>Irreversible. </a:t>
            </a:r>
            <a:r>
              <a:rPr lang="en-US" dirty="0" smtClean="0"/>
              <a:t>We can’t take back the things that we say or do during interactions with others. Even if we </a:t>
            </a:r>
            <a:r>
              <a:rPr lang="en-US" dirty="0" err="1" smtClean="0"/>
              <a:t>apologise</a:t>
            </a:r>
            <a:r>
              <a:rPr lang="en-US" dirty="0" smtClean="0"/>
              <a:t> or offer an explanation for what we did or said, our original communication can’t be reversed.</a:t>
            </a:r>
          </a:p>
          <a:p>
            <a:endParaRPr lang="en-US" dirty="0"/>
          </a:p>
        </p:txBody>
      </p:sp>
      <p:sp>
        <p:nvSpPr>
          <p:cNvPr id="3" name="Title 2"/>
          <p:cNvSpPr>
            <a:spLocks noGrp="1"/>
          </p:cNvSpPr>
          <p:nvPr>
            <p:ph type="title"/>
          </p:nvPr>
        </p:nvSpPr>
        <p:spPr/>
        <p:txBody>
          <a:bodyPr>
            <a:normAutofit fontScale="90000"/>
          </a:bodyPr>
          <a:lstStyle/>
          <a:p>
            <a:r>
              <a:rPr lang="en-US" dirty="0" smtClean="0"/>
              <a:t>The Four Principles of Interpersonal Communication</a:t>
            </a:r>
            <a:br>
              <a:rPr lang="en-US" dirty="0" smtClean="0"/>
            </a:b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b="1" dirty="0" smtClean="0"/>
              <a:t>Complicated. </a:t>
            </a:r>
            <a:r>
              <a:rPr lang="en-US" dirty="0" smtClean="0"/>
              <a:t>Because there are so many aspects of interpersonal communication beyond what is actually being said, it’s complicated by nature. Often, things can be interpreted in many different ways – and it can be especially hard for some </a:t>
            </a:r>
            <a:r>
              <a:rPr lang="en-US" dirty="0" err="1" smtClean="0"/>
              <a:t>neurodivergent</a:t>
            </a:r>
            <a:r>
              <a:rPr lang="en-US" dirty="0" smtClean="0"/>
              <a:t> people to pick up on subtle cues. Similarly, many </a:t>
            </a:r>
            <a:r>
              <a:rPr lang="en-US" dirty="0" err="1" smtClean="0"/>
              <a:t>neurotypical</a:t>
            </a:r>
            <a:r>
              <a:rPr lang="en-US" dirty="0" smtClean="0"/>
              <a:t> people are not aware of different communication styles, and this can also cause different interpretations.</a:t>
            </a:r>
          </a:p>
          <a:p>
            <a:r>
              <a:rPr lang="en-US" b="1" dirty="0" smtClean="0"/>
              <a:t>Contextual. </a:t>
            </a:r>
            <a:r>
              <a:rPr lang="en-US" dirty="0" smtClean="0"/>
              <a:t>It can be difficult to control how our communications are received due to the other factors involved. Who is receiving the communication, where are they, and why have they perceived it a certain way? Most of this is down to context.</a:t>
            </a:r>
          </a:p>
          <a:p>
            <a:endParaRPr lang="en-US" dirty="0"/>
          </a:p>
        </p:txBody>
      </p:sp>
      <p:sp>
        <p:nvSpPr>
          <p:cNvPr id="3" name="Title 2"/>
          <p:cNvSpPr>
            <a:spLocks noGrp="1"/>
          </p:cNvSpPr>
          <p:nvPr>
            <p:ph type="title"/>
          </p:nvPr>
        </p:nvSpPr>
        <p:spPr/>
        <p:txBody>
          <a:bodyPr>
            <a:normAutofit fontScale="90000"/>
          </a:bodyPr>
          <a:lstStyle/>
          <a:p>
            <a:r>
              <a:rPr lang="en-US" dirty="0" smtClean="0"/>
              <a:t>The Four Principles of Interpersonal Communication</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r>
              <a:rPr lang="en-US" b="1" dirty="0" smtClean="0"/>
              <a:t>Verbal and Nonverbal Communication:</a:t>
            </a:r>
            <a:r>
              <a:rPr lang="en-US" dirty="0" smtClean="0"/>
              <a:t> </a:t>
            </a:r>
          </a:p>
          <a:p>
            <a:pPr fontAlgn="ctr"/>
            <a:r>
              <a:rPr lang="en-US" dirty="0" smtClean="0"/>
              <a:t>Interpersonal communication involves both speaking and listening, as well as understanding body language, eye contact, and other nonverbal cues to gauge the message being conveyed. </a:t>
            </a:r>
          </a:p>
          <a:p>
            <a:r>
              <a:rPr lang="en-US" b="1" dirty="0" smtClean="0"/>
              <a:t>Relationship Building:</a:t>
            </a:r>
            <a:r>
              <a:rPr lang="en-US" dirty="0" smtClean="0"/>
              <a:t> </a:t>
            </a:r>
          </a:p>
          <a:p>
            <a:pPr fontAlgn="ctr"/>
            <a:r>
              <a:rPr lang="en-US" dirty="0" smtClean="0"/>
              <a:t>These skills are essential for initiating, building, and maintaining relationships with others. </a:t>
            </a:r>
          </a:p>
          <a:p>
            <a:r>
              <a:rPr lang="en-US" b="1" dirty="0" smtClean="0"/>
              <a:t>Empathy and Emotional Intelligence:</a:t>
            </a:r>
            <a:r>
              <a:rPr lang="en-US" dirty="0" smtClean="0"/>
              <a:t> </a:t>
            </a:r>
          </a:p>
          <a:p>
            <a:pPr fontAlgn="ctr"/>
            <a:r>
              <a:rPr lang="en-US" dirty="0" smtClean="0"/>
              <a:t>Being able to understand and share the feelings of others is a core component of effective interpersonal communication. </a:t>
            </a:r>
          </a:p>
          <a:p>
            <a:r>
              <a:rPr lang="en-US" b="1" dirty="0" smtClean="0"/>
              <a:t>Clarity and Conciseness:</a:t>
            </a:r>
            <a:r>
              <a:rPr lang="en-US" dirty="0" smtClean="0"/>
              <a:t> </a:t>
            </a:r>
          </a:p>
          <a:p>
            <a:pPr fontAlgn="ctr"/>
            <a:r>
              <a:rPr lang="en-US" dirty="0" smtClean="0"/>
              <a:t>The ability to express your thoughts, feelings, and intentions clearly helps prevent misunderstandings and ensures your message is received as intended. </a:t>
            </a:r>
          </a:p>
          <a:p>
            <a:r>
              <a:rPr lang="en-US" b="1" dirty="0" smtClean="0"/>
              <a:t>Active Listening:</a:t>
            </a:r>
            <a:r>
              <a:rPr lang="en-US" dirty="0" smtClean="0"/>
              <a:t> </a:t>
            </a:r>
          </a:p>
          <a:p>
            <a:r>
              <a:rPr lang="en-US" dirty="0" smtClean="0"/>
              <a:t>This goes beyond simply hearing; it involves actively engaging with the speaker to ensure full comprehension of their message and perspective. </a:t>
            </a:r>
          </a:p>
          <a:p>
            <a:endParaRPr lang="en-US" dirty="0"/>
          </a:p>
        </p:txBody>
      </p:sp>
      <p:sp>
        <p:nvSpPr>
          <p:cNvPr id="2" name="Title 1"/>
          <p:cNvSpPr>
            <a:spLocks noGrp="1"/>
          </p:cNvSpPr>
          <p:nvPr>
            <p:ph type="title"/>
          </p:nvPr>
        </p:nvSpPr>
        <p:spPr/>
        <p:txBody>
          <a:bodyPr>
            <a:normAutofit fontScale="90000"/>
          </a:bodyPr>
          <a:lstStyle/>
          <a:p>
            <a:r>
              <a:rPr lang="en-US" dirty="0" smtClean="0"/>
              <a:t>Key Aspects of Interpersonal Communication Skills</a:t>
            </a:r>
            <a:br>
              <a:rPr lang="en-US" dirty="0" smtClean="0"/>
            </a:b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smtClean="0"/>
              <a:t>Teamwork</a:t>
            </a:r>
          </a:p>
          <a:p>
            <a:pPr lvl="0"/>
            <a:r>
              <a:rPr lang="en-US" dirty="0" smtClean="0"/>
              <a:t>Empathy</a:t>
            </a:r>
          </a:p>
          <a:p>
            <a:r>
              <a:rPr lang="en-US" dirty="0" smtClean="0"/>
              <a:t>Emotional Intelligence</a:t>
            </a:r>
          </a:p>
          <a:p>
            <a:r>
              <a:rPr lang="en-US" dirty="0" smtClean="0"/>
              <a:t>Listening Skills</a:t>
            </a:r>
          </a:p>
          <a:p>
            <a:r>
              <a:rPr lang="en-US" dirty="0" smtClean="0"/>
              <a:t>Time Management</a:t>
            </a:r>
          </a:p>
          <a:p>
            <a:r>
              <a:rPr lang="en-US" dirty="0" smtClean="0"/>
              <a:t>Attitude</a:t>
            </a:r>
          </a:p>
          <a:p>
            <a:r>
              <a:rPr lang="en-US" dirty="0" smtClean="0"/>
              <a:t>Responsibility</a:t>
            </a:r>
          </a:p>
          <a:p>
            <a:endParaRPr lang="en-US" dirty="0"/>
          </a:p>
        </p:txBody>
      </p:sp>
      <p:sp>
        <p:nvSpPr>
          <p:cNvPr id="2" name="Title 1"/>
          <p:cNvSpPr>
            <a:spLocks noGrp="1"/>
          </p:cNvSpPr>
          <p:nvPr>
            <p:ph type="title"/>
          </p:nvPr>
        </p:nvSpPr>
        <p:spPr/>
        <p:txBody>
          <a:bodyPr>
            <a:normAutofit fontScale="90000"/>
          </a:bodyPr>
          <a:lstStyle/>
          <a:p>
            <a:r>
              <a:rPr lang="en-US" dirty="0" smtClean="0"/>
              <a:t>Key Interpersonal Communication Skills</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dirty="0" smtClean="0"/>
              <a:t>A barrier to interpersonal communication is something that gets in the way of a message being received. This can lead to misunderstandings, disinterest and even offence. </a:t>
            </a:r>
          </a:p>
          <a:p>
            <a:r>
              <a:rPr lang="en-US" b="1" dirty="0" smtClean="0"/>
              <a:t>1. Too much technical jargon</a:t>
            </a:r>
          </a:p>
          <a:p>
            <a:r>
              <a:rPr lang="en-US" dirty="0" smtClean="0"/>
              <a:t>Unless you’re speaking to experts on the topic you’re talking about, you should try to avoid unnecessary jargon. This applies to verbal and written communication. Using too much unnecessarily technical language can make your message confusing or even incomprehensible, and the point that you’re making can get lost in translation. Instead, keep it clear and concise, paying attention to who you’re speaking to.</a:t>
            </a:r>
          </a:p>
          <a:p>
            <a:r>
              <a:rPr lang="en-US" b="1" dirty="0" smtClean="0"/>
              <a:t>2. Inconsistent cues</a:t>
            </a:r>
          </a:p>
          <a:p>
            <a:r>
              <a:rPr lang="en-US" dirty="0" smtClean="0"/>
              <a:t>Sometimes, you might be saying something with your words, but conveying something totally different with your body language. This is called an inconsistent cue because you’re sending two opposing signals simultaneously. For example, if you smile when you’re actually angry, the receiver will likely misunderstand the message you’re attempting to convey.</a:t>
            </a:r>
          </a:p>
          <a:p>
            <a:endParaRPr lang="en-US" dirty="0"/>
          </a:p>
        </p:txBody>
      </p:sp>
      <p:sp>
        <p:nvSpPr>
          <p:cNvPr id="3" name="Title 2"/>
          <p:cNvSpPr>
            <a:spLocks noGrp="1"/>
          </p:cNvSpPr>
          <p:nvPr>
            <p:ph type="title"/>
          </p:nvPr>
        </p:nvSpPr>
        <p:spPr/>
        <p:txBody>
          <a:bodyPr>
            <a:normAutofit fontScale="90000"/>
          </a:bodyPr>
          <a:lstStyle/>
          <a:p>
            <a:r>
              <a:rPr lang="en-US" dirty="0" smtClean="0"/>
              <a:t>Potential barriers to interpersonal communication</a:t>
            </a:r>
            <a:br>
              <a:rPr lang="en-US" dirty="0" smtClean="0"/>
            </a:b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70000" lnSpcReduction="20000"/>
          </a:bodyPr>
          <a:lstStyle/>
          <a:p>
            <a:r>
              <a:rPr lang="en-US" b="1" dirty="0" smtClean="0"/>
              <a:t>3. Choosing the wrong medium</a:t>
            </a:r>
          </a:p>
          <a:p>
            <a:r>
              <a:rPr lang="en-US" dirty="0" smtClean="0"/>
              <a:t>Certain mediums are more appropriate than others for certain conversations. For example, emotional conversations are better to be had face to face, as you can use verbal and non-verbal cues to put across your message. Emails are great for conveying routine information, while texts or instant messages are good for casual conversations and quick questions.</a:t>
            </a:r>
          </a:p>
          <a:p>
            <a:r>
              <a:rPr lang="en-US" b="1" dirty="0" smtClean="0"/>
              <a:t>4. Poor relationships</a:t>
            </a:r>
          </a:p>
          <a:p>
            <a:r>
              <a:rPr lang="en-US" dirty="0" smtClean="0"/>
              <a:t>When there’s a lack of trust between people, particularly in a work environment, communication issues often arise. This is because preconceived notions of a relationship can affect certain messages being delivered effectively – maybe because the receiver isn’t paying proper attention, or because they don’t believe or respect what the speaker is saying. This can be exacerbated by things like cultural or generational differences, especially when people are holding on to stereotypes.</a:t>
            </a:r>
          </a:p>
          <a:p>
            <a:endParaRPr lang="en-US" dirty="0"/>
          </a:p>
        </p:txBody>
      </p:sp>
      <p:sp>
        <p:nvSpPr>
          <p:cNvPr id="3" name="Title 2"/>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85000" lnSpcReduction="20000"/>
          </a:bodyPr>
          <a:lstStyle/>
          <a:p>
            <a:r>
              <a:rPr lang="en-US" dirty="0" smtClean="0"/>
              <a:t>In addition to this, hierarchical structures in offices can also impede interpersonal communication, as junior employees may feel reluctant to communicate properly and present their opinions to their seniors.</a:t>
            </a:r>
            <a:endParaRPr lang="en-US" smtClean="0"/>
          </a:p>
          <a:p>
            <a:endParaRPr lang="en-US" dirty="0" smtClean="0"/>
          </a:p>
          <a:p>
            <a:r>
              <a:rPr lang="en-US" b="1" dirty="0" smtClean="0"/>
              <a:t>5. External factors</a:t>
            </a:r>
          </a:p>
          <a:p>
            <a:r>
              <a:rPr lang="en-US" dirty="0" smtClean="0"/>
              <a:t>There are often several uncontrollable external factors at play during interpersonal communication. Sometimes, this could be noise affecting hearing and focus, or it could be a poor internet connection impeding a conversation. Unfortunately, external factors will never go away, but it’s important to remember to be patient and considerate to the other person or people you’re communicating with when such difficulties arise.</a:t>
            </a:r>
          </a:p>
          <a:p>
            <a:endParaRPr lang="en-US" dirty="0"/>
          </a:p>
        </p:txBody>
      </p:sp>
      <p:sp>
        <p:nvSpPr>
          <p:cNvPr id="3" name="Title 2"/>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53000"/>
          </a:xfrm>
        </p:spPr>
        <p:txBody>
          <a:bodyPr>
            <a:normAutofit fontScale="62500" lnSpcReduction="20000"/>
          </a:bodyPr>
          <a:lstStyle/>
          <a:p>
            <a:r>
              <a:rPr lang="en-US" dirty="0" smtClean="0"/>
              <a:t>Building interpersonal communication skills can help you improve your relationships, increase your ability to collaborate effectively with others, and enhance your overall success in life. Here are some tips to help you develop them:</a:t>
            </a:r>
          </a:p>
          <a:p>
            <a:r>
              <a:rPr lang="en-US" dirty="0" smtClean="0">
                <a:solidFill>
                  <a:srgbClr val="FF0000"/>
                </a:solidFill>
              </a:rPr>
              <a:t>1. Practice Active Listening</a:t>
            </a:r>
          </a:p>
          <a:p>
            <a:r>
              <a:rPr lang="en-US" dirty="0" smtClean="0"/>
              <a:t>One of the most important aspects of interpersonal communication is active listening. This involves fully concentrating on what the other person is saying, without interrupting or judging them. You can practice active listening by maintaining eye contact, nodding, and asking questions to clarify their message.</a:t>
            </a:r>
          </a:p>
          <a:p>
            <a:r>
              <a:rPr lang="en-US" dirty="0" smtClean="0">
                <a:solidFill>
                  <a:srgbClr val="FF0000"/>
                </a:solidFill>
              </a:rPr>
              <a:t>2. Use Clear and Concise Language</a:t>
            </a:r>
          </a:p>
          <a:p>
            <a:r>
              <a:rPr lang="en-US" dirty="0" smtClean="0"/>
              <a:t>Communication is most effective when it is clear and concise. Use simple language and avoid jargon or technical terms that others may not understand.</a:t>
            </a:r>
          </a:p>
          <a:p>
            <a:r>
              <a:rPr lang="en-US" dirty="0" smtClean="0">
                <a:solidFill>
                  <a:srgbClr val="FF0000"/>
                </a:solidFill>
              </a:rPr>
              <a:t>3. Master Nonverbal Communication</a:t>
            </a:r>
          </a:p>
          <a:p>
            <a:r>
              <a:rPr lang="en-US" dirty="0" smtClean="0"/>
              <a:t>Nonverbal communication, such as body language and facial expressions, can also convey messages. Be aware of your own nonverbal cues and try to read others' body language to better understand their message.</a:t>
            </a:r>
          </a:p>
          <a:p>
            <a:endParaRPr lang="en-US" dirty="0"/>
          </a:p>
        </p:txBody>
      </p:sp>
      <p:sp>
        <p:nvSpPr>
          <p:cNvPr id="2" name="Title 1"/>
          <p:cNvSpPr>
            <a:spLocks noGrp="1"/>
          </p:cNvSpPr>
          <p:nvPr>
            <p:ph type="title"/>
          </p:nvPr>
        </p:nvSpPr>
        <p:spPr/>
        <p:txBody>
          <a:bodyPr>
            <a:normAutofit fontScale="90000"/>
          </a:bodyPr>
          <a:lstStyle/>
          <a:p>
            <a:r>
              <a:rPr lang="en-US" dirty="0" smtClean="0"/>
              <a:t>How to Build Interpersonal Communication Skills</a:t>
            </a:r>
            <a:br>
              <a:rPr lang="en-US" dirty="0" smtClean="0"/>
            </a:b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7500" lnSpcReduction="20000"/>
          </a:bodyPr>
          <a:lstStyle/>
          <a:p>
            <a:r>
              <a:rPr lang="en-US" dirty="0" smtClean="0">
                <a:solidFill>
                  <a:srgbClr val="FF0000"/>
                </a:solidFill>
              </a:rPr>
              <a:t>4. Show Empathy</a:t>
            </a:r>
          </a:p>
          <a:p>
            <a:r>
              <a:rPr lang="en-US" dirty="0" smtClean="0"/>
              <a:t>Empathy involves understanding and sharing the feelings of others. When communicating with others, try to put yourself in their shoes and show understanding and compassion for their perspective.</a:t>
            </a:r>
          </a:p>
          <a:p>
            <a:r>
              <a:rPr lang="en-US" dirty="0" smtClean="0">
                <a:solidFill>
                  <a:srgbClr val="FF0000"/>
                </a:solidFill>
              </a:rPr>
              <a:t>5. Build Rapport</a:t>
            </a:r>
          </a:p>
          <a:p>
            <a:r>
              <a:rPr lang="en-US" dirty="0" smtClean="0"/>
              <a:t>Building rapport involves finding common ground and establishing a connection with others. This can help to build trust and enhance communication. Look for common interests or experiences, and use humor or other forms of positive reinforcement to build a positive relationship.</a:t>
            </a:r>
          </a:p>
          <a:p>
            <a:r>
              <a:rPr lang="en-US" dirty="0" smtClean="0">
                <a:solidFill>
                  <a:srgbClr val="FF0000"/>
                </a:solidFill>
              </a:rPr>
              <a:t>6. Be Open to Feedback</a:t>
            </a:r>
          </a:p>
          <a:p>
            <a:r>
              <a:rPr lang="en-US" dirty="0" smtClean="0"/>
              <a:t>Be open to constructive criticism and feedback from others, and use it as an opportunity to learn and grow.</a:t>
            </a:r>
          </a:p>
          <a:p>
            <a:endParaRPr lang="en-US" dirty="0"/>
          </a:p>
        </p:txBody>
      </p:sp>
      <p:sp>
        <p:nvSpPr>
          <p:cNvPr id="2" name="Title 1"/>
          <p:cNvSpPr>
            <a:spLocks noGrp="1"/>
          </p:cNvSpPr>
          <p:nvPr>
            <p:ph type="title"/>
          </p:nvPr>
        </p:nvSpPr>
        <p:spPr/>
        <p:txBody>
          <a:bodyPr>
            <a:normAutofit fontScale="90000"/>
          </a:bodyPr>
          <a:lstStyle/>
          <a:p>
            <a:r>
              <a:rPr lang="en-US" dirty="0" smtClean="0"/>
              <a:t>How to Build Interpersonal Communication Skills</a:t>
            </a:r>
            <a:endParaRPr lang="en-US"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24</TotalTime>
  <Words>936</Words>
  <Application>Microsoft Office PowerPoint</Application>
  <PresentationFormat>On-screen Show (4:3)</PresentationFormat>
  <Paragraphs>75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Concourse</vt:lpstr>
      <vt:lpstr>Slide 1</vt:lpstr>
      <vt:lpstr>Slide 2</vt:lpstr>
      <vt:lpstr>Slide 3</vt:lpstr>
      <vt:lpstr>Slide 4</vt:lpstr>
      <vt:lpstr>Slide 5</vt:lpstr>
      <vt:lpstr>Different types of interpersonal communication </vt:lpstr>
      <vt:lpstr>Different types of interpersonal communication </vt:lpstr>
      <vt:lpstr>Interpersonal communication examples </vt:lpstr>
      <vt:lpstr>Slide 9</vt:lpstr>
      <vt:lpstr>Slide 10</vt:lpstr>
      <vt:lpstr>Slide 11</vt:lpstr>
      <vt:lpstr>The Four Principles of Interpersonal Communication </vt:lpstr>
      <vt:lpstr>The Four Principles of Interpersonal Communication</vt:lpstr>
      <vt:lpstr>Key Aspects of Interpersonal Communication Skills </vt:lpstr>
      <vt:lpstr>Key Interpersonal Communication Skills</vt:lpstr>
      <vt:lpstr>Potential barriers to interpersonal communication </vt:lpstr>
      <vt:lpstr>Slide 17</vt:lpstr>
      <vt:lpstr>Slide 18</vt:lpstr>
      <vt:lpstr>How to Build Interpersonal Communication Skills </vt:lpstr>
      <vt:lpstr>How to Build Interpersonal Communication Skills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hod</dc:creator>
  <cp:lastModifiedBy>hod</cp:lastModifiedBy>
  <cp:revision>5</cp:revision>
  <dcterms:created xsi:type="dcterms:W3CDTF">2025-09-12T10:03:32Z</dcterms:created>
  <dcterms:modified xsi:type="dcterms:W3CDTF">2025-10-25T04:41:02Z</dcterms:modified>
</cp:coreProperties>
</file>