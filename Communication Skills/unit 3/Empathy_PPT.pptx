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62" r:id="rId4"/>
    <p:sldId id="263" r:id="rId5"/>
    <p:sldId id="258" r:id="rId6"/>
    <p:sldId id="264" r:id="rId7"/>
    <p:sldId id="265" r:id="rId8"/>
    <p:sldId id="266" r:id="rId9"/>
    <p:sldId id="281" r:id="rId10"/>
    <p:sldId id="282" r:id="rId11"/>
    <p:sldId id="283" r:id="rId12"/>
    <p:sldId id="259" r:id="rId13"/>
    <p:sldId id="267" r:id="rId14"/>
    <p:sldId id="270" r:id="rId15"/>
    <p:sldId id="271" r:id="rId16"/>
    <p:sldId id="272" r:id="rId17"/>
    <p:sldId id="268" r:id="rId18"/>
    <p:sldId id="273" r:id="rId19"/>
    <p:sldId id="274" r:id="rId20"/>
    <p:sldId id="275" r:id="rId21"/>
    <p:sldId id="269" r:id="rId22"/>
    <p:sldId id="276" r:id="rId23"/>
    <p:sldId id="277" r:id="rId24"/>
    <p:sldId id="260" r:id="rId25"/>
    <p:sldId id="278" r:id="rId26"/>
    <p:sldId id="279" r:id="rId27"/>
    <p:sldId id="280" r:id="rId28"/>
    <p:sldId id="261" r:id="rId29"/>
    <p:sldId id="284" r:id="rId30"/>
    <p:sldId id="285"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5BCAD085-E8A6-8845-BD4E-CB4CCA059FC4}" type="datetimeFigureOut">
              <a:rPr lang="en-US" smtClean="0"/>
              <a:pPr/>
              <a:t>9/19/2025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BCAD085-E8A6-8845-BD4E-CB4CCA059FC4}" type="datetimeFigureOut">
              <a:rPr lang="en-US" smtClean="0"/>
              <a:pPr/>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BCAD085-E8A6-8845-BD4E-CB4CCA059FC4}" type="datetimeFigureOut">
              <a:rPr lang="en-US" smtClean="0"/>
              <a:pPr/>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BCAD085-E8A6-8845-BD4E-CB4CCA059FC4}"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1FF6DA9-008F-8B48-92A6-B652298478B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BCAD085-E8A6-8845-BD4E-CB4CCA059FC4}" type="datetimeFigureOut">
              <a:rPr lang="en-US" smtClean="0"/>
              <a:pPr/>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BCAD085-E8A6-8845-BD4E-CB4CCA059FC4}" type="datetimeFigureOut">
              <a:rPr lang="en-US" smtClean="0"/>
              <a:pPr/>
              <a:t>9/19/2025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1FF6DA9-008F-8B48-92A6-B652298478B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oogle.com/search?sca_esv=39b9ebc457fec9be&amp;q=theory+of+mind&amp;sa=X&amp;ved=2ahUKEwiSkaSWweSPAxUVS2cHHT5qJGsQxccNegQIURAB&amp;mstk=AUtExfDLWceN03L0J-ZD96JvoXdcpbJ3YzMZ7S1KafWwTTU34yJAhSC8FCtrHpISZPVF-hVSk0rtuAwVg14btqCcOUfp3Pvut2u3JrPy1OtlkPCeV-A_URe6KcY1v7HGP0OqUjTS5-AEg2cteZn_yWm-Ds5C-Zl0B6GA7V4CBAjOpWQm-iQwW560jlif1r2gOqyNO-DD&amp;csui=3"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958467"/>
            <a:ext cx="7772400" cy="1178805"/>
          </a:xfrm>
        </p:spPr>
        <p:txBody>
          <a:bodyPr/>
          <a:lstStyle/>
          <a:p>
            <a:r>
              <a:rPr smtClean="0"/>
              <a:t>Empathy</a:t>
            </a:r>
            <a:endParaRPr/>
          </a:p>
        </p:txBody>
      </p:sp>
      <p:sp>
        <p:nvSpPr>
          <p:cNvPr id="3" name="Subtitle 2"/>
          <p:cNvSpPr>
            <a:spLocks noGrp="1"/>
          </p:cNvSpPr>
          <p:nvPr>
            <p:ph type="subTitle" idx="1"/>
          </p:nvPr>
        </p:nvSpPr>
        <p:spPr/>
        <p:txBody>
          <a:bodyPr/>
          <a:lstStyle/>
          <a:p>
            <a:endParaRPr/>
          </a:p>
        </p:txBody>
      </p:sp>
      <p:pic>
        <p:nvPicPr>
          <p:cNvPr id="1027" name="Picture 3"/>
          <p:cNvPicPr>
            <a:picLocks noChangeAspect="1" noChangeArrowheads="1"/>
          </p:cNvPicPr>
          <p:nvPr/>
        </p:nvPicPr>
        <p:blipFill>
          <a:blip r:embed="rId2"/>
          <a:srcRect/>
          <a:stretch>
            <a:fillRect/>
          </a:stretch>
        </p:blipFill>
        <p:spPr bwMode="auto">
          <a:xfrm>
            <a:off x="848299" y="2137272"/>
            <a:ext cx="7425368" cy="3966073"/>
          </a:xfrm>
          <a:prstGeom prst="rect">
            <a:avLst/>
          </a:prstGeom>
          <a:noFill/>
          <a:ln w="9525">
            <a:noFill/>
            <a:miter lim="800000"/>
            <a:headEnd/>
            <a:tailEnd/>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What </a:t>
            </a:r>
            <a:r>
              <a:t>is Empathy?</a:t>
            </a:r>
          </a:p>
        </p:txBody>
      </p:sp>
      <p:sp>
        <p:nvSpPr>
          <p:cNvPr id="3" name="Content Placeholder 2"/>
          <p:cNvSpPr>
            <a:spLocks noGrp="1"/>
          </p:cNvSpPr>
          <p:nvPr>
            <p:ph idx="1"/>
          </p:nvPr>
        </p:nvSpPr>
        <p:spPr/>
        <p:txBody>
          <a:bodyPr/>
          <a:lstStyle/>
          <a:p>
            <a:r>
              <a:t>Empathy is the ability to understand and share the feelings of others. It involves recognizing emotions, putting yourself in someone else’s shoes, and responding with compassion.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Key Aspects of Empathy</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Understanding</a:t>
            </a:r>
            <a:r>
              <a:rPr lang="en-US" b="1" dirty="0" smtClean="0"/>
              <a:t>:</a:t>
            </a:r>
            <a:r>
              <a:rPr lang="en-US" dirty="0" smtClean="0"/>
              <a:t> </a:t>
            </a:r>
          </a:p>
          <a:p>
            <a:pPr fontAlgn="ctr"/>
            <a:r>
              <a:rPr lang="en-US" dirty="0" smtClean="0"/>
              <a:t>Recognizing and being aware of another person's emotions, even if you haven't experienced them yourself. </a:t>
            </a:r>
          </a:p>
          <a:p>
            <a:r>
              <a:rPr lang="en-US" b="1" dirty="0" smtClean="0"/>
              <a:t>Sharing:</a:t>
            </a:r>
            <a:r>
              <a:rPr lang="en-US" dirty="0" smtClean="0"/>
              <a:t> </a:t>
            </a:r>
          </a:p>
          <a:p>
            <a:pPr fontAlgn="ctr"/>
            <a:r>
              <a:rPr lang="en-US" dirty="0" smtClean="0"/>
              <a:t>Feeling a connection to their emotions and responding to them in a meaningful way. </a:t>
            </a:r>
          </a:p>
          <a:p>
            <a:r>
              <a:rPr lang="en-US" b="1" dirty="0" smtClean="0"/>
              <a:t>Perspective-Taking:</a:t>
            </a:r>
            <a:r>
              <a:rPr lang="en-US" dirty="0" smtClean="0"/>
              <a:t> </a:t>
            </a:r>
          </a:p>
          <a:p>
            <a:pPr fontAlgn="ctr"/>
            <a:r>
              <a:rPr lang="en-US" dirty="0" smtClean="0"/>
              <a:t>Imagining yourself in their situation and considering their unique viewpoint. </a:t>
            </a:r>
          </a:p>
          <a:p>
            <a:r>
              <a:rPr lang="en-US" b="1" dirty="0" smtClean="0"/>
              <a:t>Skill and Trait:</a:t>
            </a:r>
            <a:r>
              <a:rPr lang="en-US" dirty="0" smtClean="0"/>
              <a:t> </a:t>
            </a:r>
          </a:p>
          <a:p>
            <a:r>
              <a:rPr lang="en-US" dirty="0" smtClean="0"/>
              <a:t>While people are born with a capacity for empathy, it can also be developed and strengthened through practice and awareness. </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Importance of Empathy</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Building </a:t>
            </a:r>
            <a:r>
              <a:rPr lang="en-US" b="1" dirty="0" smtClean="0"/>
              <a:t>Relationships:</a:t>
            </a:r>
            <a:r>
              <a:rPr lang="en-US" dirty="0" smtClean="0"/>
              <a:t> </a:t>
            </a:r>
          </a:p>
          <a:p>
            <a:pPr fontAlgn="ctr"/>
            <a:r>
              <a:rPr lang="en-US" dirty="0" smtClean="0"/>
              <a:t>It allows for genuine connection, intimacy, and a sense of belonging in human relationships. </a:t>
            </a:r>
          </a:p>
          <a:p>
            <a:r>
              <a:rPr lang="en-US" b="1" dirty="0" smtClean="0"/>
              <a:t>Promoting Understanding:</a:t>
            </a:r>
            <a:r>
              <a:rPr lang="en-US" dirty="0" smtClean="0"/>
              <a:t> </a:t>
            </a:r>
          </a:p>
          <a:p>
            <a:pPr fontAlgn="ctr"/>
            <a:r>
              <a:rPr lang="en-US" dirty="0" smtClean="0"/>
              <a:t>Empathy helps people feel understood and less alone, fostering a more compassionate and supportive environment. </a:t>
            </a:r>
          </a:p>
          <a:p>
            <a:r>
              <a:rPr lang="en-US" b="1" dirty="0" smtClean="0"/>
              <a:t>Guiding Actions:</a:t>
            </a:r>
            <a:r>
              <a:rPr lang="en-US" dirty="0" smtClean="0"/>
              <a:t> </a:t>
            </a:r>
          </a:p>
          <a:p>
            <a:r>
              <a:rPr lang="en-US" dirty="0" smtClean="0"/>
              <a:t>By understanding others' suffering, empathy makes it difficult to ignore it and motivates individuals to respond appropriately. </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Importance </a:t>
            </a:r>
            <a:r>
              <a:t>of Empathy</a:t>
            </a:r>
          </a:p>
        </p:txBody>
      </p:sp>
      <p:sp>
        <p:nvSpPr>
          <p:cNvPr id="3" name="Content Placeholder 2"/>
          <p:cNvSpPr>
            <a:spLocks noGrp="1"/>
          </p:cNvSpPr>
          <p:nvPr>
            <p:ph idx="1"/>
          </p:nvPr>
        </p:nvSpPr>
        <p:spPr/>
        <p:txBody>
          <a:bodyPr/>
          <a:lstStyle/>
          <a:p>
            <a:r>
              <a:t>• Builds trust and stronger relationships</a:t>
            </a:r>
          </a:p>
          <a:p>
            <a:r>
              <a:t>• Enhances communication and understanding</a:t>
            </a:r>
          </a:p>
          <a:p>
            <a:r>
              <a:t>• Reduces conflicts and promotes harmony</a:t>
            </a:r>
          </a:p>
          <a:p>
            <a:r>
              <a:t>• Encourages kindness and support</a:t>
            </a:r>
          </a:p>
          <a:p>
            <a:r>
              <a:t>• Creates inclusive and positive environments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Here are 10 points about empathy</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t>
            </a:r>
            <a:endParaRPr lang="en-US" dirty="0" smtClean="0"/>
          </a:p>
          <a:p>
            <a:r>
              <a:rPr lang="en-US" b="1" dirty="0" smtClean="0"/>
              <a:t>Understanding, Not Just Feeling</a:t>
            </a:r>
            <a:r>
              <a:rPr lang="en-US" dirty="0" smtClean="0"/>
              <a:t>: </a:t>
            </a:r>
          </a:p>
          <a:p>
            <a:pPr fontAlgn="ctr"/>
            <a:r>
              <a:rPr lang="en-US" dirty="0" smtClean="0"/>
              <a:t>Empathy goes beyond simply feeling sorry for someone; it involves intellectually and emotionally understanding their experience. </a:t>
            </a:r>
          </a:p>
          <a:p>
            <a:r>
              <a:rPr lang="en-US" b="1" dirty="0" smtClean="0"/>
              <a:t>Active Listening</a:t>
            </a:r>
            <a:r>
              <a:rPr lang="en-US" dirty="0" smtClean="0"/>
              <a:t>: </a:t>
            </a:r>
          </a:p>
          <a:p>
            <a:pPr fontAlgn="ctr"/>
            <a:r>
              <a:rPr lang="en-US" dirty="0" smtClean="0"/>
              <a:t>To be empathetic, you must fully focus on the speaker, giving them your complete attention without interrupting or planning your response. </a:t>
            </a:r>
          </a:p>
          <a:p>
            <a:r>
              <a:rPr lang="en-US" b="1" dirty="0" smtClean="0"/>
              <a:t>Perspective-Taking</a:t>
            </a:r>
            <a:r>
              <a:rPr lang="en-US" dirty="0" smtClean="0"/>
              <a:t>: </a:t>
            </a:r>
          </a:p>
          <a:p>
            <a:pPr fontAlgn="ctr"/>
            <a:r>
              <a:rPr lang="en-US" dirty="0" smtClean="0"/>
              <a:t>This involves actively trying to see the world from another person's viewpoint, putting yourself in their shoes to grasp their situation and feelings. </a:t>
            </a:r>
          </a:p>
          <a:p>
            <a:r>
              <a:rPr lang="en-US" b="1" dirty="0" smtClean="0"/>
              <a:t>Non-Verbal Communication</a:t>
            </a:r>
            <a:r>
              <a:rPr lang="en-US" dirty="0" smtClean="0"/>
              <a:t>: </a:t>
            </a:r>
          </a:p>
          <a:p>
            <a:pPr fontAlgn="ctr"/>
            <a:r>
              <a:rPr lang="en-US" dirty="0" smtClean="0"/>
              <a:t>Pay attention to body language and facial expressions, as these non-verbal cues often reveal emotions that words alone cannot express. </a:t>
            </a:r>
          </a:p>
          <a:p>
            <a:r>
              <a:rPr lang="en-US" b="1" dirty="0" smtClean="0"/>
              <a:t>Open-Ended Questions</a:t>
            </a:r>
            <a:r>
              <a:rPr lang="en-US" dirty="0" smtClean="0"/>
              <a:t>: </a:t>
            </a:r>
          </a:p>
          <a:p>
            <a:pPr fontAlgn="ctr"/>
            <a:r>
              <a:rPr lang="en-US" dirty="0" smtClean="0"/>
              <a:t>Ask questions that encourage deeper sharing, such as "What has this been like for you?" or "How has this made you feel?". </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b="1" dirty="0" smtClean="0"/>
              <a:t>Non-Judgmental Attitude</a:t>
            </a:r>
            <a:r>
              <a:rPr lang="en-US" dirty="0" smtClean="0"/>
              <a:t>: </a:t>
            </a:r>
          </a:p>
          <a:p>
            <a:pPr fontAlgn="ctr"/>
            <a:r>
              <a:rPr lang="en-US" dirty="0" smtClean="0"/>
              <a:t>Set aside personal judgments to create a safe space for others to express their thoughts and feelings without fear of criticism. </a:t>
            </a:r>
          </a:p>
          <a:p>
            <a:r>
              <a:rPr lang="en-US" b="1" dirty="0" smtClean="0"/>
              <a:t>Self-Reflection</a:t>
            </a:r>
            <a:r>
              <a:rPr lang="en-US" dirty="0" smtClean="0"/>
              <a:t>: </a:t>
            </a:r>
          </a:p>
          <a:p>
            <a:pPr fontAlgn="ctr"/>
            <a:r>
              <a:rPr lang="en-US" dirty="0" smtClean="0"/>
              <a:t>Regularly reflect on your own feelings and actions. Understanding your emotions helps you better understand and connect with others. </a:t>
            </a:r>
          </a:p>
          <a:p>
            <a:r>
              <a:rPr lang="en-US" b="1" dirty="0" smtClean="0"/>
              <a:t>Emotional Intelligence</a:t>
            </a:r>
            <a:r>
              <a:rPr lang="en-US" dirty="0" smtClean="0"/>
              <a:t>: </a:t>
            </a:r>
          </a:p>
          <a:p>
            <a:pPr fontAlgn="ctr"/>
            <a:r>
              <a:rPr lang="en-US" dirty="0" smtClean="0"/>
              <a:t>Empathy is a core component of emotional intelligence, which is vital for healthy social interactions and relationships. </a:t>
            </a:r>
          </a:p>
          <a:p>
            <a:r>
              <a:rPr lang="en-US" b="1" dirty="0" smtClean="0"/>
              <a:t>Builds Trust and Connection</a:t>
            </a:r>
            <a:r>
              <a:rPr lang="en-US" dirty="0" smtClean="0"/>
              <a:t>: </a:t>
            </a:r>
          </a:p>
          <a:p>
            <a:pPr fontAlgn="ctr"/>
            <a:r>
              <a:rPr lang="en-US" dirty="0" smtClean="0"/>
              <a:t>Empathic individuals foster strong bonds by making others feel understood and valued, leading to deeper trust and more meaningful connections. </a:t>
            </a:r>
          </a:p>
          <a:p>
            <a:r>
              <a:rPr lang="en-US" b="1" dirty="0" smtClean="0"/>
              <a:t>Promotes Positive Environments</a:t>
            </a:r>
            <a:r>
              <a:rPr lang="en-US" dirty="0" smtClean="0"/>
              <a:t>: </a:t>
            </a:r>
          </a:p>
          <a:p>
            <a:pPr fontAlgn="ctr"/>
            <a:r>
              <a:rPr lang="en-US" dirty="0" smtClean="0"/>
              <a:t>In professional settings, empathy can lead to better teamwork, improved communication, and a healthier work environment for everyone. </a:t>
            </a:r>
          </a:p>
          <a:p>
            <a:r>
              <a:rPr lang="en-US" dirty="0" smtClean="0"/>
              <a:t/>
            </a:r>
            <a:br>
              <a:rPr lang="en-US" dirty="0" smtClean="0"/>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Empathy is characterized by the 3 C's of care, connect, and communicate</a:t>
            </a:r>
            <a:r>
              <a:rPr lang="en-US" dirty="0" smtClean="0"/>
              <a:t>.</a:t>
            </a:r>
          </a:p>
          <a:p>
            <a:r>
              <a:rPr lang="en-US" dirty="0" smtClean="0"/>
              <a:t>The 3 C's of empathy are Care, Connect, and Communicate, representing the fundamental steps to understanding and responding to another person's feelings. Empathy requires cultivating a caring attitude, forming a genuine connection, and effectively communicating that understanding to the other person.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Care:</a:t>
            </a:r>
            <a:r>
              <a:rPr lang="en-US" dirty="0" smtClean="0"/>
              <a:t> </a:t>
            </a:r>
          </a:p>
          <a:p>
            <a:r>
              <a:rPr lang="en-US" dirty="0" smtClean="0"/>
              <a:t>This is the foundational attitude of empathy, showing a genuine concern for another person's well-being and situation. It involves an internal motivation to understand and help. </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Connect:</a:t>
            </a:r>
            <a:r>
              <a:rPr lang="en-US" dirty="0" smtClean="0"/>
              <a:t> </a:t>
            </a:r>
          </a:p>
          <a:p>
            <a:r>
              <a:rPr lang="en-US" dirty="0" smtClean="0"/>
              <a:t>This involves making a genuine connection with the other person, showing them that you are present and engaged with their feelings. It's about building a relational foundation before offering advice. </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Communicate:</a:t>
            </a:r>
            <a:r>
              <a:rPr lang="en-US" dirty="0" smtClean="0"/>
              <a:t> </a:t>
            </a:r>
          </a:p>
          <a:p>
            <a:r>
              <a:rPr lang="en-US" dirty="0" smtClean="0"/>
              <a:t>After connecting, you must effectively communicate that you understand and care about their perspective and feelings. This involves checking for accuracy and ensuring your understanding is correct. </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Types </a:t>
            </a:r>
            <a:r>
              <a:t>of Empathy</a:t>
            </a:r>
          </a:p>
        </p:txBody>
      </p:sp>
      <p:sp>
        <p:nvSpPr>
          <p:cNvPr id="3" name="Content Placeholder 2"/>
          <p:cNvSpPr>
            <a:spLocks noGrp="1"/>
          </p:cNvSpPr>
          <p:nvPr>
            <p:ph idx="1"/>
          </p:nvPr>
        </p:nvSpPr>
        <p:spPr/>
        <p:txBody>
          <a:bodyPr/>
          <a:lstStyle/>
          <a:p>
            <a:r>
              <a:t>• Cognitive Empathy – Understanding others’ thoughts and perspectives</a:t>
            </a:r>
          </a:p>
          <a:p>
            <a:r>
              <a:t>• Emotional Empathy – Sharing and feeling others’ emotions</a:t>
            </a:r>
          </a:p>
          <a:p>
            <a:r>
              <a:t>• Compassionate Empathy – Taking action to help others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Cognitive Empathy</a:t>
            </a:r>
            <a:endParaRPr lang="en-US" dirty="0"/>
          </a:p>
        </p:txBody>
      </p:sp>
      <p:sp>
        <p:nvSpPr>
          <p:cNvPr id="3" name="Content Placeholder 2"/>
          <p:cNvSpPr>
            <a:spLocks noGrp="1"/>
          </p:cNvSpPr>
          <p:nvPr>
            <p:ph idx="1"/>
          </p:nvPr>
        </p:nvSpPr>
        <p:spPr/>
        <p:txBody>
          <a:bodyPr>
            <a:normAutofit/>
          </a:bodyPr>
          <a:lstStyle/>
          <a:p>
            <a:r>
              <a:rPr lang="en-US" dirty="0" smtClean="0"/>
              <a:t>Cognitive empathy is the ability to understand another person's mental state, thoughts, and feelings by taking their perspective, often referred to as "putting yourself in their shoes". This differs from affective empathy, which is about sharing or feeling another's emotions. Cognitive empathy is a key social cognition skill essential for functioning in a complex social world and can be learned and improved with practice.  </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it works</a:t>
            </a:r>
          </a:p>
        </p:txBody>
      </p:sp>
      <p:sp>
        <p:nvSpPr>
          <p:cNvPr id="3" name="Content Placeholder 2"/>
          <p:cNvSpPr>
            <a:spLocks noGrp="1"/>
          </p:cNvSpPr>
          <p:nvPr>
            <p:ph idx="1"/>
          </p:nvPr>
        </p:nvSpPr>
        <p:spPr/>
        <p:txBody>
          <a:bodyPr>
            <a:normAutofit fontScale="92500" lnSpcReduction="20000"/>
          </a:bodyPr>
          <a:lstStyle/>
          <a:p>
            <a:r>
              <a:rPr lang="en-US" b="1" dirty="0" smtClean="0"/>
              <a:t>Perspective-Taking</a:t>
            </a:r>
            <a:r>
              <a:rPr lang="en-US" dirty="0" smtClean="0"/>
              <a:t>: </a:t>
            </a:r>
          </a:p>
          <a:p>
            <a:pPr fontAlgn="ctr"/>
            <a:r>
              <a:rPr lang="en-US" dirty="0" smtClean="0"/>
              <a:t>Cognitive empathy relies on your ability to imagine what it's like to be in someone else's situation and understand their point of view. </a:t>
            </a:r>
          </a:p>
          <a:p>
            <a:r>
              <a:rPr lang="en-US" b="1" dirty="0" err="1" smtClean="0"/>
              <a:t>Mentalizing</a:t>
            </a:r>
            <a:r>
              <a:rPr lang="en-US" dirty="0" smtClean="0"/>
              <a:t>: </a:t>
            </a:r>
          </a:p>
          <a:p>
            <a:pPr fontAlgn="ctr"/>
            <a:r>
              <a:rPr lang="en-US" dirty="0" smtClean="0"/>
              <a:t>It's also associated with </a:t>
            </a:r>
            <a:r>
              <a:rPr lang="en-US" dirty="0" smtClean="0">
                <a:hlinkClick r:id="rId2"/>
              </a:rPr>
              <a:t>theory of mind</a:t>
            </a:r>
            <a:r>
              <a:rPr lang="en-US" dirty="0" smtClean="0"/>
              <a:t> (</a:t>
            </a:r>
            <a:r>
              <a:rPr lang="en-US" dirty="0" err="1" smtClean="0"/>
              <a:t>ToM</a:t>
            </a:r>
            <a:r>
              <a:rPr lang="en-US" dirty="0" smtClean="0"/>
              <a:t>) or </a:t>
            </a:r>
            <a:r>
              <a:rPr lang="en-US" dirty="0" err="1" smtClean="0"/>
              <a:t>mentalizing</a:t>
            </a:r>
            <a:r>
              <a:rPr lang="en-US" dirty="0" smtClean="0"/>
              <a:t>, the capacity to attribute mental states to oneself and others. </a:t>
            </a:r>
          </a:p>
          <a:p>
            <a:r>
              <a:rPr lang="en-US" b="1" dirty="0" smtClean="0"/>
              <a:t>Intellectual Approach</a:t>
            </a:r>
            <a:r>
              <a:rPr lang="en-US" dirty="0" smtClean="0"/>
              <a:t>: </a:t>
            </a:r>
          </a:p>
          <a:p>
            <a:r>
              <a:rPr lang="en-US" dirty="0" smtClean="0"/>
              <a:t>This type of empathy is an intellectual process of understanding, rather than a direct emotional response to another person's feelings. </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Cognitive Empathy</a:t>
            </a:r>
            <a:br>
              <a:rPr lang="en-US" dirty="0" smtClean="0"/>
            </a:br>
            <a:endParaRPr lang="en-US" dirty="0"/>
          </a:p>
        </p:txBody>
      </p:sp>
      <p:sp>
        <p:nvSpPr>
          <p:cNvPr id="3" name="Content Placeholder 2"/>
          <p:cNvSpPr>
            <a:spLocks noGrp="1"/>
          </p:cNvSpPr>
          <p:nvPr>
            <p:ph idx="1"/>
          </p:nvPr>
        </p:nvSpPr>
        <p:spPr/>
        <p:txBody>
          <a:bodyPr>
            <a:normAutofit/>
          </a:bodyPr>
          <a:lstStyle/>
          <a:p>
            <a:pPr fontAlgn="ctr"/>
            <a:r>
              <a:rPr lang="en-US" dirty="0" smtClean="0"/>
              <a:t>Recognizing </a:t>
            </a:r>
            <a:r>
              <a:rPr lang="en-US" dirty="0" smtClean="0"/>
              <a:t>that a friend is disappointed after a job rejection and saying, "I know you're sad, and what you're going through is hard". </a:t>
            </a:r>
          </a:p>
          <a:p>
            <a:pPr fontAlgn="ctr"/>
            <a:r>
              <a:rPr lang="en-US" dirty="0" smtClean="0"/>
              <a:t>Understanding why a colleague might be resentful after someone less qualified received a promotion. </a:t>
            </a:r>
          </a:p>
          <a:p>
            <a:r>
              <a:rPr lang="en-US" dirty="0" smtClean="0"/>
              <a:t>During a negotiation, understanding the other party's needs and motivations without necessarily feeling their stress. </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Importance and Development</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Social </a:t>
            </a:r>
            <a:r>
              <a:rPr lang="en-US" b="1" dirty="0" smtClean="0"/>
              <a:t>Functioning</a:t>
            </a:r>
            <a:r>
              <a:rPr lang="en-US" dirty="0" smtClean="0"/>
              <a:t>: </a:t>
            </a:r>
          </a:p>
          <a:p>
            <a:pPr fontAlgn="ctr"/>
            <a:r>
              <a:rPr lang="en-US" dirty="0" smtClean="0"/>
              <a:t>Cognitive empathy is crucial for successful social interaction and adapting to social environments. </a:t>
            </a:r>
          </a:p>
          <a:p>
            <a:r>
              <a:rPr lang="en-US" b="1" dirty="0" smtClean="0"/>
              <a:t>Learnable Skill</a:t>
            </a:r>
            <a:r>
              <a:rPr lang="en-US" dirty="0" smtClean="0"/>
              <a:t>: </a:t>
            </a:r>
          </a:p>
          <a:p>
            <a:pPr fontAlgn="ctr"/>
            <a:r>
              <a:rPr lang="en-US" dirty="0" smtClean="0"/>
              <a:t>Unlike affective empathy, which may come more naturally to some, cognitive empathy is a skill that can be developed and improved with deliberate effort and practice. </a:t>
            </a:r>
          </a:p>
          <a:p>
            <a:r>
              <a:rPr lang="en-US" b="1" dirty="0" smtClean="0"/>
              <a:t>Practical Applications</a:t>
            </a:r>
            <a:r>
              <a:rPr lang="en-US" dirty="0" smtClean="0"/>
              <a:t>: </a:t>
            </a:r>
          </a:p>
          <a:p>
            <a:r>
              <a:rPr lang="en-US" dirty="0" smtClean="0"/>
              <a:t>Cognitive empathy is vital in various professional settings, like leadership, as it enables individuals to better understand and respond to others' needs and behaviors. </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Emotional Empathy</a:t>
            </a:r>
            <a:endParaRPr lang="en-US" dirty="0"/>
          </a:p>
        </p:txBody>
      </p:sp>
      <p:sp>
        <p:nvSpPr>
          <p:cNvPr id="3" name="Content Placeholder 2"/>
          <p:cNvSpPr>
            <a:spLocks noGrp="1"/>
          </p:cNvSpPr>
          <p:nvPr>
            <p:ph idx="1"/>
          </p:nvPr>
        </p:nvSpPr>
        <p:spPr/>
        <p:txBody>
          <a:bodyPr>
            <a:normAutofit/>
          </a:bodyPr>
          <a:lstStyle/>
          <a:p>
            <a:r>
              <a:rPr lang="en-US" dirty="0" smtClean="0"/>
              <a:t>Emotional empathy, or affective empathy, is the ability to feel and share the emotions of another person as if they were your own. It is a deep, intuitive, and contagious response that often manifests as a mirroring of the other person's feelings, a sense of being in sync with them, or a personal distress in response to their pain. This emotional connection can motivate a desire to help or comfort them, though it can also be overwhelming at times. </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it Works</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t>Emotional </a:t>
            </a:r>
            <a:r>
              <a:rPr lang="en-US" b="1" dirty="0" smtClean="0"/>
              <a:t>Contagion:</a:t>
            </a:r>
            <a:r>
              <a:rPr lang="en-US" dirty="0" smtClean="0"/>
              <a:t> </a:t>
            </a:r>
          </a:p>
          <a:p>
            <a:pPr fontAlgn="ctr"/>
            <a:r>
              <a:rPr lang="en-US" dirty="0" smtClean="0"/>
              <a:t>You are affected by another person's emotional or arousal state, which creates a shared feeling. </a:t>
            </a:r>
          </a:p>
          <a:p>
            <a:r>
              <a:rPr lang="en-US" b="1" dirty="0" smtClean="0"/>
              <a:t>Mirroring:</a:t>
            </a:r>
            <a:r>
              <a:rPr lang="en-US" dirty="0" smtClean="0"/>
              <a:t> </a:t>
            </a:r>
          </a:p>
          <a:p>
            <a:pPr fontAlgn="ctr"/>
            <a:r>
              <a:rPr lang="en-US" dirty="0" smtClean="0"/>
              <a:t>You might unconsciously mimic the behaviors and emotional expressions of the other person. </a:t>
            </a:r>
          </a:p>
          <a:p>
            <a:r>
              <a:rPr lang="en-US" b="1" dirty="0" smtClean="0"/>
              <a:t>Shared Experience:</a:t>
            </a:r>
            <a:r>
              <a:rPr lang="en-US" dirty="0" smtClean="0"/>
              <a:t> </a:t>
            </a:r>
          </a:p>
          <a:p>
            <a:r>
              <a:rPr lang="en-US" dirty="0" smtClean="0"/>
              <a:t>You move from a cognitive understanding of their situation to an actual shared emotional state. </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Examples of Emotional Empathy</a:t>
            </a:r>
            <a:br>
              <a:rPr lang="en-US" dirty="0" smtClean="0"/>
            </a:br>
            <a:endParaRPr lang="en-US" dirty="0"/>
          </a:p>
        </p:txBody>
      </p:sp>
      <p:sp>
        <p:nvSpPr>
          <p:cNvPr id="3" name="Content Placeholder 2"/>
          <p:cNvSpPr>
            <a:spLocks noGrp="1"/>
          </p:cNvSpPr>
          <p:nvPr>
            <p:ph idx="1"/>
          </p:nvPr>
        </p:nvSpPr>
        <p:spPr/>
        <p:txBody>
          <a:bodyPr/>
          <a:lstStyle/>
          <a:p>
            <a:pPr fontAlgn="ctr"/>
            <a:r>
              <a:rPr lang="en-US" b="1" dirty="0" smtClean="0"/>
              <a:t>Seeing </a:t>
            </a:r>
            <a:r>
              <a:rPr lang="en-US" b="1" dirty="0" smtClean="0"/>
              <a:t>a loved one cry</a:t>
            </a:r>
            <a:r>
              <a:rPr lang="en-US" dirty="0" smtClean="0"/>
              <a:t>: and feeling your own sadness in response. </a:t>
            </a:r>
          </a:p>
          <a:p>
            <a:pPr fontAlgn="ctr"/>
            <a:r>
              <a:rPr lang="en-US" b="1" dirty="0" smtClean="0"/>
              <a:t>Watching a sad movie</a:t>
            </a:r>
            <a:r>
              <a:rPr lang="en-US" dirty="0" smtClean="0"/>
              <a:t>: and feeling the character's sorrow. </a:t>
            </a:r>
          </a:p>
          <a:p>
            <a:r>
              <a:rPr lang="en-US" b="1" dirty="0" smtClean="0"/>
              <a:t>Hearing about a friend's triumph</a:t>
            </a:r>
            <a:r>
              <a:rPr lang="en-US" dirty="0" smtClean="0"/>
              <a:t>: and genuinely feeling happy for them. </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Benefits and Drawbacks </a:t>
            </a:r>
            <a:br>
              <a:rPr lang="en-US" dirty="0" smtClean="0"/>
            </a:br>
            <a:endParaRPr lang="en-US" dirty="0"/>
          </a:p>
        </p:txBody>
      </p:sp>
      <p:sp>
        <p:nvSpPr>
          <p:cNvPr id="3" name="Content Placeholder 2"/>
          <p:cNvSpPr>
            <a:spLocks noGrp="1"/>
          </p:cNvSpPr>
          <p:nvPr>
            <p:ph idx="1"/>
          </p:nvPr>
        </p:nvSpPr>
        <p:spPr/>
        <p:txBody>
          <a:bodyPr>
            <a:normAutofit/>
          </a:bodyPr>
          <a:lstStyle/>
          <a:p>
            <a:r>
              <a:rPr lang="en-US" b="1" dirty="0" smtClean="0"/>
              <a:t>Benefits</a:t>
            </a:r>
            <a:r>
              <a:rPr lang="en-US" b="1" dirty="0" smtClean="0"/>
              <a:t>:</a:t>
            </a:r>
            <a:r>
              <a:rPr lang="en-US" dirty="0" smtClean="0"/>
              <a:t> </a:t>
            </a:r>
          </a:p>
          <a:p>
            <a:r>
              <a:rPr lang="en-US" dirty="0" smtClean="0"/>
              <a:t>Fosters deep connections, strengthens interpersonal relationships, and motivates compassionate behavior and helping others.</a:t>
            </a:r>
          </a:p>
          <a:p>
            <a:r>
              <a:rPr lang="en-US" b="1" dirty="0" smtClean="0"/>
              <a:t>Drawbacks:</a:t>
            </a:r>
            <a:r>
              <a:rPr lang="en-US" dirty="0" smtClean="0"/>
              <a:t> </a:t>
            </a:r>
          </a:p>
          <a:p>
            <a:r>
              <a:rPr lang="en-US" dirty="0" smtClean="0"/>
              <a:t>It can be overwhelming and contagious, leading to a person taking on unnecessary feelings or becoming emotionally drained</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Compassionate Empathy</a:t>
            </a:r>
            <a:endParaRPr lang="en-US" dirty="0"/>
          </a:p>
        </p:txBody>
      </p:sp>
      <p:sp>
        <p:nvSpPr>
          <p:cNvPr id="3" name="Content Placeholder 2"/>
          <p:cNvSpPr>
            <a:spLocks noGrp="1"/>
          </p:cNvSpPr>
          <p:nvPr>
            <p:ph idx="1"/>
          </p:nvPr>
        </p:nvSpPr>
        <p:spPr/>
        <p:txBody>
          <a:bodyPr>
            <a:normAutofit/>
          </a:bodyPr>
          <a:lstStyle/>
          <a:p>
            <a:pPr fontAlgn="ctr"/>
            <a:r>
              <a:rPr lang="en-US" dirty="0" smtClean="0"/>
              <a:t>Compassionate empathy is the ability to understand another person's feelings and circumstances, and to be motivated to act to help improve their situation. It combines cognitive empathy (understanding) with a compassionate desire to alleviate suffering, moving beyond merely feeling another's pain to taking supportive action.  </a:t>
            </a:r>
          </a:p>
          <a:p>
            <a:r>
              <a:rPr lang="en-US" dirty="0" smtClean="0"/>
              <a:t/>
            </a:r>
            <a:br>
              <a:rPr lang="en-US" dirty="0" smtClean="0"/>
            </a:b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Components of Compassionate Empathy</a:t>
            </a:r>
            <a:br>
              <a:rPr lang="en-US" dirty="0" smtClean="0"/>
            </a:br>
            <a:endParaRPr lang="en-US" dirty="0"/>
          </a:p>
        </p:txBody>
      </p:sp>
      <p:sp>
        <p:nvSpPr>
          <p:cNvPr id="3" name="Content Placeholder 2"/>
          <p:cNvSpPr>
            <a:spLocks noGrp="1"/>
          </p:cNvSpPr>
          <p:nvPr>
            <p:ph idx="1"/>
          </p:nvPr>
        </p:nvSpPr>
        <p:spPr/>
        <p:txBody>
          <a:bodyPr>
            <a:normAutofit/>
          </a:bodyPr>
          <a:lstStyle/>
          <a:p>
            <a:pPr fontAlgn="ctr"/>
            <a:r>
              <a:rPr lang="en-US" b="1" dirty="0" smtClean="0"/>
              <a:t>Cognitive </a:t>
            </a:r>
            <a:r>
              <a:rPr lang="en-US" b="1" dirty="0" smtClean="0"/>
              <a:t>Empathy:</a:t>
            </a:r>
            <a:r>
              <a:rPr lang="en-US" dirty="0" smtClean="0"/>
              <a:t> The ability to understand someone's perspective and feelings, seeing the world through their eyes. </a:t>
            </a:r>
          </a:p>
          <a:p>
            <a:pPr fontAlgn="ctr"/>
            <a:r>
              <a:rPr lang="en-US" b="1" dirty="0" smtClean="0"/>
              <a:t>Emotional Resonance:</a:t>
            </a:r>
            <a:r>
              <a:rPr lang="en-US" dirty="0" smtClean="0"/>
              <a:t> Feeling a connection to what the other person is experiencing. </a:t>
            </a:r>
          </a:p>
          <a:p>
            <a:r>
              <a:rPr lang="en-US" b="1" dirty="0" smtClean="0"/>
              <a:t>Motivation to Help:</a:t>
            </a:r>
            <a:r>
              <a:rPr lang="en-US" dirty="0" smtClean="0"/>
              <a:t> A desire to take action to improve the other person's well-being and relieve their suffering. </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Why Compassionate Empathy is Important</a:t>
            </a:r>
            <a:br>
              <a:rPr lang="en-US" dirty="0" smtClean="0"/>
            </a:br>
            <a:endParaRPr lang="en-US" dirty="0"/>
          </a:p>
        </p:txBody>
      </p:sp>
      <p:sp>
        <p:nvSpPr>
          <p:cNvPr id="3" name="Content Placeholder 2"/>
          <p:cNvSpPr>
            <a:spLocks noGrp="1"/>
          </p:cNvSpPr>
          <p:nvPr>
            <p:ph idx="1"/>
          </p:nvPr>
        </p:nvSpPr>
        <p:spPr/>
        <p:txBody>
          <a:bodyPr>
            <a:normAutofit/>
          </a:bodyPr>
          <a:lstStyle/>
          <a:p>
            <a:pPr fontAlgn="ctr"/>
            <a:r>
              <a:rPr lang="en-US" dirty="0" smtClean="0"/>
              <a:t>It </a:t>
            </a:r>
            <a:r>
              <a:rPr lang="en-US" dirty="0" smtClean="0"/>
              <a:t>strengthens human connections by showing genuine care and interest in another's well-being. </a:t>
            </a:r>
          </a:p>
          <a:p>
            <a:pPr fontAlgn="ctr"/>
            <a:r>
              <a:rPr lang="en-US" dirty="0" smtClean="0"/>
              <a:t>It allows for constructive support, as you understand the situation and are motivated to find a solution. </a:t>
            </a:r>
          </a:p>
          <a:p>
            <a:r>
              <a:rPr lang="en-US" dirty="0" smtClean="0"/>
              <a:t>It moves past self-centeredness, leading to actions that are morally and ethically fair for the other person. </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Barriers </a:t>
            </a:r>
            <a:r>
              <a:t>to Empathy</a:t>
            </a:r>
          </a:p>
        </p:txBody>
      </p:sp>
      <p:sp>
        <p:nvSpPr>
          <p:cNvPr id="3" name="Content Placeholder 2"/>
          <p:cNvSpPr>
            <a:spLocks noGrp="1"/>
          </p:cNvSpPr>
          <p:nvPr>
            <p:ph idx="1"/>
          </p:nvPr>
        </p:nvSpPr>
        <p:spPr/>
        <p:txBody>
          <a:bodyPr/>
          <a:lstStyle/>
          <a:p>
            <a:r>
              <a:t>• Prejudices and stereotypes</a:t>
            </a:r>
          </a:p>
          <a:p>
            <a:r>
              <a:t>• Lack of awareness or self-centeredness</a:t>
            </a:r>
          </a:p>
          <a:p>
            <a:r>
              <a:t>• Stress and emotional exhaustion</a:t>
            </a:r>
          </a:p>
          <a:p>
            <a:r>
              <a:t>• Poor listening skills</a:t>
            </a:r>
          </a:p>
          <a:p>
            <a:r>
              <a:t>• Cultural and communication differences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Internal Barriers</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Fear </a:t>
            </a:r>
            <a:r>
              <a:rPr lang="en-US" b="1" dirty="0" smtClean="0"/>
              <a:t>and Insecurity:</a:t>
            </a:r>
            <a:r>
              <a:rPr lang="en-US" dirty="0" smtClean="0"/>
              <a:t> </a:t>
            </a:r>
          </a:p>
          <a:p>
            <a:pPr fontAlgn="ctr"/>
            <a:r>
              <a:rPr lang="en-US" dirty="0" smtClean="0"/>
              <a:t>Fear of rejection, failure, or not knowing the right thing to say can prevent empathetic connection. </a:t>
            </a:r>
          </a:p>
          <a:p>
            <a:r>
              <a:rPr lang="en-US" b="1" dirty="0" smtClean="0"/>
              <a:t>Fatigue and Stress:</a:t>
            </a:r>
            <a:r>
              <a:rPr lang="en-US" dirty="0" smtClean="0"/>
              <a:t> </a:t>
            </a:r>
          </a:p>
          <a:p>
            <a:pPr fontAlgn="ctr"/>
            <a:r>
              <a:rPr lang="en-US" dirty="0" smtClean="0"/>
              <a:t>Being tired, overworked, or emotionally depleted reduces the mental capacity for empathy. </a:t>
            </a:r>
          </a:p>
          <a:p>
            <a:r>
              <a:rPr lang="en-US" b="1" dirty="0" smtClean="0"/>
              <a:t>Cognitive Biases:</a:t>
            </a:r>
            <a:r>
              <a:rPr lang="en-US" dirty="0" smtClean="0"/>
              <a:t> </a:t>
            </a:r>
          </a:p>
          <a:p>
            <a:pPr fontAlgn="ctr"/>
            <a:r>
              <a:rPr lang="en-US" dirty="0" smtClean="0"/>
              <a:t>Prejudices, stereotypes, and in-group biases lead to biased judgments and assumptions, making it difficult to empathize with those perceived as different. </a:t>
            </a:r>
          </a:p>
          <a:p>
            <a:r>
              <a:rPr lang="en-US" b="1" dirty="0" smtClean="0"/>
              <a:t>Lack of Self-Awareness:</a:t>
            </a:r>
            <a:r>
              <a:rPr lang="en-US" dirty="0" smtClean="0"/>
              <a:t> </a:t>
            </a:r>
          </a:p>
          <a:p>
            <a:pPr fontAlgn="ctr"/>
            <a:r>
              <a:rPr lang="en-US" dirty="0" smtClean="0"/>
              <a:t>Not being aware of your own thoughts, feelings, or biases can impede your ability to connect with others. </a:t>
            </a:r>
          </a:p>
          <a:p>
            <a:r>
              <a:rPr lang="en-US" b="1" dirty="0" smtClean="0"/>
              <a:t>Judgment and Criticism:</a:t>
            </a:r>
            <a:r>
              <a:rPr lang="en-US" dirty="0" smtClean="0"/>
              <a:t> </a:t>
            </a:r>
          </a:p>
          <a:p>
            <a:r>
              <a:rPr lang="en-US" dirty="0" smtClean="0"/>
              <a:t>Holding onto judgments or engaging in excessive criticism prevents you from understanding another's perspective. </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External &amp; Situational Barriers</a:t>
            </a:r>
            <a:br>
              <a:rPr lang="en-US"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Distractions</a:t>
            </a:r>
            <a:r>
              <a:rPr lang="en-US" b="1" dirty="0" smtClean="0"/>
              <a:t>:</a:t>
            </a:r>
            <a:r>
              <a:rPr lang="en-US" dirty="0" smtClean="0"/>
              <a:t> </a:t>
            </a:r>
          </a:p>
          <a:p>
            <a:pPr fontAlgn="ctr"/>
            <a:r>
              <a:rPr lang="en-US" dirty="0" smtClean="0"/>
              <a:t>Environmental distractions and constant digital notifications fragment attention, making it hard to focus on another person's needs. </a:t>
            </a:r>
          </a:p>
          <a:p>
            <a:r>
              <a:rPr lang="en-US" b="1" dirty="0" smtClean="0"/>
              <a:t>Distance and Lack of Exposure:</a:t>
            </a:r>
            <a:r>
              <a:rPr lang="en-US" dirty="0" smtClean="0"/>
              <a:t> </a:t>
            </a:r>
          </a:p>
          <a:p>
            <a:pPr fontAlgn="ctr"/>
            <a:r>
              <a:rPr lang="en-US" dirty="0" smtClean="0"/>
              <a:t>Geographical or social distance, as well as a lack of exposure to diverse experiences, makes it harder to relate to people whose lives are different. </a:t>
            </a:r>
          </a:p>
          <a:p>
            <a:r>
              <a:rPr lang="en-US" b="1" dirty="0" smtClean="0"/>
              <a:t>Time Constraints:</a:t>
            </a:r>
            <a:r>
              <a:rPr lang="en-US" dirty="0" smtClean="0"/>
              <a:t> </a:t>
            </a:r>
          </a:p>
          <a:p>
            <a:pPr fontAlgn="ctr"/>
            <a:r>
              <a:rPr lang="en-US" dirty="0" smtClean="0"/>
              <a:t>Feeling rushed or that there isn't enough time can limit the opportunity for deeper, empathetic engagement. </a:t>
            </a:r>
          </a:p>
          <a:p>
            <a:r>
              <a:rPr lang="en-US" b="1" dirty="0" smtClean="0"/>
              <a:t>Communication Barriers:</a:t>
            </a:r>
            <a:r>
              <a:rPr lang="en-US" dirty="0" smtClean="0"/>
              <a:t> </a:t>
            </a:r>
          </a:p>
          <a:p>
            <a:r>
              <a:rPr lang="en-US" dirty="0" smtClean="0"/>
              <a:t>Poor listening skills, poor choice of words, or cultural differences can create misunderstandings and block empathy. </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Emotional &amp; Interpersonal Barriers</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Emotional </a:t>
            </a:r>
            <a:r>
              <a:rPr lang="en-US" b="1" dirty="0" smtClean="0"/>
              <a:t>State:</a:t>
            </a:r>
            <a:r>
              <a:rPr lang="en-US" dirty="0" smtClean="0"/>
              <a:t> </a:t>
            </a:r>
          </a:p>
          <a:p>
            <a:pPr fontAlgn="ctr"/>
            <a:r>
              <a:rPr lang="en-US" dirty="0" smtClean="0"/>
              <a:t>When feeling overwhelmed or distressed by one's own problems, it's difficult to have the mental or emotional space to empathize with others. </a:t>
            </a:r>
          </a:p>
          <a:p>
            <a:r>
              <a:rPr lang="en-US" b="1" dirty="0" smtClean="0"/>
              <a:t>Poor Listening:</a:t>
            </a:r>
            <a:r>
              <a:rPr lang="en-US" dirty="0" smtClean="0"/>
              <a:t> </a:t>
            </a:r>
          </a:p>
          <a:p>
            <a:pPr fontAlgn="ctr"/>
            <a:r>
              <a:rPr lang="en-US" dirty="0" smtClean="0"/>
              <a:t>Failure to truly listen and acknowledge someone's feelings, rather than just hearing their words, is a major obstacle. </a:t>
            </a:r>
          </a:p>
          <a:p>
            <a:r>
              <a:rPr lang="en-US" b="1" dirty="0" smtClean="0"/>
              <a:t>Emotional Detachment:</a:t>
            </a:r>
            <a:r>
              <a:rPr lang="en-US" dirty="0" smtClean="0"/>
              <a:t> </a:t>
            </a:r>
          </a:p>
          <a:p>
            <a:r>
              <a:rPr lang="en-US" dirty="0" smtClean="0"/>
              <a:t>Disconnecting emotionally as a self-protective mechanism, while sometimes necessary for well-being, can hinder empathetic connection. </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mtClean="0"/>
              <a:t>How </a:t>
            </a:r>
            <a:r>
              <a:t>to Develop Empathy</a:t>
            </a:r>
          </a:p>
        </p:txBody>
      </p:sp>
      <p:sp>
        <p:nvSpPr>
          <p:cNvPr id="3" name="Content Placeholder 2"/>
          <p:cNvSpPr>
            <a:spLocks noGrp="1"/>
          </p:cNvSpPr>
          <p:nvPr>
            <p:ph idx="1"/>
          </p:nvPr>
        </p:nvSpPr>
        <p:spPr/>
        <p:txBody>
          <a:bodyPr/>
          <a:lstStyle/>
          <a:p>
            <a:r>
              <a:t>• Practice active listening</a:t>
            </a:r>
          </a:p>
          <a:p>
            <a:r>
              <a:t>• Be open-minded and non-judgmental</a:t>
            </a:r>
          </a:p>
          <a:p>
            <a:r>
              <a:t>• Observe body language and emotions</a:t>
            </a:r>
          </a:p>
          <a:p>
            <a:r>
              <a:t>• Show compassion through actions</a:t>
            </a:r>
          </a:p>
          <a:p>
            <a:r>
              <a:t>• Reflect on your own feelings and experiences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457201" y="297455"/>
            <a:ext cx="8229600" cy="6312665"/>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145754" y="396607"/>
            <a:ext cx="7006727" cy="5816906"/>
          </a:xfrm>
          <a:prstGeom prst="rect">
            <a:avLst/>
          </a:prstGeom>
          <a:noFill/>
          <a:ln w="9525">
            <a:noFill/>
            <a:miter lim="800000"/>
            <a:headEnd/>
            <a:tailEnd/>
          </a:ln>
          <a:effec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41</TotalTime>
  <Words>323</Words>
  <Application>Microsoft Macintosh PowerPoint</Application>
  <PresentationFormat>On-screen Show (4:3)</PresentationFormat>
  <Paragraphs>148</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Flow</vt:lpstr>
      <vt:lpstr>Empathy</vt:lpstr>
      <vt:lpstr>What is Empathy?</vt:lpstr>
      <vt:lpstr>Key Aspects of Empathy </vt:lpstr>
      <vt:lpstr>Importance of Empathy</vt:lpstr>
      <vt:lpstr>Importance of Empathy</vt:lpstr>
      <vt:lpstr>Here are 10 points about empathy</vt:lpstr>
      <vt:lpstr>Slide 7</vt:lpstr>
      <vt:lpstr>Slide 8</vt:lpstr>
      <vt:lpstr>Slide 9</vt:lpstr>
      <vt:lpstr>Slide 10</vt:lpstr>
      <vt:lpstr>Slide 11</vt:lpstr>
      <vt:lpstr>Types of Empathy</vt:lpstr>
      <vt:lpstr>Cognitive Empathy</vt:lpstr>
      <vt:lpstr>How it works</vt:lpstr>
      <vt:lpstr>Examples of Cognitive Empathy </vt:lpstr>
      <vt:lpstr>Importance and Development </vt:lpstr>
      <vt:lpstr>Emotional Empathy</vt:lpstr>
      <vt:lpstr>How it Works </vt:lpstr>
      <vt:lpstr>Examples of Emotional Empathy </vt:lpstr>
      <vt:lpstr>Benefits and Drawbacks  </vt:lpstr>
      <vt:lpstr>Compassionate Empathy</vt:lpstr>
      <vt:lpstr>Components of Compassionate Empathy </vt:lpstr>
      <vt:lpstr>Why Compassionate Empathy is Important </vt:lpstr>
      <vt:lpstr>Barriers to Empathy</vt:lpstr>
      <vt:lpstr>Internal Barriers </vt:lpstr>
      <vt:lpstr>External &amp; Situational Barriers </vt:lpstr>
      <vt:lpstr>Emotional &amp; Interpersonal Barriers </vt:lpstr>
      <vt:lpstr>How to Develop Empathy</vt:lpstr>
      <vt:lpstr>Slide 29</vt:lpstr>
      <vt:lpstr>Slide 30</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Empathy</dc:title>
  <dc:creator>hod</dc:creator>
  <dc:description>generated using python-pptx</dc:description>
  <cp:lastModifiedBy>hod</cp:lastModifiedBy>
  <cp:revision>9</cp:revision>
  <dcterms:created xsi:type="dcterms:W3CDTF">2013-01-27T09:14:16Z</dcterms:created>
  <dcterms:modified xsi:type="dcterms:W3CDTF">2025-09-19T09:37:24Z</dcterms:modified>
</cp:coreProperties>
</file>