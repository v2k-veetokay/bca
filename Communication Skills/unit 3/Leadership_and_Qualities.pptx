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7" r:id="rId5"/>
    <p:sldId id="268" r:id="rId6"/>
    <p:sldId id="284" r:id="rId7"/>
    <p:sldId id="285" r:id="rId8"/>
    <p:sldId id="292" r:id="rId9"/>
    <p:sldId id="291" r:id="rId10"/>
    <p:sldId id="286" r:id="rId11"/>
    <p:sldId id="287" r:id="rId12"/>
    <p:sldId id="288" r:id="rId13"/>
    <p:sldId id="289" r:id="rId14"/>
    <p:sldId id="290" r:id="rId15"/>
    <p:sldId id="269" r:id="rId16"/>
    <p:sldId id="278" r:id="rId17"/>
    <p:sldId id="279" r:id="rId18"/>
    <p:sldId id="273" r:id="rId19"/>
    <p:sldId id="281" r:id="rId20"/>
    <p:sldId id="282" r:id="rId21"/>
    <p:sldId id="283" r:id="rId22"/>
    <p:sldId id="293" r:id="rId23"/>
    <p:sldId id="266"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1FF6DA9-008F-8B48-92A6-B652298478B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CAD085-E8A6-8845-BD4E-CB4CCA059FC4}" type="datetimeFigureOut">
              <a:rPr lang="en-US" smtClean="0"/>
              <a:pPr/>
              <a:t>10/16/2025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1FF6DA9-008F-8B48-92A6-B652298478B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Leadership and Its Qualities</a:t>
            </a:r>
          </a:p>
        </p:txBody>
      </p:sp>
      <p:sp>
        <p:nvSpPr>
          <p:cNvPr id="3" name="Subtitle 2"/>
          <p:cNvSpPr>
            <a:spLocks noGrp="1"/>
          </p:cNvSpPr>
          <p:nvPr>
            <p:ph type="subTitle" idx="1"/>
          </p:nvPr>
        </p:nvSpPr>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endParaRPr/>
          </a:p>
          <a:p>
            <a:pPr>
              <a:defRPr sz="2000"/>
            </a:pPr>
            <a:r>
              <a:t>Leadership is the ability to guide, inspire, and influence others.</a:t>
            </a:r>
          </a:p>
          <a:p>
            <a:pPr>
              <a:defRPr sz="2000"/>
            </a:pPr>
            <a:r>
              <a:t>Essential for success in organizations, communities, and personal </a:t>
            </a:r>
            <a:r>
              <a:rPr/>
              <a:t>life</a:t>
            </a:r>
            <a:r>
              <a:rPr smtClean="0"/>
              <a:t>.</a:t>
            </a:r>
            <a:endParaRPr lang="en-US" dirty="0" smtClean="0"/>
          </a:p>
          <a:p>
            <a:pPr>
              <a:defRPr sz="2000"/>
            </a:pPr>
            <a:r>
              <a:rPr lang="en-US" sz="2000" dirty="0" smtClean="0"/>
              <a:t>Leadership is the process of influencing and guiding a group of people to achieve a common goal or vision, requiring skills like communication, motivation, and decision-making, and can be demonstrated by anyone, not just those in formal positions of authority. It is a dynamic process that involves setting direction, ensuring alignment, fostering commitment, and adapting to change to achieve collective success.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Role of a Leader</a:t>
            </a:r>
          </a:p>
        </p:txBody>
      </p:sp>
      <p:sp>
        <p:nvSpPr>
          <p:cNvPr id="3" name="Content Placeholder 2"/>
          <p:cNvSpPr>
            <a:spLocks noGrp="1"/>
          </p:cNvSpPr>
          <p:nvPr>
            <p:ph idx="1"/>
          </p:nvPr>
        </p:nvSpPr>
        <p:spPr/>
        <p:txBody>
          <a:bodyPr/>
          <a:lstStyle/>
          <a:p>
            <a:endParaRPr/>
          </a:p>
          <a:p>
            <a:pPr>
              <a:defRPr sz="2000"/>
            </a:pPr>
            <a:r>
              <a:t>Provides vision and direction</a:t>
            </a:r>
          </a:p>
          <a:p>
            <a:pPr>
              <a:defRPr sz="2000"/>
            </a:pPr>
            <a:r>
              <a:t>Motivates and inspires team members</a:t>
            </a:r>
          </a:p>
          <a:p>
            <a:pPr>
              <a:defRPr sz="2000"/>
            </a:pPr>
            <a:r>
              <a:t>Builds trust and cooperation</a:t>
            </a:r>
          </a:p>
          <a:p>
            <a:pPr>
              <a:defRPr sz="2000"/>
            </a:pPr>
            <a:r>
              <a:t>Facilitates decision-making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Aspects of Leadership</a:t>
            </a:r>
            <a:br>
              <a:rPr lang="en-US" dirty="0" smtClean="0"/>
            </a:br>
            <a:endParaRPr lang="en-US" dirty="0"/>
          </a:p>
        </p:txBody>
      </p:sp>
      <p:sp>
        <p:nvSpPr>
          <p:cNvPr id="3" name="Content Placeholder 2"/>
          <p:cNvSpPr>
            <a:spLocks noGrp="1"/>
          </p:cNvSpPr>
          <p:nvPr>
            <p:ph idx="1"/>
          </p:nvPr>
        </p:nvSpPr>
        <p:spPr>
          <a:xfrm>
            <a:off x="457200" y="1600200"/>
            <a:ext cx="8229600" cy="4888735"/>
          </a:xfrm>
        </p:spPr>
        <p:txBody>
          <a:bodyPr>
            <a:normAutofit fontScale="77500" lnSpcReduction="20000"/>
          </a:bodyPr>
          <a:lstStyle/>
          <a:p>
            <a:r>
              <a:rPr lang="en-US" b="1" dirty="0" smtClean="0"/>
              <a:t>Influence and Guidance:</a:t>
            </a:r>
            <a:r>
              <a:rPr lang="en-US" dirty="0" smtClean="0"/>
              <a:t> </a:t>
            </a:r>
          </a:p>
          <a:p>
            <a:pPr fontAlgn="ctr"/>
            <a:r>
              <a:rPr lang="en-US" dirty="0" smtClean="0"/>
              <a:t>At its core, leadership involves influencing others to act toward a shared objective. </a:t>
            </a:r>
          </a:p>
          <a:p>
            <a:r>
              <a:rPr lang="en-US" b="1" dirty="0" smtClean="0"/>
              <a:t>Goal-Oriented:</a:t>
            </a:r>
            <a:r>
              <a:rPr lang="en-US" dirty="0" smtClean="0"/>
              <a:t> </a:t>
            </a:r>
          </a:p>
          <a:p>
            <a:pPr fontAlgn="ctr"/>
            <a:r>
              <a:rPr lang="en-US" dirty="0" smtClean="0"/>
              <a:t>Leaders articulate a vision, set clear goals, and provide the necessary knowledge and tools to achieve them. </a:t>
            </a:r>
          </a:p>
          <a:p>
            <a:r>
              <a:rPr lang="en-US" b="1" dirty="0" smtClean="0"/>
              <a:t>Motivation and Empowerment:</a:t>
            </a:r>
            <a:r>
              <a:rPr lang="en-US" dirty="0" smtClean="0"/>
              <a:t> </a:t>
            </a:r>
          </a:p>
          <a:p>
            <a:pPr fontAlgn="ctr"/>
            <a:r>
              <a:rPr lang="en-US" dirty="0" smtClean="0"/>
              <a:t>Effective leaders inspire and motivate their teams, delegate responsibilities, and acknowledge contributions to unlock the team's full potential. </a:t>
            </a:r>
          </a:p>
          <a:p>
            <a:r>
              <a:rPr lang="en-US" b="1" dirty="0" smtClean="0"/>
              <a:t>Decision-Making:</a:t>
            </a:r>
            <a:r>
              <a:rPr lang="en-US" dirty="0" smtClean="0"/>
              <a:t> </a:t>
            </a:r>
          </a:p>
          <a:p>
            <a:pPr fontAlgn="ctr"/>
            <a:r>
              <a:rPr lang="en-US" dirty="0" smtClean="0"/>
              <a:t>Leaders make sound and sometimes difficult decisions to navigate challenges and move the group forward. </a:t>
            </a:r>
          </a:p>
          <a:p>
            <a:r>
              <a:rPr lang="en-US" b="1" dirty="0" smtClean="0"/>
              <a:t>Adaptability:</a:t>
            </a:r>
            <a:r>
              <a:rPr lang="en-US" dirty="0" smtClean="0"/>
              <a:t> </a:t>
            </a:r>
          </a:p>
          <a:p>
            <a:r>
              <a:rPr lang="en-US" dirty="0" smtClean="0"/>
              <a:t>In a dynamic environment, leaders must be resilient and adaptable, adjusting strategies to new circumstances.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Characteristics of Effective Leaders</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Strong Communication:</a:t>
            </a:r>
            <a:r>
              <a:rPr lang="en-US" dirty="0" smtClean="0"/>
              <a:t> </a:t>
            </a:r>
          </a:p>
          <a:p>
            <a:pPr fontAlgn="ctr"/>
            <a:r>
              <a:rPr lang="en-US" dirty="0" smtClean="0"/>
              <a:t>Clear and empathetic communication is crucial for conveying vision and providing support. </a:t>
            </a:r>
          </a:p>
          <a:p>
            <a:r>
              <a:rPr lang="en-US" dirty="0" smtClean="0"/>
              <a:t>Communication shows up in many ways, from transmitting information and storytelling to soliciting input and using active listening techniques. The best leaders are skilled communicators who can communicate in a variety of ways, both orally and in writing, and with a wide range of people from different backgrounds, roles, levels, geographies, and more, because leadership and communication are intertwined. The quality and effectiveness of communication among leaders at your organization will directly affect the success of your business strategy, too.</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Integrity:</a:t>
            </a:r>
            <a:r>
              <a:rPr lang="en-US" dirty="0" smtClean="0"/>
              <a:t> </a:t>
            </a:r>
          </a:p>
        </p:txBody>
      </p:sp>
      <p:sp>
        <p:nvSpPr>
          <p:cNvPr id="3" name="Content Placeholder 2"/>
          <p:cNvSpPr>
            <a:spLocks noGrp="1"/>
          </p:cNvSpPr>
          <p:nvPr>
            <p:ph idx="1"/>
          </p:nvPr>
        </p:nvSpPr>
        <p:spPr/>
        <p:txBody>
          <a:bodyPr>
            <a:normAutofit fontScale="92500"/>
          </a:bodyPr>
          <a:lstStyle/>
          <a:p>
            <a:pPr fontAlgn="ctr"/>
            <a:r>
              <a:rPr lang="en-US" dirty="0" smtClean="0"/>
              <a:t>Leaders who align their actions with their words build trust and earn the right to lead. </a:t>
            </a:r>
          </a:p>
          <a:p>
            <a:r>
              <a:rPr lang="en-US" dirty="0" smtClean="0"/>
              <a:t>Integrity is being consistent, honest, moral, and trustworthy, and it’s an essential leadership trait for the individual and the organization. It’s especially important for top-level executives who are charting the organization’s course and making countless other significant decisions. Our research has found that leader integrity is a potential blind spot for organizations, so make sure you reinforce the importance of honesty and integrity to managers at all levels.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Values</a:t>
            </a:r>
            <a:endParaRPr lang="en-US" dirty="0"/>
          </a:p>
        </p:txBody>
      </p:sp>
      <p:sp>
        <p:nvSpPr>
          <p:cNvPr id="3" name="Content Placeholder 2"/>
          <p:cNvSpPr>
            <a:spLocks noGrp="1"/>
          </p:cNvSpPr>
          <p:nvPr>
            <p:ph idx="1"/>
          </p:nvPr>
        </p:nvSpPr>
        <p:spPr/>
        <p:txBody>
          <a:bodyPr/>
          <a:lstStyle/>
          <a:p>
            <a:pPr>
              <a:defRPr sz="2000"/>
            </a:pPr>
            <a:r>
              <a:rPr lang="en-US" dirty="0" smtClean="0"/>
              <a:t>Honesty and strong moral principles.</a:t>
            </a:r>
          </a:p>
          <a:p>
            <a:pPr>
              <a:defRPr sz="2000"/>
            </a:pPr>
            <a:r>
              <a:rPr lang="en-US" dirty="0" smtClean="0"/>
              <a:t>Builds trust among followers.</a:t>
            </a:r>
          </a:p>
          <a:p>
            <a:pPr>
              <a:defRPr sz="2000"/>
            </a:pPr>
            <a:r>
              <a:rPr lang="en-US" dirty="0" smtClean="0"/>
              <a:t>Do what is right, not what is easy.</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Core values</a:t>
            </a:r>
            <a:br>
              <a:rPr lang="en-US" dirty="0" smtClean="0"/>
            </a:br>
            <a:endParaRPr lang="en-US" dirty="0"/>
          </a:p>
        </p:txBody>
      </p:sp>
      <p:sp>
        <p:nvSpPr>
          <p:cNvPr id="3" name="Content Placeholder 2"/>
          <p:cNvSpPr>
            <a:spLocks noGrp="1"/>
          </p:cNvSpPr>
          <p:nvPr>
            <p:ph idx="1"/>
          </p:nvPr>
        </p:nvSpPr>
        <p:spPr>
          <a:xfrm>
            <a:off x="457200" y="1134737"/>
            <a:ext cx="8229600" cy="5420299"/>
          </a:xfrm>
        </p:spPr>
        <p:txBody>
          <a:bodyPr>
            <a:normAutofit fontScale="70000" lnSpcReduction="20000"/>
          </a:bodyPr>
          <a:lstStyle/>
          <a:p>
            <a:r>
              <a:rPr lang="en-US" b="1" dirty="0" smtClean="0"/>
              <a:t>Integrity and honesty:</a:t>
            </a:r>
            <a:endParaRPr lang="en-US" dirty="0" smtClean="0"/>
          </a:p>
          <a:p>
            <a:pPr fontAlgn="ctr"/>
            <a:r>
              <a:rPr lang="en-US" dirty="0" smtClean="0"/>
              <a:t>Acting with strong morals and ethics, ensuring words and actions align with a leader's values. </a:t>
            </a:r>
          </a:p>
          <a:p>
            <a:r>
              <a:rPr lang="en-US" b="1" dirty="0" smtClean="0"/>
              <a:t>Vision:</a:t>
            </a:r>
            <a:endParaRPr lang="en-US" dirty="0" smtClean="0"/>
          </a:p>
          <a:p>
            <a:pPr fontAlgn="ctr"/>
            <a:r>
              <a:rPr lang="en-US" dirty="0" smtClean="0"/>
              <a:t>Having a clear direction and being able to articulate it to inspire and guide others. </a:t>
            </a:r>
          </a:p>
          <a:p>
            <a:r>
              <a:rPr lang="en-US" b="1" dirty="0" smtClean="0"/>
              <a:t>Communication:</a:t>
            </a:r>
            <a:endParaRPr lang="en-US" dirty="0" smtClean="0"/>
          </a:p>
          <a:p>
            <a:pPr fontAlgn="ctr"/>
            <a:r>
              <a:rPr lang="en-US" dirty="0" smtClean="0"/>
              <a:t>Effectively conveying ideas, listening to feedback, and fostering open dialogue. </a:t>
            </a:r>
          </a:p>
          <a:p>
            <a:r>
              <a:rPr lang="en-US" b="1" dirty="0" smtClean="0"/>
              <a:t>Accountability:</a:t>
            </a:r>
            <a:endParaRPr lang="en-US" dirty="0" smtClean="0"/>
          </a:p>
          <a:p>
            <a:pPr fontAlgn="ctr"/>
            <a:r>
              <a:rPr lang="en-US" dirty="0" smtClean="0"/>
              <a:t>Taking responsibility for one's actions and decisions, and expecting the same from the team. </a:t>
            </a:r>
          </a:p>
          <a:p>
            <a:r>
              <a:rPr lang="en-US" b="1" dirty="0" smtClean="0"/>
              <a:t>Empathy:</a:t>
            </a:r>
            <a:endParaRPr lang="en-US" dirty="0" smtClean="0"/>
          </a:p>
          <a:p>
            <a:pPr fontAlgn="ctr"/>
            <a:r>
              <a:rPr lang="en-US" dirty="0" smtClean="0"/>
              <a:t>Understanding and responding to the feelings and perspectives of others. </a:t>
            </a:r>
          </a:p>
          <a:p>
            <a:r>
              <a:rPr lang="en-US" dirty="0" smtClean="0"/>
              <a:t>Essential traits</a:t>
            </a:r>
          </a:p>
          <a:p>
            <a:r>
              <a:rPr lang="en-US" b="1" dirty="0" smtClean="0"/>
              <a:t>Resilience:</a:t>
            </a:r>
            <a:endParaRPr lang="en-US" dirty="0" smtClean="0"/>
          </a:p>
          <a:p>
            <a:pPr fontAlgn="ctr"/>
            <a:r>
              <a:rPr lang="en-US" dirty="0" smtClean="0"/>
              <a:t>Bouncing back from setbacks and navigating difficult situations with persistence. </a:t>
            </a:r>
          </a:p>
          <a:p>
            <a:r>
              <a:rPr lang="en-US" b="1" dirty="0" smtClean="0"/>
              <a:t>Courage:</a:t>
            </a:r>
            <a:endParaRPr lang="en-US" dirty="0" smtClean="0"/>
          </a:p>
          <a:p>
            <a:pPr fontAlgn="ctr"/>
            <a:r>
              <a:rPr lang="en-US" dirty="0" smtClean="0"/>
              <a:t>Making tough decisions and standing up for what is right, even when it is difficult.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Core values</a:t>
            </a:r>
            <a:endParaRPr lang="en-US" dirty="0"/>
          </a:p>
        </p:txBody>
      </p:sp>
      <p:sp>
        <p:nvSpPr>
          <p:cNvPr id="3" name="Content Placeholder 2"/>
          <p:cNvSpPr>
            <a:spLocks noGrp="1"/>
          </p:cNvSpPr>
          <p:nvPr>
            <p:ph idx="1"/>
          </p:nvPr>
        </p:nvSpPr>
        <p:spPr>
          <a:xfrm>
            <a:off x="457200" y="1935479"/>
            <a:ext cx="8229600" cy="4608539"/>
          </a:xfrm>
        </p:spPr>
        <p:txBody>
          <a:bodyPr>
            <a:normAutofit fontScale="70000" lnSpcReduction="20000"/>
          </a:bodyPr>
          <a:lstStyle/>
          <a:p>
            <a:r>
              <a:rPr lang="en-US" b="1" dirty="0" smtClean="0"/>
              <a:t>Humility:</a:t>
            </a:r>
            <a:endParaRPr lang="en-US" dirty="0" smtClean="0"/>
          </a:p>
          <a:p>
            <a:pPr fontAlgn="ctr"/>
            <a:r>
              <a:rPr lang="en-US" dirty="0" smtClean="0"/>
              <a:t>Recognizing personal strengths and weaknesses, being open to feedback, and acknowledging the contributions of others. </a:t>
            </a:r>
          </a:p>
          <a:p>
            <a:r>
              <a:rPr lang="en-US" b="1" dirty="0" smtClean="0"/>
              <a:t>Adaptability:</a:t>
            </a:r>
            <a:endParaRPr lang="en-US" dirty="0" smtClean="0"/>
          </a:p>
          <a:p>
            <a:pPr fontAlgn="ctr"/>
            <a:r>
              <a:rPr lang="en-US" dirty="0" smtClean="0"/>
              <a:t>Being flexible and able to adjust strategies and approaches in response to change. </a:t>
            </a:r>
          </a:p>
          <a:p>
            <a:r>
              <a:rPr lang="en-US" b="1" dirty="0" smtClean="0"/>
              <a:t>Respect:</a:t>
            </a:r>
            <a:endParaRPr lang="en-US" dirty="0" smtClean="0"/>
          </a:p>
          <a:p>
            <a:pPr fontAlgn="ctr"/>
            <a:r>
              <a:rPr lang="en-US" dirty="0" smtClean="0"/>
              <a:t>Valuing and treating team members with dignity, fostering a culture of mutual respect. </a:t>
            </a:r>
          </a:p>
          <a:p>
            <a:r>
              <a:rPr lang="en-US" b="1" dirty="0" smtClean="0"/>
              <a:t>Self-awareness:</a:t>
            </a:r>
            <a:endParaRPr lang="en-US" dirty="0" smtClean="0"/>
          </a:p>
          <a:p>
            <a:pPr fontAlgn="ctr"/>
            <a:r>
              <a:rPr lang="en-US" dirty="0" smtClean="0"/>
              <a:t>Understanding one's own emotions, strengths, and weaknesses to manage them effectively. </a:t>
            </a:r>
          </a:p>
          <a:p>
            <a:r>
              <a:rPr lang="en-US" dirty="0" smtClean="0"/>
              <a:t>Other valuable qualities</a:t>
            </a:r>
          </a:p>
          <a:p>
            <a:pPr fontAlgn="ctr"/>
            <a:r>
              <a:rPr lang="en-US" b="1" dirty="0" smtClean="0"/>
              <a:t>Influence:</a:t>
            </a:r>
            <a:r>
              <a:rPr lang="en-US" dirty="0" smtClean="0"/>
              <a:t> The ability to motivate and guide others towards a common goal. </a:t>
            </a:r>
          </a:p>
          <a:p>
            <a:pPr fontAlgn="ctr"/>
            <a:r>
              <a:rPr lang="en-US" b="1" dirty="0" smtClean="0"/>
              <a:t>Authenticity:</a:t>
            </a:r>
            <a:r>
              <a:rPr lang="en-US" dirty="0" smtClean="0"/>
              <a:t> Being genuine and transparent in all interactions. </a:t>
            </a:r>
          </a:p>
          <a:p>
            <a:r>
              <a:rPr lang="en-US" b="1" dirty="0" smtClean="0"/>
              <a:t>Passion:</a:t>
            </a:r>
            <a:r>
              <a:rPr lang="en-US" dirty="0" smtClean="0"/>
              <a:t> Showing enthusiasm for the work and inspiring that same level of commitment in others.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Trust</a:t>
            </a:r>
            <a:endParaRPr lang="en-US" dirty="0"/>
          </a:p>
        </p:txBody>
      </p:sp>
      <p:sp>
        <p:nvSpPr>
          <p:cNvPr id="3" name="Content Placeholder 2"/>
          <p:cNvSpPr>
            <a:spLocks noGrp="1"/>
          </p:cNvSpPr>
          <p:nvPr>
            <p:ph idx="1"/>
          </p:nvPr>
        </p:nvSpPr>
        <p:spPr/>
        <p:txBody>
          <a:bodyPr/>
          <a:lstStyle/>
          <a:p>
            <a:r>
              <a:rPr lang="en-US" dirty="0" smtClean="0"/>
              <a:t>Sharing information, explaining decision-making processes, and being candid with both good and bad news fosters an open and high-trust environment.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Trust is Critical for Leadership Success</a:t>
            </a:r>
            <a:endParaRPr lang="en-US" dirty="0"/>
          </a:p>
        </p:txBody>
      </p:sp>
      <p:sp>
        <p:nvSpPr>
          <p:cNvPr id="3" name="Content Placeholder 2"/>
          <p:cNvSpPr>
            <a:spLocks noGrp="1"/>
          </p:cNvSpPr>
          <p:nvPr>
            <p:ph idx="1"/>
          </p:nvPr>
        </p:nvSpPr>
        <p:spPr/>
        <p:txBody>
          <a:bodyPr>
            <a:normAutofit fontScale="85000" lnSpcReduction="20000"/>
          </a:bodyPr>
          <a:lstStyle/>
          <a:p>
            <a:pPr>
              <a:buNone/>
            </a:pPr>
            <a:endParaRPr lang="en-US" b="1" dirty="0" smtClean="0"/>
          </a:p>
          <a:p>
            <a:r>
              <a:rPr lang="en-US" b="1" dirty="0" smtClean="0"/>
              <a:t>1. Trust Enhances Collaboration</a:t>
            </a:r>
            <a:r>
              <a:rPr lang="en-US" dirty="0" smtClean="0"/>
              <a:t/>
            </a:r>
            <a:br>
              <a:rPr lang="en-US" dirty="0" smtClean="0"/>
            </a:br>
            <a:r>
              <a:rPr lang="en-US" dirty="0" smtClean="0"/>
              <a:t>A </a:t>
            </a:r>
            <a:r>
              <a:rPr lang="en-US" b="1" dirty="0" smtClean="0"/>
              <a:t>high-trust workplace</a:t>
            </a:r>
            <a:r>
              <a:rPr lang="en-US" dirty="0" smtClean="0"/>
              <a:t> fosters open communication and collaboration. Employees in high-trust organizations experience significantly lower stress, higher productivity, and greater engagement. In fact, studies show that employees in these environments report 74% less stress, 50% higher productivity, and 76% more engagement. </a:t>
            </a:r>
          </a:p>
          <a:p>
            <a:r>
              <a:rPr lang="en-US" b="1" dirty="0" smtClean="0"/>
              <a:t>2. Trust Builds Employee Loyalty</a:t>
            </a:r>
            <a:r>
              <a:rPr lang="en-US" dirty="0" smtClean="0"/>
              <a:t/>
            </a:r>
            <a:br>
              <a:rPr lang="en-US" dirty="0" smtClean="0"/>
            </a:br>
            <a:r>
              <a:rPr lang="en-US" dirty="0" smtClean="0"/>
              <a:t>When employees trust their leaders, they are more likely to remain committed to the organization, even during challenging times. </a:t>
            </a:r>
            <a:r>
              <a:rPr lang="en-US" b="1" dirty="0" smtClean="0"/>
              <a:t>Research from Gallup</a:t>
            </a:r>
            <a:r>
              <a:rPr lang="en-US" dirty="0" smtClean="0"/>
              <a:t> highlights that leaders who focus on trust and relationships see a 50% reduction in employee turnover. This trust leads to higher retention, engagement, and overall success.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Trust is Critical for Leadership Success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3. Trust Supports Change Management</a:t>
            </a:r>
            <a:r>
              <a:rPr lang="en-US" dirty="0" smtClean="0"/>
              <a:t/>
            </a:r>
            <a:br>
              <a:rPr lang="en-US" dirty="0" smtClean="0"/>
            </a:br>
            <a:r>
              <a:rPr lang="en-US" dirty="0" smtClean="0"/>
              <a:t>In times of transformation, </a:t>
            </a:r>
            <a:r>
              <a:rPr lang="en-US" b="1" dirty="0" smtClean="0"/>
              <a:t>trust is the anchor</a:t>
            </a:r>
            <a:r>
              <a:rPr lang="en-US" dirty="0" smtClean="0"/>
              <a:t> that helps teams navigate uncertainty. Employees are more likely to embrace change when they trust that leadership has their best interests in mind. This has been underscored in studies on organizational change, where trust is considered essential for navigating transitions effectively. </a:t>
            </a:r>
          </a:p>
          <a:p>
            <a:r>
              <a:rPr lang="en-US" b="1" dirty="0" smtClean="0"/>
              <a:t>4. Trust Is the Currency of Leadership</a:t>
            </a:r>
            <a:r>
              <a:rPr lang="en-US" dirty="0" smtClean="0"/>
              <a:t/>
            </a:r>
            <a:br>
              <a:rPr lang="en-US" dirty="0" smtClean="0"/>
            </a:br>
            <a:r>
              <a:rPr lang="en-US" dirty="0" smtClean="0"/>
              <a:t>Trust is often referred to as the “</a:t>
            </a:r>
            <a:r>
              <a:rPr lang="en-US" b="1" dirty="0" smtClean="0"/>
              <a:t>currency of leadership</a:t>
            </a:r>
            <a:r>
              <a:rPr lang="en-US" dirty="0" smtClean="0"/>
              <a:t>.” It’s the foundation for effective leadership, requiring a balance of competence and care. Leaders must be reliable and skilled, while also prioritizing the growth and well-being of their team. Trust is what allows leaders to inspire action, drive performance, and foster loyalty.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Leaders Can Build Trust</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 </a:t>
            </a:r>
          </a:p>
          <a:p>
            <a:r>
              <a:rPr lang="en-US" b="1" dirty="0" smtClean="0"/>
              <a:t>Be Authentic</a:t>
            </a:r>
            <a:r>
              <a:rPr lang="en-US" dirty="0" smtClean="0"/>
              <a:t/>
            </a:r>
            <a:br>
              <a:rPr lang="en-US" dirty="0" smtClean="0"/>
            </a:br>
            <a:r>
              <a:rPr lang="en-US" dirty="0" smtClean="0"/>
              <a:t>Authenticity is the foundation of trust. Leaders who are transparent about their intentions, admit mistakes, and stay true to their values build credibility. Authenticity establishes a clear path for others to follow and encourages trust within the team.</a:t>
            </a:r>
          </a:p>
          <a:p>
            <a:r>
              <a:rPr lang="en-US" b="1" dirty="0" smtClean="0"/>
              <a:t>Communicate Openly and Frequently</a:t>
            </a:r>
            <a:r>
              <a:rPr lang="en-US" dirty="0" smtClean="0"/>
              <a:t/>
            </a:r>
            <a:br>
              <a:rPr lang="en-US" dirty="0" smtClean="0"/>
            </a:br>
            <a:r>
              <a:rPr lang="en-US" dirty="0" smtClean="0"/>
              <a:t>Consistent communication fosters clarity and reduces uncertainty. Leaders who </a:t>
            </a:r>
            <a:r>
              <a:rPr lang="en-US" b="1" dirty="0" smtClean="0"/>
              <a:t>prioritize communication</a:t>
            </a:r>
            <a:r>
              <a:rPr lang="en-US" dirty="0" smtClean="0"/>
              <a:t> see a significant increase in employee engagement. Open communication channels create an environment where employees feel heard, valued, and connected to the organization’s vision.</a:t>
            </a:r>
          </a:p>
          <a:p>
            <a:endParaRPr lang="en-US" i="1" dirty="0" smtClean="0"/>
          </a:p>
          <a:p>
            <a:r>
              <a:rPr lang="en-US" b="1" dirty="0" smtClean="0"/>
              <a:t>Follow Through on Commitments</a:t>
            </a:r>
            <a:r>
              <a:rPr lang="en-US" dirty="0" smtClean="0"/>
              <a:t/>
            </a:r>
            <a:br>
              <a:rPr lang="en-US" dirty="0" smtClean="0"/>
            </a:br>
            <a:r>
              <a:rPr lang="en-US" dirty="0" smtClean="0"/>
              <a:t>Reliability is key to earning trust. Breaking promises—even unintentionally—can quickly erode the trust you’ve built. Leaders who demonstrate follow-through are seen as dependable and trustworthy, which in turn strengthens their leadership and the organization.</a:t>
            </a:r>
            <a:br>
              <a:rPr lang="en-US" dirty="0" smtClean="0"/>
            </a:br>
            <a:r>
              <a:rPr lang="en-US" dirty="0" smtClean="0"/>
              <a:t/>
            </a:r>
            <a:br>
              <a:rPr lang="en-US" dirty="0" smtClean="0"/>
            </a:br>
            <a:endParaRPr lang="en-US" i="1"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Leaders Can Build Trust</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Show Empathy</a:t>
            </a:r>
            <a:r>
              <a:rPr lang="en-US" dirty="0" smtClean="0"/>
              <a:t/>
            </a:r>
            <a:br>
              <a:rPr lang="en-US" dirty="0" smtClean="0"/>
            </a:br>
            <a:r>
              <a:rPr lang="en-US" dirty="0" smtClean="0"/>
              <a:t>Empathy demonstrates that you care about your team’s well-being. Employees who feel understood and supported are more likely to </a:t>
            </a:r>
            <a:r>
              <a:rPr lang="en-US" b="1" dirty="0" smtClean="0"/>
              <a:t>trust their leaders</a:t>
            </a:r>
            <a:r>
              <a:rPr lang="en-US" dirty="0" smtClean="0"/>
              <a:t>. Empathy isn’t just a soft skill—it’s an essential element for building stronger, more cohesive teams.</a:t>
            </a:r>
            <a:br>
              <a:rPr lang="en-US" dirty="0" smtClean="0"/>
            </a:br>
            <a:r>
              <a:rPr lang="en-US" dirty="0" smtClean="0"/>
              <a:t/>
            </a:r>
            <a:br>
              <a:rPr lang="en-US" dirty="0" smtClean="0"/>
            </a:br>
            <a:endParaRPr lang="en-US" i="1" dirty="0" smtClean="0"/>
          </a:p>
          <a:p>
            <a:r>
              <a:rPr lang="en-US" b="1" dirty="0" smtClean="0"/>
              <a:t>Empower and Support Your Team</a:t>
            </a:r>
            <a:r>
              <a:rPr lang="en-US" dirty="0" smtClean="0"/>
              <a:t/>
            </a:r>
            <a:br>
              <a:rPr lang="en-US" dirty="0" smtClean="0"/>
            </a:br>
            <a:r>
              <a:rPr lang="en-US" dirty="0" smtClean="0"/>
              <a:t>Empowerment builds mutual trust. Leaders who trust their teams to own decisions find that employees reciprocate with commitment and accountability. When team members feel they have the freedom to take ownership, their engagement and trust in the leader deepen.</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Self-Confidence:</a:t>
            </a:r>
            <a:r>
              <a:rPr lang="en-US" dirty="0" smtClean="0"/>
              <a:t>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pPr fontAlgn="ctr"/>
            <a:r>
              <a:rPr lang="en-US" dirty="0" smtClean="0"/>
              <a:t>A leader needs self-confidence to take risks and guide others. </a:t>
            </a:r>
          </a:p>
          <a:p>
            <a:r>
              <a:rPr lang="en-US" dirty="0" smtClean="0"/>
              <a:t>Self-Confidence and Self-Esteem are crucial for effective leadership. These traits inspire, motivate, and enable leaders to guide their teams toward achieving common goals. They are essential for anyone in a leadership position. Without self-esteem and self-confidence, leaders may struggle to make decisions, earn respect, and maintain the trust of their team.</a:t>
            </a:r>
          </a:p>
          <a:p>
            <a:r>
              <a:rPr lang="en-US" dirty="0" smtClean="0"/>
              <a:t>Self-confidence is the belief in one’s abilities and judgment. It enables leaders to take on challenges, make decisive choices, and stand by their decisions even in the face of adversity. A confident leader is often seen as competent and reliable, which fosters trust and respect from team members.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Problem Solving</a:t>
            </a:r>
            <a:endParaRPr lang="en-US" dirty="0"/>
          </a:p>
        </p:txBody>
      </p:sp>
      <p:sp>
        <p:nvSpPr>
          <p:cNvPr id="3" name="Content Placeholder 2"/>
          <p:cNvSpPr>
            <a:spLocks noGrp="1"/>
          </p:cNvSpPr>
          <p:nvPr>
            <p:ph idx="1"/>
          </p:nvPr>
        </p:nvSpPr>
        <p:spPr/>
        <p:txBody>
          <a:bodyPr/>
          <a:lstStyle/>
          <a:p>
            <a:r>
              <a:rPr lang="en-US" b="1" dirty="0" smtClean="0"/>
              <a:t> </a:t>
            </a:r>
          </a:p>
          <a:p>
            <a:r>
              <a:rPr lang="en-US" dirty="0" smtClean="0"/>
              <a:t>Effective leaders possess strong problem-solving skills. They can identify challenges, analyze the root causes, and develop creative solutions to overcome obstacles. By demonstrating resilience and adaptability, leaders can navigate through challenges and drive their team towards success.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Critical Thinking</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Critical thinking is the ability to analyze information, evaluate evidence, and make logical decisions based on objective reasoning. Effective leaders possess strong critical thinking skills, enabling them to make informed decisions and solve complex problems. By applying critical thinking, leaders can identify the best course of action and drive their team towards success.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Courage</a:t>
            </a:r>
            <a:endParaRPr lang="en-US" dirty="0"/>
          </a:p>
        </p:txBody>
      </p:sp>
      <p:sp>
        <p:nvSpPr>
          <p:cNvPr id="3" name="Content Placeholder 2"/>
          <p:cNvSpPr>
            <a:spLocks noGrp="1"/>
          </p:cNvSpPr>
          <p:nvPr>
            <p:ph idx="1"/>
          </p:nvPr>
        </p:nvSpPr>
        <p:spPr/>
        <p:txBody>
          <a:bodyPr>
            <a:normAutofit lnSpcReduction="10000"/>
          </a:bodyPr>
          <a:lstStyle/>
          <a:p>
            <a:r>
              <a:rPr lang="en-US" dirty="0" smtClean="0"/>
              <a:t>Courage enables both team members and leaders to take bold actions that move things in the right direction. It can be hard to speak up at work, whether you want to voice a new idea, provide feedback to a direct report, or flag a concern for someone above you. That’s part of the reason courage is a key leadership trait — it takes courage to do what’s right! Leaders who promote high levels of psychological safety in the workplace enable their teams to speak up freely and share candid concerns without fear of repercussions. This fosters a coaching culture that supports courage and truth-telling.</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courage</a:t>
            </a:r>
            <a:endParaRPr lang="en-US" dirty="0"/>
          </a:p>
        </p:txBody>
      </p:sp>
      <p:sp>
        <p:nvSpPr>
          <p:cNvPr id="3" name="Content Placeholder 2"/>
          <p:cNvSpPr>
            <a:spLocks noGrp="1"/>
          </p:cNvSpPr>
          <p:nvPr>
            <p:ph idx="1"/>
          </p:nvPr>
        </p:nvSpPr>
        <p:spPr/>
        <p:txBody>
          <a:bodyPr>
            <a:normAutofit/>
          </a:bodyPr>
          <a:lstStyle/>
          <a:p>
            <a:r>
              <a:rPr lang="en-US" dirty="0"/>
              <a:t>Characteristics of courage include a willingness to face danger, fear, or difficulty, accompanied by the mental strength to persevere and act according to one's values, even in the face of discomfort or uncertainty. Key traits associated with courage are self-confidence, integrity, compassion, persistence, and a commitment to action. It's not the absence of fear but the choice to confront it constructively and act with moral conviction.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Core Traits of Courage</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Confronting </a:t>
            </a:r>
            <a:r>
              <a:rPr lang="en-US" b="1" dirty="0"/>
              <a:t>Fear</a:t>
            </a:r>
            <a:r>
              <a:rPr lang="en-US" dirty="0"/>
              <a:t>: </a:t>
            </a:r>
          </a:p>
          <a:p>
            <a:pPr fontAlgn="ctr"/>
            <a:r>
              <a:rPr lang="en-US" dirty="0"/>
              <a:t>Courageous individuals understand danger, discomfort, and fear but choose to proceed and act despite these feelings. </a:t>
            </a:r>
          </a:p>
          <a:p>
            <a:r>
              <a:rPr lang="en-US" b="1" dirty="0"/>
              <a:t>Moral Strength</a:t>
            </a:r>
            <a:r>
              <a:rPr lang="en-US" dirty="0"/>
              <a:t>: </a:t>
            </a:r>
          </a:p>
          <a:p>
            <a:pPr fontAlgn="ctr"/>
            <a:r>
              <a:rPr lang="en-US" dirty="0"/>
              <a:t>It involves the mental fortitude to make difficult, right choices, even if they are unpopular or frightening. </a:t>
            </a:r>
          </a:p>
          <a:p>
            <a:r>
              <a:rPr lang="en-US" b="1" dirty="0"/>
              <a:t>Perseverance</a:t>
            </a:r>
            <a:r>
              <a:rPr lang="en-US" dirty="0"/>
              <a:t>: </a:t>
            </a:r>
          </a:p>
          <a:p>
            <a:pPr fontAlgn="ctr"/>
            <a:r>
              <a:rPr lang="en-US" dirty="0"/>
              <a:t>A courageous person persists through tough times, learning from mistakes and continuing to strive toward goals rather than giving up. </a:t>
            </a:r>
          </a:p>
          <a:p>
            <a:r>
              <a:rPr lang="en-US" b="1" dirty="0"/>
              <a:t>Action</a:t>
            </a:r>
            <a:r>
              <a:rPr lang="en-US" dirty="0"/>
              <a:t>: </a:t>
            </a:r>
          </a:p>
          <a:p>
            <a:r>
              <a:rPr lang="en-US" dirty="0"/>
              <a:t>Courage is demonstrated through a willingness to act on one's beliefs and values, moving beyond mere words or intentions.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Associated Qualities </a:t>
            </a:r>
            <a:r>
              <a:rPr lang="en-US" smtClean="0"/>
              <a:t>of Courage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Self-Confidence</a:t>
            </a:r>
            <a:r>
              <a:rPr lang="en-US" dirty="0"/>
              <a:t>: </a:t>
            </a:r>
          </a:p>
          <a:p>
            <a:pPr fontAlgn="ctr"/>
            <a:r>
              <a:rPr lang="en-US" dirty="0"/>
              <a:t>Believing in oneself and one's abilities to overcome challenges is a foundational aspect of courage. </a:t>
            </a:r>
          </a:p>
          <a:p>
            <a:r>
              <a:rPr lang="en-US" b="1" dirty="0"/>
              <a:t>Integrity</a:t>
            </a:r>
            <a:r>
              <a:rPr lang="en-US" dirty="0"/>
              <a:t>: </a:t>
            </a:r>
          </a:p>
          <a:p>
            <a:pPr fontAlgn="ctr"/>
            <a:r>
              <a:rPr lang="en-US" dirty="0"/>
              <a:t>Courageous individuals know what is right and fair, and they consistently act in accordance with these principles. </a:t>
            </a:r>
          </a:p>
          <a:p>
            <a:r>
              <a:rPr lang="en-US" b="1" dirty="0"/>
              <a:t>Authenticity</a:t>
            </a:r>
            <a:r>
              <a:rPr lang="en-US" dirty="0"/>
              <a:t>: </a:t>
            </a:r>
          </a:p>
          <a:p>
            <a:pPr fontAlgn="ctr"/>
            <a:r>
              <a:rPr lang="en-US" dirty="0"/>
              <a:t>A courageous person is true to themselves, embracing their own identity and values rather than conforming to societal pressures. </a:t>
            </a:r>
          </a:p>
          <a:p>
            <a:r>
              <a:rPr lang="en-US" b="1" dirty="0"/>
              <a:t>Resilience</a:t>
            </a:r>
            <a:r>
              <a:rPr lang="en-US" dirty="0"/>
              <a:t>: </a:t>
            </a:r>
          </a:p>
          <a:p>
            <a:pPr fontAlgn="ctr"/>
            <a:r>
              <a:rPr lang="en-US" dirty="0"/>
              <a:t>The ability to bounce back from adversity, setbacks, and pain is a hallmark of courageous individuals. </a:t>
            </a:r>
          </a:p>
          <a:p>
            <a:r>
              <a:rPr lang="en-US" b="1" dirty="0"/>
              <a:t>Compassion</a:t>
            </a:r>
            <a:r>
              <a:rPr lang="en-US" dirty="0"/>
              <a:t>: </a:t>
            </a:r>
          </a:p>
          <a:p>
            <a:r>
              <a:rPr lang="en-US" dirty="0"/>
              <a:t>Many courageous acts are driven by a concern for others, showing a willingness to place the needs of others above one's own. </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457200" y="253388"/>
            <a:ext cx="8229599" cy="6125378"/>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endParaRPr/>
          </a:p>
          <a:p>
            <a:pPr>
              <a:defRPr sz="2000"/>
            </a:pPr>
            <a:r>
              <a:t>Leadership is about inspiring, guiding, and empowering others.</a:t>
            </a:r>
          </a:p>
          <a:p>
            <a:pPr>
              <a:defRPr sz="2000"/>
            </a:pPr>
            <a:r>
              <a:t>A true leader leads by example.</a:t>
            </a:r>
          </a:p>
          <a:p>
            <a:pPr>
              <a:defRPr sz="2000"/>
            </a:pPr>
            <a:r>
              <a:t>Leaders are not born, they are made.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473</TotalTime>
  <Words>419</Words>
  <Application>Microsoft Macintosh PowerPoint</Application>
  <PresentationFormat>On-screen Show (4:3)</PresentationFormat>
  <Paragraphs>119</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Flow</vt:lpstr>
      <vt:lpstr>Leadership and Its Qualities</vt:lpstr>
      <vt:lpstr>Introduction</vt:lpstr>
      <vt:lpstr>Role of a Leader</vt:lpstr>
      <vt:lpstr>Key Aspects of Leadership </vt:lpstr>
      <vt:lpstr>Characteristics of Effective Leaders </vt:lpstr>
      <vt:lpstr>Integrity: </vt:lpstr>
      <vt:lpstr>Values</vt:lpstr>
      <vt:lpstr>Core values </vt:lpstr>
      <vt:lpstr>Core values</vt:lpstr>
      <vt:lpstr>Trust</vt:lpstr>
      <vt:lpstr>Why Trust is Critical for Leadership Success</vt:lpstr>
      <vt:lpstr>Why Trust is Critical for Leadership Success</vt:lpstr>
      <vt:lpstr>How Leaders Can Build Trust</vt:lpstr>
      <vt:lpstr>How Leaders Can Build Trust</vt:lpstr>
      <vt:lpstr>Self-Confidence:  </vt:lpstr>
      <vt:lpstr>Problem Solving</vt:lpstr>
      <vt:lpstr>Critical Thinking </vt:lpstr>
      <vt:lpstr>Courage</vt:lpstr>
      <vt:lpstr>Characteristics of courage</vt:lpstr>
      <vt:lpstr>Core Traits of Courage </vt:lpstr>
      <vt:lpstr>Associated Qualities of Courage </vt:lpstr>
      <vt:lpstr>Slide 22</vt:lpstr>
      <vt:lpstr>Conclusion</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Leadership and Its Qualities</dc:title>
  <dc:creator>hod</dc:creator>
  <dc:description>generated using python-pptx</dc:description>
  <cp:lastModifiedBy>hod</cp:lastModifiedBy>
  <cp:revision>35</cp:revision>
  <dcterms:created xsi:type="dcterms:W3CDTF">2013-01-27T09:14:16Z</dcterms:created>
  <dcterms:modified xsi:type="dcterms:W3CDTF">2025-10-16T08:52:16Z</dcterms:modified>
</cp:coreProperties>
</file>