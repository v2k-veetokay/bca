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3" r:id="rId8"/>
    <p:sldId id="264" r:id="rId9"/>
    <p:sldId id="268" r:id="rId10"/>
    <p:sldId id="262" r:id="rId11"/>
    <p:sldId id="265" r:id="rId12"/>
    <p:sldId id="266" r:id="rId13"/>
    <p:sldId id="267" r:id="rId14"/>
    <p:sldId id="269" r:id="rId15"/>
    <p:sldId id="270" r:id="rId16"/>
    <p:sldId id="271" r:id="rId17"/>
    <p:sldId id="272" r:id="rId18"/>
    <p:sldId id="273" r:id="rId19"/>
    <p:sldId id="274"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6" d="100"/>
          <a:sy n="86" d="100"/>
        </p:scale>
        <p:origin x="-1092"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5B6F9066-7AF8-4D2C-9D18-C4EB16175293}" type="datetimeFigureOut">
              <a:rPr lang="en-US" smtClean="0"/>
              <a:pPr/>
              <a:t>9/22/2025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4530164E-A147-4813-9EF8-F7B83380E2A6}"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6F9066-7AF8-4D2C-9D18-C4EB16175293}"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30164E-A147-4813-9EF8-F7B83380E2A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5B6F9066-7AF8-4D2C-9D18-C4EB16175293}"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30164E-A147-4813-9EF8-F7B83380E2A6}"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B6F9066-7AF8-4D2C-9D18-C4EB16175293}" type="datetimeFigureOut">
              <a:rPr lang="en-US" smtClean="0"/>
              <a:pPr/>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30164E-A147-4813-9EF8-F7B83380E2A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5B6F9066-7AF8-4D2C-9D18-C4EB16175293}" type="datetimeFigureOut">
              <a:rPr lang="en-US" smtClean="0"/>
              <a:pPr/>
              <a:t>9/22/2025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530164E-A147-4813-9EF8-F7B83380E2A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B6F9066-7AF8-4D2C-9D18-C4EB16175293}" type="datetimeFigureOut">
              <a:rPr lang="en-US" smtClean="0"/>
              <a:pPr/>
              <a:t>9/22/2025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30164E-A147-4813-9EF8-F7B83380E2A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6F9066-7AF8-4D2C-9D18-C4EB16175293}" type="datetimeFigureOut">
              <a:rPr lang="en-US" smtClean="0"/>
              <a:pPr/>
              <a:t>9/22/2025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530164E-A147-4813-9EF8-F7B83380E2A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B6F9066-7AF8-4D2C-9D18-C4EB16175293}" type="datetimeFigureOut">
              <a:rPr lang="en-US" smtClean="0"/>
              <a:pPr/>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30164E-A147-4813-9EF8-F7B83380E2A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B6F9066-7AF8-4D2C-9D18-C4EB16175293}" type="datetimeFigureOut">
              <a:rPr lang="en-US" smtClean="0"/>
              <a:pPr/>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4530164E-A147-4813-9EF8-F7B83380E2A6}"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6F9066-7AF8-4D2C-9D18-C4EB16175293}"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30164E-A147-4813-9EF8-F7B83380E2A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6F9066-7AF8-4D2C-9D18-C4EB16175293}"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30164E-A147-4813-9EF8-F7B83380E2A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5B6F9066-7AF8-4D2C-9D18-C4EB16175293}" type="datetimeFigureOut">
              <a:rPr lang="en-US" smtClean="0"/>
              <a:pPr/>
              <a:t>9/22/2025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4530164E-A147-4813-9EF8-F7B83380E2A6}"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Problem-solving skills</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Problem-solving skills</a:t>
            </a:r>
            <a:endParaRPr lang="en-US" dirty="0"/>
          </a:p>
        </p:txBody>
      </p:sp>
      <p:sp>
        <p:nvSpPr>
          <p:cNvPr id="3" name="Content Placeholder 2"/>
          <p:cNvSpPr>
            <a:spLocks noGrp="1"/>
          </p:cNvSpPr>
          <p:nvPr>
            <p:ph idx="1"/>
          </p:nvPr>
        </p:nvSpPr>
        <p:spPr/>
        <p:txBody>
          <a:bodyPr>
            <a:normAutofit/>
          </a:bodyPr>
          <a:lstStyle/>
          <a:p>
            <a:r>
              <a:rPr lang="en-US" dirty="0"/>
              <a:t>Problem-solving skills are the abilities to identify problems, analyze information, generate creative solutions, and implement the most effective course of action to resolve challenges. Key components include critical thinking, analytical skills, research, decision-making, communication, and adaptability. Troubleshooting is a specific type of problem-solving focused on diagnosing and fixing technical or complex system issues by systematically testing potential causes until the problem is resolved.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Core Problem-Solving Skills</a:t>
            </a:r>
            <a:br>
              <a:rPr lang="en-US" dirty="0" smtClean="0"/>
            </a:br>
            <a:endParaRPr lang="en-US" dirty="0"/>
          </a:p>
        </p:txBody>
      </p:sp>
      <p:sp>
        <p:nvSpPr>
          <p:cNvPr id="3" name="Content Placeholder 2"/>
          <p:cNvSpPr>
            <a:spLocks noGrp="1"/>
          </p:cNvSpPr>
          <p:nvPr>
            <p:ph idx="1"/>
          </p:nvPr>
        </p:nvSpPr>
        <p:spPr/>
        <p:txBody>
          <a:bodyPr>
            <a:normAutofit lnSpcReduction="10000"/>
          </a:bodyPr>
          <a:lstStyle/>
          <a:p>
            <a:pPr fontAlgn="ctr"/>
            <a:r>
              <a:rPr lang="en-US" b="1" dirty="0" smtClean="0"/>
              <a:t>Analytical </a:t>
            </a:r>
            <a:r>
              <a:rPr lang="en-US" b="1" dirty="0"/>
              <a:t>Thinking:</a:t>
            </a:r>
            <a:r>
              <a:rPr lang="en-US" dirty="0"/>
              <a:t> The ability to break down complex information to understand the root cause of a problem. </a:t>
            </a:r>
          </a:p>
          <a:p>
            <a:pPr fontAlgn="ctr"/>
            <a:r>
              <a:rPr lang="en-US" b="1" dirty="0"/>
              <a:t>Critical Thinking:</a:t>
            </a:r>
            <a:r>
              <a:rPr lang="en-US" dirty="0"/>
              <a:t> Evaluating information, ideas, and solutions logically and objectively to make informed decisions. </a:t>
            </a:r>
          </a:p>
          <a:p>
            <a:pPr fontAlgn="ctr"/>
            <a:r>
              <a:rPr lang="en-US" b="1" dirty="0"/>
              <a:t>Creativity:</a:t>
            </a:r>
            <a:r>
              <a:rPr lang="en-US" dirty="0"/>
              <a:t> Brainstorming novel and inventive solutions to overcome obstacles. </a:t>
            </a:r>
          </a:p>
          <a:p>
            <a:pPr fontAlgn="ctr"/>
            <a:r>
              <a:rPr lang="en-US" b="1" dirty="0"/>
              <a:t>Communication:</a:t>
            </a:r>
            <a:r>
              <a:rPr lang="en-US" dirty="0"/>
              <a:t> Effectively sharing information, listening to others, and collaborating to find solutions. </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Core Problem-Solving Skills</a:t>
            </a:r>
            <a:br>
              <a:rPr lang="en-US" dirty="0" smtClean="0"/>
            </a:br>
            <a:endParaRPr lang="en-US" dirty="0"/>
          </a:p>
        </p:txBody>
      </p:sp>
      <p:sp>
        <p:nvSpPr>
          <p:cNvPr id="3" name="Content Placeholder 2"/>
          <p:cNvSpPr>
            <a:spLocks noGrp="1"/>
          </p:cNvSpPr>
          <p:nvPr>
            <p:ph idx="1"/>
          </p:nvPr>
        </p:nvSpPr>
        <p:spPr/>
        <p:txBody>
          <a:bodyPr/>
          <a:lstStyle/>
          <a:p>
            <a:pPr fontAlgn="ctr"/>
            <a:r>
              <a:rPr lang="en-US" b="1" dirty="0" smtClean="0"/>
              <a:t>Decision-Making:</a:t>
            </a:r>
            <a:r>
              <a:rPr lang="en-US" dirty="0" smtClean="0"/>
              <a:t> Choosing the best course of action from a range of possible solutions based on analysis and evaluation. </a:t>
            </a:r>
          </a:p>
          <a:p>
            <a:pPr fontAlgn="ctr"/>
            <a:r>
              <a:rPr lang="en-US" b="1" dirty="0" smtClean="0"/>
              <a:t>Research:</a:t>
            </a:r>
            <a:r>
              <a:rPr lang="en-US" dirty="0" smtClean="0"/>
              <a:t> Gathering relevant information to understand a problem and explore potential solutions. </a:t>
            </a:r>
          </a:p>
          <a:p>
            <a:r>
              <a:rPr lang="en-US" b="1" dirty="0" smtClean="0"/>
              <a:t>Adaptability:</a:t>
            </a:r>
            <a:r>
              <a:rPr lang="en-US" dirty="0" smtClean="0"/>
              <a:t> Being flexible and open to new situations and challenges. </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Problem-Solving Process</a:t>
            </a:r>
            <a:endParaRPr lang="en-US" dirty="0"/>
          </a:p>
        </p:txBody>
      </p:sp>
      <p:sp>
        <p:nvSpPr>
          <p:cNvPr id="3" name="Content Placeholder 2"/>
          <p:cNvSpPr>
            <a:spLocks noGrp="1"/>
          </p:cNvSpPr>
          <p:nvPr>
            <p:ph idx="1"/>
          </p:nvPr>
        </p:nvSpPr>
        <p:spPr/>
        <p:txBody>
          <a:bodyPr>
            <a:normAutofit/>
          </a:bodyPr>
          <a:lstStyle/>
          <a:p>
            <a:pPr fontAlgn="ctr"/>
            <a:r>
              <a:rPr lang="en-US" b="1" dirty="0" smtClean="0"/>
              <a:t>Define </a:t>
            </a:r>
            <a:r>
              <a:rPr lang="en-US" b="1" dirty="0"/>
              <a:t>the Problem:</a:t>
            </a:r>
            <a:r>
              <a:rPr lang="en-US" dirty="0"/>
              <a:t> Clearly identify the issue you are trying to solve. </a:t>
            </a:r>
          </a:p>
          <a:p>
            <a:pPr fontAlgn="ctr"/>
            <a:r>
              <a:rPr lang="en-US" b="1" dirty="0"/>
              <a:t>Analyze the Root Cause:</a:t>
            </a:r>
            <a:r>
              <a:rPr lang="en-US" dirty="0"/>
              <a:t> Investigate and gather information to understand why the problem is occurring. </a:t>
            </a:r>
          </a:p>
          <a:p>
            <a:pPr fontAlgn="ctr"/>
            <a:r>
              <a:rPr lang="en-US" b="1" dirty="0"/>
              <a:t>Brainstorm Solutions:</a:t>
            </a:r>
            <a:r>
              <a:rPr lang="en-US" dirty="0"/>
              <a:t> Generate a variety of potential solutions or approaches. </a:t>
            </a:r>
          </a:p>
          <a:p>
            <a:pPr fontAlgn="ctr"/>
            <a:r>
              <a:rPr lang="en-US" b="1" dirty="0"/>
              <a:t>Evaluate Options:</a:t>
            </a:r>
            <a:r>
              <a:rPr lang="en-US" dirty="0"/>
              <a:t> Assess the feasibility and potential effectiveness of each solution. </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Problem-Solving Process</a:t>
            </a:r>
            <a:br>
              <a:rPr lang="en-US" dirty="0" smtClean="0"/>
            </a:br>
            <a:endParaRPr lang="en-US" dirty="0"/>
          </a:p>
        </p:txBody>
      </p:sp>
      <p:sp>
        <p:nvSpPr>
          <p:cNvPr id="3" name="Content Placeholder 2"/>
          <p:cNvSpPr>
            <a:spLocks noGrp="1"/>
          </p:cNvSpPr>
          <p:nvPr>
            <p:ph idx="1"/>
          </p:nvPr>
        </p:nvSpPr>
        <p:spPr/>
        <p:txBody>
          <a:bodyPr/>
          <a:lstStyle/>
          <a:p>
            <a:pPr fontAlgn="ctr"/>
            <a:r>
              <a:rPr lang="en-US" b="1" dirty="0" smtClean="0"/>
              <a:t>Select the Best Solution:</a:t>
            </a:r>
            <a:r>
              <a:rPr lang="en-US" dirty="0" smtClean="0"/>
              <a:t> Choose the most suitable option to implement. </a:t>
            </a:r>
          </a:p>
          <a:p>
            <a:pPr fontAlgn="ctr"/>
            <a:r>
              <a:rPr lang="en-US" b="1" dirty="0" smtClean="0"/>
              <a:t>Implement the Solution:</a:t>
            </a:r>
            <a:r>
              <a:rPr lang="en-US" dirty="0" smtClean="0"/>
              <a:t> Put your chosen solution into action. </a:t>
            </a:r>
          </a:p>
          <a:p>
            <a:r>
              <a:rPr lang="en-US" b="1" dirty="0" smtClean="0"/>
              <a:t>Monitor and Reflect:</a:t>
            </a:r>
            <a:r>
              <a:rPr lang="en-US" dirty="0" smtClean="0"/>
              <a:t> Track the results of the solution and learn from the experience. </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How To Improve Your Problem-Solving Skills?</a:t>
            </a:r>
            <a:br>
              <a:rPr lang="en-US" b="1"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There </a:t>
            </a:r>
            <a:r>
              <a:rPr lang="en-US" dirty="0"/>
              <a:t>are several methods you can use to improve your problem-solving skills. Whether you are searching for a job or currently working, improving your problem-solving skills and associated abilities would help make you a strong candidate and </a:t>
            </a:r>
            <a:r>
              <a:rPr lang="en-US" dirty="0" smtClean="0"/>
              <a:t>employee</a:t>
            </a:r>
          </a:p>
          <a:p>
            <a:r>
              <a:rPr lang="en-US" dirty="0" smtClean="0"/>
              <a:t>.</a:t>
            </a:r>
            <a:r>
              <a:rPr lang="en-US" b="1" dirty="0"/>
              <a:t>Acquire more technical knowledge in your field.</a:t>
            </a:r>
            <a:r>
              <a:rPr lang="en-US" dirty="0"/>
              <a:t> Depending on your industry, it may be easier to solve problems if you have a strong working technical knowledge. You can gain more technical knowledge through additional coursework, training or practice.</a:t>
            </a:r>
          </a:p>
          <a:p>
            <a:r>
              <a:rPr lang="en-US" b="1" dirty="0"/>
              <a:t>Seek out opportunities to solve problems.</a:t>
            </a:r>
            <a:r>
              <a:rPr lang="en-US" dirty="0"/>
              <a:t> By putting yourself into new situations, you are more likely to be exposed to opportunities to solve problems. You may find there are opportunities to volunteer for new projects in your current role, on another team or outside the workplace for another </a:t>
            </a:r>
            <a:r>
              <a:rPr lang="en-US" dirty="0" err="1"/>
              <a:t>organisation</a:t>
            </a:r>
            <a:r>
              <a:rPr lang="en-US" dirty="0" smtClean="0"/>
              <a:t>.</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How To Improve Your Problem-Solving Skills?</a:t>
            </a:r>
            <a:br>
              <a:rPr lang="en-US" b="1" dirty="0" smtClean="0"/>
            </a:br>
            <a:endParaRPr lang="en-US" dirty="0"/>
          </a:p>
        </p:txBody>
      </p:sp>
      <p:sp>
        <p:nvSpPr>
          <p:cNvPr id="3" name="Content Placeholder 2"/>
          <p:cNvSpPr>
            <a:spLocks noGrp="1"/>
          </p:cNvSpPr>
          <p:nvPr>
            <p:ph idx="1"/>
          </p:nvPr>
        </p:nvSpPr>
        <p:spPr/>
        <p:txBody>
          <a:bodyPr>
            <a:normAutofit fontScale="77500" lnSpcReduction="20000"/>
          </a:bodyPr>
          <a:lstStyle/>
          <a:p>
            <a:r>
              <a:rPr lang="en-US" b="1" dirty="0" smtClean="0"/>
              <a:t>Do practice problems.</a:t>
            </a:r>
            <a:r>
              <a:rPr lang="en-US" dirty="0" smtClean="0"/>
              <a:t> Practice and role-play can be useful tools when learning to develop your problem-solving skills. You can find professional practice books for your industry and problem-solving scenarios online. Practice how you might solve those problems and determine if your potential solutions are viable.</a:t>
            </a:r>
          </a:p>
          <a:p>
            <a:r>
              <a:rPr lang="en-US" dirty="0" smtClean="0"/>
              <a:t>For example, in customer service, you might find a scenario like, “How would you handle an angry customer?” or “How do you respond when a customer asks for a refund?” Practicing how you might handle these or other scenarios common in your industry can help you call upon solutions quickly when they arise on the job.</a:t>
            </a:r>
          </a:p>
          <a:p>
            <a:r>
              <a:rPr lang="en-US" b="1" dirty="0" smtClean="0"/>
              <a:t>Observe how others solve problems.</a:t>
            </a:r>
            <a:r>
              <a:rPr lang="en-US" dirty="0" smtClean="0"/>
              <a:t> You may have colleagues who are skilled problem solvers. Observing how those colleagues solve problems can help you improve your own skills. If possible, ask one of your more experienced colleagues if you can observe their techniques. Asking relevant questions can be helpful in applying them in your own career.</a:t>
            </a:r>
          </a:p>
          <a:p>
            <a:endParaRPr lang="en-US" dirty="0" smtClean="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Troubleshooting</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Troubleshooting is the systematic process of diagnosing and solving problems with a product, system, or process to restore its functionality. It involves identifying the symptoms of a problem, gathering information, forming a hypothesis, and then testing various solutions until the issue is resolved. This logical approach is used across many fields, from complex machinery and electronics to software systems and even non-technical processes</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Troubleshooting Focus</a:t>
            </a:r>
            <a:br>
              <a:rPr lang="en-US" dirty="0" smtClean="0"/>
            </a:br>
            <a:endParaRPr lang="en-US" dirty="0"/>
          </a:p>
        </p:txBody>
      </p:sp>
      <p:sp>
        <p:nvSpPr>
          <p:cNvPr id="3" name="Content Placeholder 2"/>
          <p:cNvSpPr>
            <a:spLocks noGrp="1"/>
          </p:cNvSpPr>
          <p:nvPr>
            <p:ph idx="1"/>
          </p:nvPr>
        </p:nvSpPr>
        <p:spPr/>
        <p:txBody>
          <a:bodyPr>
            <a:normAutofit fontScale="85000" lnSpcReduction="20000"/>
          </a:bodyPr>
          <a:lstStyle/>
          <a:p>
            <a:pPr fontAlgn="ctr"/>
            <a:r>
              <a:rPr lang="en-US" dirty="0" smtClean="0"/>
              <a:t>Troubleshooting </a:t>
            </a:r>
            <a:r>
              <a:rPr lang="en-US" dirty="0"/>
              <a:t>applies these skills to diagnose and fix technical issues by: </a:t>
            </a:r>
          </a:p>
          <a:p>
            <a:r>
              <a:rPr lang="en-US" dirty="0"/>
              <a:t>Identifying the specific problem.</a:t>
            </a:r>
          </a:p>
          <a:p>
            <a:r>
              <a:rPr lang="en-US" dirty="0"/>
              <a:t>Checking basic elements like physical connections and power.</a:t>
            </a:r>
          </a:p>
          <a:p>
            <a:r>
              <a:rPr lang="en-US" dirty="0"/>
              <a:t>Identifying any recent changes that may have caused the issue.</a:t>
            </a:r>
          </a:p>
          <a:p>
            <a:r>
              <a:rPr lang="en-US" dirty="0"/>
              <a:t>Establishing and prioritizing potential theories or causes.</a:t>
            </a:r>
          </a:p>
          <a:p>
            <a:r>
              <a:rPr lang="en-US" dirty="0"/>
              <a:t>Testing each theory systematically to find the exact cause.</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t>
            </a:r>
            <a:r>
              <a:rPr lang="en-US" dirty="0" smtClean="0"/>
              <a:t>roubleshooting steps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The </a:t>
            </a:r>
            <a:r>
              <a:rPr lang="en-US" dirty="0"/>
              <a:t>7 troubleshooting steps are</a:t>
            </a:r>
            <a:r>
              <a:rPr lang="en-US" dirty="0" smtClean="0"/>
              <a:t>:</a:t>
            </a:r>
          </a:p>
          <a:p>
            <a:r>
              <a:rPr lang="en-US" dirty="0"/>
              <a:t> 1) Identify the problem, </a:t>
            </a:r>
            <a:endParaRPr lang="en-US" dirty="0" smtClean="0"/>
          </a:p>
          <a:p>
            <a:r>
              <a:rPr lang="en-US" dirty="0" smtClean="0"/>
              <a:t>2</a:t>
            </a:r>
            <a:r>
              <a:rPr lang="en-US" dirty="0"/>
              <a:t>) Establish a theory of probable cause</a:t>
            </a:r>
            <a:r>
              <a:rPr lang="en-US" dirty="0" smtClean="0"/>
              <a:t>,</a:t>
            </a:r>
          </a:p>
          <a:p>
            <a:r>
              <a:rPr lang="en-US" dirty="0" smtClean="0"/>
              <a:t> </a:t>
            </a:r>
            <a:r>
              <a:rPr lang="en-US" dirty="0"/>
              <a:t>3) Test the theory to determine the cause</a:t>
            </a:r>
            <a:r>
              <a:rPr lang="en-US" dirty="0" smtClean="0"/>
              <a:t>,</a:t>
            </a:r>
          </a:p>
          <a:p>
            <a:r>
              <a:rPr lang="en-US" dirty="0" smtClean="0"/>
              <a:t> </a:t>
            </a:r>
            <a:r>
              <a:rPr lang="en-US" dirty="0"/>
              <a:t>4) Establish a plan of action</a:t>
            </a:r>
            <a:r>
              <a:rPr lang="en-US" dirty="0" smtClean="0"/>
              <a:t>,</a:t>
            </a:r>
          </a:p>
          <a:p>
            <a:r>
              <a:rPr lang="en-US" dirty="0" smtClean="0"/>
              <a:t> </a:t>
            </a:r>
            <a:r>
              <a:rPr lang="en-US" dirty="0"/>
              <a:t>5) Implement the solution, </a:t>
            </a:r>
            <a:endParaRPr lang="en-US" dirty="0" smtClean="0"/>
          </a:p>
          <a:p>
            <a:r>
              <a:rPr lang="en-US" dirty="0" smtClean="0"/>
              <a:t>6</a:t>
            </a:r>
            <a:r>
              <a:rPr lang="en-US" dirty="0"/>
              <a:t>) Verify full system functionality, and </a:t>
            </a:r>
            <a:endParaRPr lang="en-US" dirty="0" smtClean="0"/>
          </a:p>
          <a:p>
            <a:r>
              <a:rPr lang="en-US" dirty="0" smtClean="0"/>
              <a:t>7</a:t>
            </a:r>
            <a:r>
              <a:rPr lang="en-US" dirty="0"/>
              <a:t>) Document findings. </a:t>
            </a:r>
            <a:endParaRPr lang="en-US" dirty="0" smtClean="0"/>
          </a:p>
          <a:p>
            <a:r>
              <a:rPr lang="en-US" dirty="0" smtClean="0"/>
              <a:t>This </a:t>
            </a:r>
            <a:r>
              <a:rPr lang="en-US" dirty="0"/>
              <a:t>structured approach helps in resolving issues efficiently and preventing their recurrence.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Troubleshooting steps</a:t>
            </a:r>
            <a:endParaRPr lang="en-US" dirty="0"/>
          </a:p>
        </p:txBody>
      </p:sp>
      <p:sp>
        <p:nvSpPr>
          <p:cNvPr id="3" name="Content Placeholder 2"/>
          <p:cNvSpPr>
            <a:spLocks noGrp="1"/>
          </p:cNvSpPr>
          <p:nvPr>
            <p:ph idx="1"/>
          </p:nvPr>
        </p:nvSpPr>
        <p:spPr/>
        <p:txBody>
          <a:bodyPr>
            <a:normAutofit fontScale="70000" lnSpcReduction="20000"/>
          </a:bodyPr>
          <a:lstStyle/>
          <a:p>
            <a:r>
              <a:rPr lang="en-US" b="1" dirty="0" smtClean="0"/>
              <a:t>Identify </a:t>
            </a:r>
            <a:r>
              <a:rPr lang="en-US" b="1" dirty="0"/>
              <a:t>the problem:</a:t>
            </a:r>
            <a:r>
              <a:rPr lang="en-US" dirty="0"/>
              <a:t> </a:t>
            </a:r>
          </a:p>
          <a:p>
            <a:pPr fontAlgn="ctr"/>
            <a:r>
              <a:rPr lang="en-US" dirty="0"/>
              <a:t>Clearly define the issue at hand and gather all relevant information about the symptoms and circumstances surrounding it. </a:t>
            </a:r>
          </a:p>
          <a:p>
            <a:r>
              <a:rPr lang="en-US" b="1" dirty="0"/>
              <a:t>Establish a theory of probable cause:</a:t>
            </a:r>
            <a:r>
              <a:rPr lang="en-US" dirty="0"/>
              <a:t> </a:t>
            </a:r>
          </a:p>
          <a:p>
            <a:pPr fontAlgn="ctr"/>
            <a:r>
              <a:rPr lang="en-US" dirty="0"/>
              <a:t>Based on the information gathered, develop an educated guess about what might be causing the problem. </a:t>
            </a:r>
          </a:p>
          <a:p>
            <a:r>
              <a:rPr lang="en-US" b="1" dirty="0"/>
              <a:t>Test the theory to determine the cause:</a:t>
            </a:r>
            <a:r>
              <a:rPr lang="en-US" dirty="0"/>
              <a:t> </a:t>
            </a:r>
          </a:p>
          <a:p>
            <a:pPr fontAlgn="ctr"/>
            <a:r>
              <a:rPr lang="en-US" dirty="0"/>
              <a:t>Perform tests to confirm or disprove your theory. If the theory is incorrect, go back and form a new one. </a:t>
            </a:r>
          </a:p>
          <a:p>
            <a:r>
              <a:rPr lang="en-US" b="1" dirty="0"/>
              <a:t>Establish a plan of action:</a:t>
            </a:r>
            <a:r>
              <a:rPr lang="en-US" dirty="0"/>
              <a:t> </a:t>
            </a:r>
          </a:p>
          <a:p>
            <a:pPr fontAlgn="ctr"/>
            <a:r>
              <a:rPr lang="en-US" dirty="0"/>
              <a:t>Once the cause is identified, create a step-by-step plan to resolve the issue, considering any potential side effects of the fix.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Troubleshooting steps</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Implement the solution:</a:t>
            </a:r>
            <a:r>
              <a:rPr lang="en-US" dirty="0" smtClean="0"/>
              <a:t> </a:t>
            </a:r>
          </a:p>
          <a:p>
            <a:pPr fontAlgn="ctr"/>
            <a:r>
              <a:rPr lang="en-US" dirty="0" smtClean="0"/>
              <a:t>Carry out the plan to fix the problem. </a:t>
            </a:r>
          </a:p>
          <a:p>
            <a:r>
              <a:rPr lang="en-US" b="1" dirty="0" smtClean="0"/>
              <a:t>Verify full system functionality:</a:t>
            </a:r>
            <a:r>
              <a:rPr lang="en-US" dirty="0" smtClean="0"/>
              <a:t> </a:t>
            </a:r>
          </a:p>
          <a:p>
            <a:pPr fontAlgn="ctr"/>
            <a:r>
              <a:rPr lang="en-US" dirty="0" smtClean="0"/>
              <a:t>After the fix is implemented, thoroughly test the system to ensure the problem is resolved and that no new issues have been introduced. </a:t>
            </a:r>
          </a:p>
          <a:p>
            <a:r>
              <a:rPr lang="en-US" b="1" dirty="0" smtClean="0"/>
              <a:t>Document findings:</a:t>
            </a:r>
            <a:r>
              <a:rPr lang="en-US" dirty="0" smtClean="0"/>
              <a:t> </a:t>
            </a:r>
          </a:p>
          <a:p>
            <a:r>
              <a:rPr lang="en-US" dirty="0" smtClean="0"/>
              <a:t>Record the problem, the actions taken, the outcome, and any lessons learned for future reference. </a:t>
            </a:r>
          </a:p>
          <a:p>
            <a:endParaRPr lang="en-US" dirty="0" smtClean="0"/>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is Troubleshooting Important?</a:t>
            </a:r>
            <a:br>
              <a:rPr lang="en-US" dirty="0" smtClean="0"/>
            </a:br>
            <a:endParaRPr lang="en-US" dirty="0"/>
          </a:p>
        </p:txBody>
      </p:sp>
      <p:sp>
        <p:nvSpPr>
          <p:cNvPr id="3" name="Content Placeholder 2"/>
          <p:cNvSpPr>
            <a:spLocks noGrp="1"/>
          </p:cNvSpPr>
          <p:nvPr>
            <p:ph idx="1"/>
          </p:nvPr>
        </p:nvSpPr>
        <p:spPr/>
        <p:txBody>
          <a:bodyPr>
            <a:normAutofit fontScale="62500" lnSpcReduction="20000"/>
          </a:bodyPr>
          <a:lstStyle/>
          <a:p>
            <a:r>
              <a:rPr lang="en-US" b="1" dirty="0" smtClean="0"/>
              <a:t>Restores Functionality:</a:t>
            </a:r>
            <a:r>
              <a:rPr lang="en-US" dirty="0" smtClean="0"/>
              <a:t> </a:t>
            </a:r>
          </a:p>
          <a:p>
            <a:pPr fontAlgn="ctr"/>
            <a:r>
              <a:rPr lang="en-US" dirty="0" smtClean="0"/>
              <a:t>It brings broken or malfunctioning systems back to their intended operational state. </a:t>
            </a:r>
          </a:p>
          <a:p>
            <a:r>
              <a:rPr lang="en-US" b="1" dirty="0" smtClean="0"/>
              <a:t>Reduces Downtime:</a:t>
            </a:r>
            <a:r>
              <a:rPr lang="en-US" dirty="0" smtClean="0"/>
              <a:t> </a:t>
            </a:r>
          </a:p>
          <a:p>
            <a:pPr fontAlgn="ctr"/>
            <a:r>
              <a:rPr lang="en-US" dirty="0" smtClean="0"/>
              <a:t>By quickly identifying and fixing issues, troubleshooting minimizes costly downtime for businesses and users. </a:t>
            </a:r>
          </a:p>
          <a:p>
            <a:r>
              <a:rPr lang="en-US" b="1" dirty="0" smtClean="0"/>
              <a:t>Prevents Larger Problems:</a:t>
            </a:r>
            <a:r>
              <a:rPr lang="en-US" dirty="0" smtClean="0"/>
              <a:t> </a:t>
            </a:r>
          </a:p>
          <a:p>
            <a:pPr fontAlgn="ctr"/>
            <a:r>
              <a:rPr lang="en-US" dirty="0" smtClean="0"/>
              <a:t>Addressing minor issues early can prevent them from escalating into more severe and complex failures. </a:t>
            </a:r>
          </a:p>
          <a:p>
            <a:r>
              <a:rPr lang="en-US" b="1" dirty="0" smtClean="0"/>
              <a:t>Saves Costs:</a:t>
            </a:r>
            <a:r>
              <a:rPr lang="en-US" dirty="0" smtClean="0"/>
              <a:t> </a:t>
            </a:r>
          </a:p>
          <a:p>
            <a:pPr fontAlgn="ctr"/>
            <a:r>
              <a:rPr lang="en-US" dirty="0" smtClean="0"/>
              <a:t>Effective troubleshooting reduces the need for expensive repairs or premature replacement of equipment. </a:t>
            </a:r>
          </a:p>
          <a:p>
            <a:r>
              <a:rPr lang="en-US" b="1" dirty="0" smtClean="0"/>
              <a:t>Improves Reliability:</a:t>
            </a:r>
            <a:r>
              <a:rPr lang="en-US" dirty="0" smtClean="0"/>
              <a:t> </a:t>
            </a:r>
          </a:p>
          <a:p>
            <a:r>
              <a:rPr lang="en-US" dirty="0" smtClean="0"/>
              <a:t>It ensures that systems and processes are more reliable and consistent over time. </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Common Barriers to Problem Solving</a:t>
            </a:r>
            <a:br>
              <a:rPr lang="en-US"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b="1" dirty="0" smtClean="0"/>
              <a:t>Cognitive Barriers:</a:t>
            </a:r>
            <a:endParaRPr lang="en-US" dirty="0" smtClean="0"/>
          </a:p>
          <a:p>
            <a:pPr fontAlgn="ctr"/>
            <a:r>
              <a:rPr lang="en-US" b="1" dirty="0" smtClean="0"/>
              <a:t>Mental Set:</a:t>
            </a:r>
            <a:r>
              <a:rPr lang="en-US" dirty="0" smtClean="0"/>
              <a:t> Relying on past solutions instead of exploring new approaches. </a:t>
            </a:r>
          </a:p>
          <a:p>
            <a:pPr fontAlgn="ctr"/>
            <a:r>
              <a:rPr lang="en-US" b="1" dirty="0" smtClean="0"/>
              <a:t>Functional Fixedness:</a:t>
            </a:r>
            <a:r>
              <a:rPr lang="en-US" dirty="0" smtClean="0"/>
              <a:t> Inability to see an object or concept beyond its usual function. </a:t>
            </a:r>
          </a:p>
          <a:p>
            <a:pPr fontAlgn="ctr"/>
            <a:r>
              <a:rPr lang="en-US" b="1" dirty="0" smtClean="0"/>
              <a:t>Confirmation Bias:</a:t>
            </a:r>
            <a:r>
              <a:rPr lang="en-US" dirty="0" smtClean="0"/>
              <a:t> Focusing only on information that confirms existing beliefs. </a:t>
            </a:r>
          </a:p>
          <a:p>
            <a:pPr fontAlgn="ctr"/>
            <a:r>
              <a:rPr lang="en-US" b="1" dirty="0" smtClean="0"/>
              <a:t>Irrelevant Information:</a:t>
            </a:r>
            <a:r>
              <a:rPr lang="en-US" dirty="0" smtClean="0"/>
              <a:t> Getting sidetracked by details unrelated to the core problem. </a:t>
            </a:r>
          </a:p>
          <a:p>
            <a:r>
              <a:rPr lang="en-US" b="1" dirty="0" smtClean="0"/>
              <a:t>Unnecessary Constraints:</a:t>
            </a:r>
            <a:r>
              <a:rPr lang="en-US" dirty="0" smtClean="0"/>
              <a:t> Imposing self-imposed limits that restrict solution options. </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Common Barriers to Problem Solving</a:t>
            </a:r>
            <a:br>
              <a:rPr lang="en-US" dirty="0" smtClean="0"/>
            </a:br>
            <a:endParaRPr lang="en-US" dirty="0"/>
          </a:p>
        </p:txBody>
      </p:sp>
      <p:sp>
        <p:nvSpPr>
          <p:cNvPr id="3" name="Content Placeholder 2"/>
          <p:cNvSpPr>
            <a:spLocks noGrp="1"/>
          </p:cNvSpPr>
          <p:nvPr>
            <p:ph idx="1"/>
          </p:nvPr>
        </p:nvSpPr>
        <p:spPr/>
        <p:txBody>
          <a:bodyPr/>
          <a:lstStyle/>
          <a:p>
            <a:r>
              <a:rPr lang="en-US" b="1" dirty="0" smtClean="0"/>
              <a:t>Emotional and Attitudinal Barriers:</a:t>
            </a:r>
            <a:endParaRPr lang="en-US" dirty="0" smtClean="0"/>
          </a:p>
          <a:p>
            <a:pPr fontAlgn="ctr"/>
            <a:r>
              <a:rPr lang="en-US" b="1" dirty="0" smtClean="0"/>
              <a:t>Fear of Failure:</a:t>
            </a:r>
            <a:r>
              <a:rPr lang="en-US" dirty="0" smtClean="0"/>
              <a:t> Hesitation to try new ideas due to the fear of not succeeding. </a:t>
            </a:r>
          </a:p>
          <a:p>
            <a:pPr fontAlgn="ctr"/>
            <a:r>
              <a:rPr lang="en-US" b="1" dirty="0" smtClean="0"/>
              <a:t>Lack of Motivation:</a:t>
            </a:r>
            <a:r>
              <a:rPr lang="en-US" dirty="0" smtClean="0"/>
              <a:t> A disinterest in the problem or its resolution. </a:t>
            </a:r>
          </a:p>
          <a:p>
            <a:r>
              <a:rPr lang="en-US" b="1" dirty="0" smtClean="0"/>
              <a:t>Emotional Response:</a:t>
            </a:r>
            <a:r>
              <a:rPr lang="en-US" dirty="0" smtClean="0"/>
              <a:t> Making decisions based on feelings rather than logic, especially in the "heat of the moment". </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Common Barriers to Problem Solving</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External Barriers:</a:t>
            </a:r>
            <a:endParaRPr lang="en-US" dirty="0" smtClean="0"/>
          </a:p>
          <a:p>
            <a:pPr fontAlgn="ctr"/>
            <a:r>
              <a:rPr lang="en-US" b="1" dirty="0" smtClean="0"/>
              <a:t>Poor Problem Definition:</a:t>
            </a:r>
            <a:r>
              <a:rPr lang="en-US" dirty="0" smtClean="0"/>
              <a:t> Vague or incorrect understanding of the problem leads to misdirected efforts. </a:t>
            </a:r>
          </a:p>
          <a:p>
            <a:pPr fontAlgn="ctr"/>
            <a:r>
              <a:rPr lang="en-US" b="1" dirty="0" smtClean="0"/>
              <a:t>Lack of Resources:</a:t>
            </a:r>
            <a:r>
              <a:rPr lang="en-US" dirty="0" smtClean="0"/>
              <a:t> Insufficient time, funding, or tools needed to find a solution. </a:t>
            </a:r>
          </a:p>
          <a:p>
            <a:pPr fontAlgn="ctr"/>
            <a:r>
              <a:rPr lang="en-US" b="1" dirty="0" smtClean="0"/>
              <a:t>Communication Gaps:</a:t>
            </a:r>
            <a:r>
              <a:rPr lang="en-US" dirty="0" smtClean="0"/>
              <a:t> Lack of clear, open, or collaborative communication within a team or organization. </a:t>
            </a:r>
          </a:p>
          <a:p>
            <a:r>
              <a:rPr lang="en-US" b="1" dirty="0" smtClean="0"/>
              <a:t>Organizational Culture:</a:t>
            </a:r>
            <a:r>
              <a:rPr lang="en-US" dirty="0" smtClean="0"/>
              <a:t> A lack of support for new ideas or creativity can stifle problem-solving. </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Strategies for Troubleshooting Barriers</a:t>
            </a:r>
            <a:br>
              <a:rPr lang="en-US" dirty="0" smtClean="0"/>
            </a:br>
            <a:endParaRPr lang="en-US" dirty="0"/>
          </a:p>
        </p:txBody>
      </p:sp>
      <p:sp>
        <p:nvSpPr>
          <p:cNvPr id="3" name="Content Placeholder 2"/>
          <p:cNvSpPr>
            <a:spLocks noGrp="1"/>
          </p:cNvSpPr>
          <p:nvPr>
            <p:ph idx="1"/>
          </p:nvPr>
        </p:nvSpPr>
        <p:spPr/>
        <p:txBody>
          <a:bodyPr>
            <a:normAutofit fontScale="85000" lnSpcReduction="10000"/>
          </a:bodyPr>
          <a:lstStyle/>
          <a:p>
            <a:pPr fontAlgn="ctr"/>
            <a:r>
              <a:rPr lang="en-US" b="1" dirty="0" smtClean="0"/>
              <a:t>Improve Problem Definition:</a:t>
            </a:r>
            <a:r>
              <a:rPr lang="en-US" dirty="0" smtClean="0"/>
              <a:t> Clearly articulate the problem to ensure everyone understands the issue. </a:t>
            </a:r>
          </a:p>
          <a:p>
            <a:pPr fontAlgn="ctr"/>
            <a:r>
              <a:rPr lang="en-US" b="1" dirty="0" smtClean="0"/>
              <a:t>Challenge Assumptions:</a:t>
            </a:r>
            <a:r>
              <a:rPr lang="en-US" dirty="0" smtClean="0"/>
              <a:t> Actively seek information that contradicts your existing beliefs to overcome biases. </a:t>
            </a:r>
          </a:p>
          <a:p>
            <a:pPr fontAlgn="ctr"/>
            <a:r>
              <a:rPr lang="en-US" b="1" dirty="0" smtClean="0"/>
              <a:t>Break Down Problems:</a:t>
            </a:r>
            <a:r>
              <a:rPr lang="en-US" dirty="0" smtClean="0"/>
              <a:t> Decompose complex problems into smaller, manageable sub-problems. </a:t>
            </a:r>
          </a:p>
          <a:p>
            <a:pPr fontAlgn="ctr"/>
            <a:r>
              <a:rPr lang="en-US" b="1" dirty="0" smtClean="0"/>
              <a:t>Foster Creativity:</a:t>
            </a:r>
            <a:r>
              <a:rPr lang="en-US" dirty="0" smtClean="0"/>
              <a:t> Encourage diverse thinking and consider multiple perspectives, which may involve relaxing self-imposed constraints. </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Strategies for Troubleshooting Barriers</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pPr fontAlgn="ctr"/>
            <a:r>
              <a:rPr lang="en-US" b="1" dirty="0" smtClean="0"/>
              <a:t>Learn New Techniques:</a:t>
            </a:r>
            <a:r>
              <a:rPr lang="en-US" dirty="0" smtClean="0"/>
              <a:t> Become familiar with various problem-solving methods and apply them flexibly rather than using a one-size-fits-all approach. </a:t>
            </a:r>
          </a:p>
          <a:p>
            <a:pPr fontAlgn="ctr"/>
            <a:r>
              <a:rPr lang="en-US" b="1" dirty="0" smtClean="0"/>
              <a:t>Promote Collaboration:</a:t>
            </a:r>
            <a:r>
              <a:rPr lang="en-US" dirty="0" smtClean="0"/>
              <a:t> Work with others to leverage different viewpoints and share knowledge. </a:t>
            </a:r>
          </a:p>
          <a:p>
            <a:r>
              <a:rPr lang="en-US" b="1" dirty="0" smtClean="0"/>
              <a:t>Create a Supportive Environment:</a:t>
            </a:r>
            <a:r>
              <a:rPr lang="en-US" dirty="0" smtClean="0"/>
              <a:t> Ensure the culture encourages new ideas, experimentation, and a growth mindset, even if it involves failure. </a:t>
            </a:r>
          </a:p>
          <a:p>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26</TotalTime>
  <Words>223</Words>
  <Application>Microsoft Office PowerPoint</Application>
  <PresentationFormat>On-screen Show (4:3)</PresentationFormat>
  <Paragraphs>102</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Flow</vt:lpstr>
      <vt:lpstr>Problem-solving skills</vt:lpstr>
      <vt:lpstr>Problem-solving skills</vt:lpstr>
      <vt:lpstr>Core Problem-Solving Skills </vt:lpstr>
      <vt:lpstr>Core Problem-Solving Skills </vt:lpstr>
      <vt:lpstr>The Problem-Solving Process</vt:lpstr>
      <vt:lpstr>The Problem-Solving Process </vt:lpstr>
      <vt:lpstr>How To Improve Your Problem-Solving Skills? </vt:lpstr>
      <vt:lpstr>How To Improve Your Problem-Solving Skills? </vt:lpstr>
      <vt:lpstr>Troubleshooting</vt:lpstr>
      <vt:lpstr>Troubleshooting Focus </vt:lpstr>
      <vt:lpstr>Troubleshooting steps</vt:lpstr>
      <vt:lpstr>Troubleshooting steps</vt:lpstr>
      <vt:lpstr>Troubleshooting steps</vt:lpstr>
      <vt:lpstr>Why is Troubleshooting Important? </vt:lpstr>
      <vt:lpstr>Common Barriers to Problem Solving </vt:lpstr>
      <vt:lpstr>Common Barriers to Problem Solving </vt:lpstr>
      <vt:lpstr>Common Barriers to Problem Solving </vt:lpstr>
      <vt:lpstr>Strategies for Troubleshooting Barriers </vt:lpstr>
      <vt:lpstr>Strategies for Troubleshooting Barriers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Problem-solving skills</dc:title>
  <dc:creator>Windows User</dc:creator>
  <cp:lastModifiedBy>hod</cp:lastModifiedBy>
  <cp:revision>11</cp:revision>
  <dcterms:created xsi:type="dcterms:W3CDTF">2025-09-20T10:43:20Z</dcterms:created>
  <dcterms:modified xsi:type="dcterms:W3CDTF">2025-09-22T08:44:40Z</dcterms:modified>
</cp:coreProperties>
</file>