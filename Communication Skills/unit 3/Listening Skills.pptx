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9" r:id="rId2"/>
    <p:sldId id="257" r:id="rId3"/>
    <p:sldId id="266" r:id="rId4"/>
    <p:sldId id="258" r:id="rId5"/>
    <p:sldId id="259" r:id="rId6"/>
    <p:sldId id="260" r:id="rId7"/>
    <p:sldId id="261" r:id="rId8"/>
    <p:sldId id="262" r:id="rId9"/>
    <p:sldId id="263" r:id="rId10"/>
    <p:sldId id="264" r:id="rId11"/>
    <p:sldId id="267" r:id="rId12"/>
    <p:sldId id="268" r:id="rId13"/>
    <p:sldId id="271"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86" d="100"/>
          <a:sy n="86" d="100"/>
        </p:scale>
        <p:origin x="-1092"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C6518C52-40AE-4032-9C4C-3CC0FD9D9305}" type="datetimeFigureOut">
              <a:rPr lang="en-US" smtClean="0"/>
              <a:t>9/19/2025</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6A225D67-7BF9-407E-B3F4-E307ED2279A0}"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6518C52-40AE-4032-9C4C-3CC0FD9D9305}" type="datetimeFigureOut">
              <a:rPr lang="en-US" smtClean="0"/>
              <a:t>9/19/2025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225D67-7BF9-407E-B3F4-E307ED2279A0}"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C6518C52-40AE-4032-9C4C-3CC0FD9D9305}" type="datetimeFigureOut">
              <a:rPr lang="en-US" smtClean="0"/>
              <a:t>9/19/2025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225D67-7BF9-407E-B3F4-E307ED2279A0}"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C6518C52-40AE-4032-9C4C-3CC0FD9D9305}" type="datetimeFigureOut">
              <a:rPr lang="en-US" smtClean="0"/>
              <a:t>9/19/2025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225D67-7BF9-407E-B3F4-E307ED2279A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C6518C52-40AE-4032-9C4C-3CC0FD9D9305}" type="datetimeFigureOut">
              <a:rPr lang="en-US" smtClean="0"/>
              <a:t>9/19/2025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A225D67-7BF9-407E-B3F4-E307ED2279A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C6518C52-40AE-4032-9C4C-3CC0FD9D9305}" type="datetimeFigureOut">
              <a:rPr lang="en-US" smtClean="0"/>
              <a:t>9/19/2025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A225D67-7BF9-407E-B3F4-E307ED2279A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6518C52-40AE-4032-9C4C-3CC0FD9D9305}" type="datetimeFigureOut">
              <a:rPr lang="en-US" smtClean="0"/>
              <a:t>9/19/2025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A225D67-7BF9-407E-B3F4-E307ED2279A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C6518C52-40AE-4032-9C4C-3CC0FD9D9305}" type="datetimeFigureOut">
              <a:rPr lang="en-US" smtClean="0"/>
              <a:t>9/19/2025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225D67-7BF9-407E-B3F4-E307ED2279A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C6518C52-40AE-4032-9C4C-3CC0FD9D9305}" type="datetimeFigureOut">
              <a:rPr lang="en-US" smtClean="0"/>
              <a:t>9/19/2025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6A225D67-7BF9-407E-B3F4-E307ED2279A0}" type="slidenum">
              <a:rPr lang="en-US" smtClean="0"/>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6518C52-40AE-4032-9C4C-3CC0FD9D9305}" type="datetimeFigureOut">
              <a:rPr lang="en-US" smtClean="0"/>
              <a:t>9/19/2025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225D67-7BF9-407E-B3F4-E307ED2279A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6518C52-40AE-4032-9C4C-3CC0FD9D9305}" type="datetimeFigureOut">
              <a:rPr lang="en-US" smtClean="0"/>
              <a:t>9/19/2025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225D67-7BF9-407E-B3F4-E307ED2279A0}"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C6518C52-40AE-4032-9C4C-3CC0FD9D9305}" type="datetimeFigureOut">
              <a:rPr lang="en-US" smtClean="0"/>
              <a:t>9/19/2025</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6A225D67-7BF9-407E-B3F4-E307ED2279A0}" type="slidenum">
              <a:rPr lang="en-US" smtClean="0"/>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1371600" y="990600"/>
            <a:ext cx="6248399" cy="4876799"/>
          </a:xfrm>
          <a:prstGeom prst="rect">
            <a:avLst/>
          </a:prstGeom>
          <a:noFill/>
          <a:ln w="9525">
            <a:noFill/>
            <a:miter lim="800000"/>
            <a:headEnd/>
            <a:tailEnd/>
          </a:ln>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Listening Skills</a:t>
            </a:r>
            <a:br>
              <a:rPr lang="en-US" dirty="0" smtClean="0"/>
            </a:br>
            <a:endParaRPr lang="en-US" dirty="0"/>
          </a:p>
        </p:txBody>
      </p:sp>
      <p:pic>
        <p:nvPicPr>
          <p:cNvPr id="7170" name="Picture 2"/>
          <p:cNvPicPr>
            <a:picLocks noGrp="1" noChangeAspect="1" noChangeArrowheads="1"/>
          </p:cNvPicPr>
          <p:nvPr>
            <p:ph idx="1"/>
          </p:nvPr>
        </p:nvPicPr>
        <p:blipFill>
          <a:blip r:embed="rId2"/>
          <a:srcRect/>
          <a:stretch>
            <a:fillRect/>
          </a:stretch>
        </p:blipFill>
        <p:spPr bwMode="auto">
          <a:xfrm>
            <a:off x="762000" y="1524000"/>
            <a:ext cx="7315200" cy="1371600"/>
          </a:xfrm>
          <a:prstGeom prst="rect">
            <a:avLst/>
          </a:prstGeom>
          <a:noFill/>
          <a:ln w="9525">
            <a:noFill/>
            <a:miter lim="800000"/>
            <a:headEnd/>
            <a:tailEnd/>
          </a:ln>
          <a:effectLst/>
        </p:spPr>
      </p:pic>
      <p:pic>
        <p:nvPicPr>
          <p:cNvPr id="7171" name="Picture 3"/>
          <p:cNvPicPr>
            <a:picLocks noChangeAspect="1" noChangeArrowheads="1"/>
          </p:cNvPicPr>
          <p:nvPr/>
        </p:nvPicPr>
        <p:blipFill>
          <a:blip r:embed="rId3"/>
          <a:srcRect/>
          <a:stretch>
            <a:fillRect/>
          </a:stretch>
        </p:blipFill>
        <p:spPr bwMode="auto">
          <a:xfrm>
            <a:off x="914400" y="2971800"/>
            <a:ext cx="7010400" cy="3048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a:t>Listening skills involve more than just hearing; they require actively focusing on, understanding, and responding to a speaker by using non-verbal cues, asking clarifying questions, and suppressing distractions and your own internal responses. To improve, practice active listening by giving undivided attention, using eye contact and body language to show engagement, and paraphrasing to confirm understanding. Be patient, avoid interrupting, and maintain an open mind to foster better communication and stronger relationships.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8194" name="Picture 2"/>
          <p:cNvPicPr>
            <a:picLocks noGrp="1" noChangeAspect="1" noChangeArrowheads="1"/>
          </p:cNvPicPr>
          <p:nvPr>
            <p:ph idx="1"/>
          </p:nvPr>
        </p:nvPicPr>
        <p:blipFill>
          <a:blip r:embed="rId2"/>
          <a:srcRect/>
          <a:stretch>
            <a:fillRect/>
          </a:stretch>
        </p:blipFill>
        <p:spPr bwMode="auto">
          <a:xfrm>
            <a:off x="533400" y="609600"/>
            <a:ext cx="8305800" cy="5791200"/>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Stages of the Listening Process</a:t>
            </a:r>
          </a:p>
        </p:txBody>
      </p:sp>
      <p:sp>
        <p:nvSpPr>
          <p:cNvPr id="3" name="Content Placeholder 2"/>
          <p:cNvSpPr>
            <a:spLocks noGrp="1"/>
          </p:cNvSpPr>
          <p:nvPr>
            <p:ph idx="1"/>
          </p:nvPr>
        </p:nvSpPr>
        <p:spPr/>
        <p:txBody>
          <a:bodyPr>
            <a:normAutofit/>
          </a:bodyPr>
          <a:lstStyle/>
          <a:p>
            <a:r>
              <a:t>1. Receiving (Hearing) – Taking in sounds or spoken words.</a:t>
            </a:r>
          </a:p>
          <a:p>
            <a:r>
              <a:t>2. Understanding – Assigning meaning to the message.</a:t>
            </a:r>
          </a:p>
          <a:p>
            <a:r>
              <a:t>3. Remembering – Storing information for use.</a:t>
            </a:r>
          </a:p>
          <a:p>
            <a:r>
              <a:t>4. Evaluating – Analyzing the message critically.</a:t>
            </a:r>
          </a:p>
          <a:p>
            <a:r>
              <a:t>5. Responding (Feedback) – Giving verbal or non-verbal feedback.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Types of Listening</a:t>
            </a:r>
          </a:p>
        </p:txBody>
      </p:sp>
      <p:sp>
        <p:nvSpPr>
          <p:cNvPr id="3" name="Content Placeholder 2"/>
          <p:cNvSpPr>
            <a:spLocks noGrp="1"/>
          </p:cNvSpPr>
          <p:nvPr>
            <p:ph idx="1"/>
          </p:nvPr>
        </p:nvSpPr>
        <p:spPr/>
        <p:txBody>
          <a:bodyPr>
            <a:normAutofit/>
          </a:bodyPr>
          <a:lstStyle/>
          <a:p>
            <a:r>
              <a:t>1. Active Listening – Fully concentrating and responding thoughtfully.</a:t>
            </a:r>
          </a:p>
          <a:p>
            <a:r>
              <a:t>2. Critical Listening – Analyzing and evaluating the message.</a:t>
            </a:r>
          </a:p>
          <a:p>
            <a:r>
              <a:t>3. Empathetic Listening – Understanding emotions behind the words.</a:t>
            </a:r>
          </a:p>
          <a:p>
            <a:r>
              <a:t>4. Comprehensive Listening – Focusing on meaning of information.</a:t>
            </a:r>
          </a:p>
          <a:p>
            <a:r>
              <a:t>5. Appreciative Listening – Listening for enjoyment.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Components</a:t>
            </a:r>
          </a:p>
        </p:txBody>
      </p:sp>
      <p:sp>
        <p:nvSpPr>
          <p:cNvPr id="3" name="Content Placeholder 2"/>
          <p:cNvSpPr>
            <a:spLocks noGrp="1"/>
          </p:cNvSpPr>
          <p:nvPr>
            <p:ph idx="1"/>
          </p:nvPr>
        </p:nvSpPr>
        <p:spPr/>
        <p:txBody>
          <a:bodyPr/>
          <a:lstStyle/>
          <a:p>
            <a:r>
              <a:t>• Attention – Focusing on the speaker.</a:t>
            </a:r>
          </a:p>
          <a:p>
            <a:r>
              <a:t>• Understanding – Interpreting correctly.</a:t>
            </a:r>
          </a:p>
          <a:p>
            <a:r>
              <a:t>• Retention – Remembering information.</a:t>
            </a:r>
          </a:p>
          <a:p>
            <a:r>
              <a:t>• Response – Giving appropriate feedback.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Importance of Listening Skills</a:t>
            </a:r>
          </a:p>
        </p:txBody>
      </p:sp>
      <p:sp>
        <p:nvSpPr>
          <p:cNvPr id="3" name="Content Placeholder 2"/>
          <p:cNvSpPr>
            <a:spLocks noGrp="1"/>
          </p:cNvSpPr>
          <p:nvPr>
            <p:ph idx="1"/>
          </p:nvPr>
        </p:nvSpPr>
        <p:spPr/>
        <p:txBody>
          <a:bodyPr/>
          <a:lstStyle/>
          <a:p>
            <a:r>
              <a:t>• Builds strong relationships.</a:t>
            </a:r>
          </a:p>
          <a:p>
            <a:r>
              <a:t>• Improves learning and knowledge.</a:t>
            </a:r>
          </a:p>
          <a:p>
            <a:r>
              <a:t>• Enhances problem-solving and decision-making.</a:t>
            </a:r>
          </a:p>
          <a:p>
            <a:r>
              <a:t>• Reduces conflicts and misunderstandings.</a:t>
            </a:r>
          </a:p>
          <a:p>
            <a:r>
              <a:t>• Encourages respectful communication.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81000"/>
            <a:ext cx="7620000" cy="6324600"/>
          </a:xfrm>
        </p:spPr>
        <p:txBody>
          <a:bodyPr>
            <a:normAutofit/>
          </a:bodyPr>
          <a:lstStyle/>
          <a:p>
            <a:pPr algn="ctr">
              <a:buNone/>
            </a:pPr>
            <a:r>
              <a:rPr lang="en-US" sz="2500" b="1" u="sng" dirty="0" smtClean="0">
                <a:latin typeface="Times New Roman" pitchFamily="18" charset="0"/>
                <a:cs typeface="Times New Roman" pitchFamily="18" charset="0"/>
              </a:rPr>
              <a:t>Barriers to Listening</a:t>
            </a:r>
            <a:r>
              <a:rPr lang="en-US" sz="2500" dirty="0" smtClean="0">
                <a:latin typeface="Times New Roman" pitchFamily="18" charset="0"/>
                <a:cs typeface="Times New Roman" pitchFamily="18" charset="0"/>
              </a:rPr>
              <a:t> </a:t>
            </a:r>
          </a:p>
          <a:p>
            <a:pPr algn="just">
              <a:buNone/>
            </a:pPr>
            <a:r>
              <a:rPr lang="en-US" sz="2500" dirty="0" smtClean="0">
                <a:latin typeface="Times New Roman" pitchFamily="18" charset="0"/>
                <a:cs typeface="Times New Roman" pitchFamily="18" charset="0"/>
              </a:rPr>
              <a:t>		Barriers to the listening process may create misunderstanding and confusion and may sometimes lead to communication breakdown. </a:t>
            </a:r>
          </a:p>
          <a:p>
            <a:pPr algn="just">
              <a:buNone/>
            </a:pPr>
            <a:r>
              <a:rPr lang="en-US" sz="2500" dirty="0" smtClean="0">
                <a:latin typeface="Times New Roman" pitchFamily="18" charset="0"/>
                <a:cs typeface="Times New Roman" pitchFamily="18" charset="0"/>
              </a:rPr>
              <a:t>* </a:t>
            </a:r>
            <a:r>
              <a:rPr lang="en-US" sz="2500" u="sng" dirty="0" smtClean="0">
                <a:latin typeface="Times New Roman" pitchFamily="18" charset="0"/>
                <a:cs typeface="Times New Roman" pitchFamily="18" charset="0"/>
              </a:rPr>
              <a:t>Physical Barriers</a:t>
            </a:r>
            <a:r>
              <a:rPr lang="en-US" sz="2500" dirty="0" smtClean="0">
                <a:latin typeface="Times New Roman" pitchFamily="18" charset="0"/>
                <a:cs typeface="Times New Roman" pitchFamily="18" charset="0"/>
              </a:rPr>
              <a:t>: Physical </a:t>
            </a:r>
            <a:r>
              <a:rPr lang="en-US" sz="2500" u="sng" dirty="0" smtClean="0">
                <a:latin typeface="Times New Roman" pitchFamily="18" charset="0"/>
                <a:cs typeface="Times New Roman" pitchFamily="18" charset="0"/>
              </a:rPr>
              <a:t>distractions and disturbance </a:t>
            </a:r>
            <a:r>
              <a:rPr lang="en-US" sz="2500" dirty="0" smtClean="0">
                <a:latin typeface="Times New Roman" pitchFamily="18" charset="0"/>
                <a:cs typeface="Times New Roman" pitchFamily="18" charset="0"/>
              </a:rPr>
              <a:t>can easily disrupt the process of listening. Barriers to listening could be noise, physical discomfort, or any physical factor. </a:t>
            </a:r>
          </a:p>
          <a:p>
            <a:pPr algn="just">
              <a:buNone/>
            </a:pPr>
            <a:r>
              <a:rPr lang="en-US" sz="2500" dirty="0" smtClean="0">
                <a:latin typeface="Times New Roman" pitchFamily="18" charset="0"/>
                <a:cs typeface="Times New Roman" pitchFamily="18" charset="0"/>
              </a:rPr>
              <a:t>* </a:t>
            </a:r>
            <a:r>
              <a:rPr lang="en-US" sz="2500" u="sng" dirty="0" smtClean="0">
                <a:latin typeface="Times New Roman" pitchFamily="18" charset="0"/>
                <a:cs typeface="Times New Roman" pitchFamily="18" charset="0"/>
              </a:rPr>
              <a:t>Psychological Barriers</a:t>
            </a:r>
            <a:r>
              <a:rPr lang="en-US" sz="2500" dirty="0" smtClean="0">
                <a:latin typeface="Times New Roman" pitchFamily="18" charset="0"/>
                <a:cs typeface="Times New Roman" pitchFamily="18" charset="0"/>
              </a:rPr>
              <a:t>: Listener’s </a:t>
            </a:r>
            <a:r>
              <a:rPr lang="en-US" sz="2500" u="sng" dirty="0" smtClean="0">
                <a:latin typeface="Times New Roman" pitchFamily="18" charset="0"/>
                <a:cs typeface="Times New Roman" pitchFamily="18" charset="0"/>
              </a:rPr>
              <a:t>disturbed state of mind </a:t>
            </a:r>
            <a:r>
              <a:rPr lang="en-US" sz="2500" dirty="0" smtClean="0">
                <a:latin typeface="Times New Roman" pitchFamily="18" charset="0"/>
                <a:cs typeface="Times New Roman" pitchFamily="18" charset="0"/>
              </a:rPr>
              <a:t>and disturbance can prove to be a barrier to effective listening because it leads to lack of interest and concentration. Reasons are: feeling of anger, frustration, sadness, anxiety, or fear influence our reception and others’ ideas.</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04800"/>
            <a:ext cx="8001000" cy="6400800"/>
          </a:xfrm>
        </p:spPr>
        <p:txBody>
          <a:bodyPr>
            <a:normAutofit/>
          </a:bodyPr>
          <a:lstStyle/>
          <a:p>
            <a:pPr algn="ctr">
              <a:buNone/>
            </a:pPr>
            <a:r>
              <a:rPr lang="en-US" sz="2500" b="1" u="sng" dirty="0" smtClean="0">
                <a:latin typeface="Times New Roman" pitchFamily="18" charset="0"/>
                <a:cs typeface="Times New Roman" pitchFamily="18" charset="0"/>
              </a:rPr>
              <a:t>Barriers to Listening</a:t>
            </a:r>
            <a:r>
              <a:rPr lang="en-US" sz="2500" dirty="0" smtClean="0">
                <a:latin typeface="Times New Roman" pitchFamily="18" charset="0"/>
                <a:cs typeface="Times New Roman" pitchFamily="18" charset="0"/>
              </a:rPr>
              <a:t> </a:t>
            </a:r>
          </a:p>
          <a:p>
            <a:pPr algn="just">
              <a:buNone/>
            </a:pPr>
            <a:r>
              <a:rPr lang="en-US" sz="2500" dirty="0" smtClean="0">
                <a:latin typeface="Times New Roman" pitchFamily="18" charset="0"/>
                <a:cs typeface="Times New Roman" pitchFamily="18" charset="0"/>
              </a:rPr>
              <a:t>* </a:t>
            </a:r>
            <a:r>
              <a:rPr lang="en-US" sz="2500" u="sng" dirty="0" smtClean="0">
                <a:latin typeface="Times New Roman" pitchFamily="18" charset="0"/>
                <a:cs typeface="Times New Roman" pitchFamily="18" charset="0"/>
              </a:rPr>
              <a:t>Linguistic Barriers</a:t>
            </a:r>
            <a:r>
              <a:rPr lang="en-US" sz="2500" dirty="0" smtClean="0">
                <a:latin typeface="Times New Roman" pitchFamily="18" charset="0"/>
                <a:cs typeface="Times New Roman" pitchFamily="18" charset="0"/>
              </a:rPr>
              <a:t>: this barrier occurs when the speaker is using the </a:t>
            </a:r>
            <a:r>
              <a:rPr lang="en-US" sz="2500" u="sng" dirty="0" smtClean="0">
                <a:latin typeface="Times New Roman" pitchFamily="18" charset="0"/>
                <a:cs typeface="Times New Roman" pitchFamily="18" charset="0"/>
              </a:rPr>
              <a:t>language which the listener does not understand</a:t>
            </a:r>
            <a:r>
              <a:rPr lang="en-US" sz="2500" dirty="0" smtClean="0">
                <a:latin typeface="Times New Roman" pitchFamily="18" charset="0"/>
                <a:cs typeface="Times New Roman" pitchFamily="18" charset="0"/>
              </a:rPr>
              <a:t>. Sometimes the speakers may use difficult words, jargons, technical terminology, or unclear phrases and ambiguous language.</a:t>
            </a:r>
          </a:p>
          <a:p>
            <a:pPr algn="just">
              <a:buFont typeface="Arial" charset="0"/>
              <a:buChar char="•"/>
            </a:pPr>
            <a:r>
              <a:rPr lang="en-US" sz="2500" u="sng" dirty="0" smtClean="0">
                <a:latin typeface="Times New Roman" pitchFamily="18" charset="0"/>
                <a:cs typeface="Times New Roman" pitchFamily="18" charset="0"/>
              </a:rPr>
              <a:t>Cultural Barrier</a:t>
            </a:r>
            <a:r>
              <a:rPr lang="en-US" sz="2500" dirty="0" smtClean="0">
                <a:latin typeface="Times New Roman" pitchFamily="18" charset="0"/>
                <a:cs typeface="Times New Roman" pitchFamily="18" charset="0"/>
              </a:rPr>
              <a:t>: Our values are our personal guides to thought and behavior, and exercise a strong influence on us. If the speaker and the listener belong to different cultures and share different values, listening could become a difficult process. </a:t>
            </a:r>
          </a:p>
          <a:p>
            <a:pPr algn="just">
              <a:buNone/>
            </a:pPr>
            <a:r>
              <a:rPr lang="en-US" sz="2500" dirty="0" smtClean="0">
                <a:latin typeface="Times New Roman" pitchFamily="18" charset="0"/>
                <a:cs typeface="Times New Roman" pitchFamily="18" charset="0"/>
              </a:rPr>
              <a:t>	Ex: Prayer of God in different communities: one does not pay attention to words and lyrics of it. </a:t>
            </a:r>
          </a:p>
          <a:p>
            <a:pPr algn="just">
              <a:buNone/>
            </a:pPr>
            <a:endParaRPr lang="en-US" sz="2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762000"/>
          </a:xfrm>
        </p:spPr>
        <p:txBody>
          <a:bodyPr>
            <a:normAutofit fontScale="90000"/>
          </a:bodyPr>
          <a:lstStyle/>
          <a:p>
            <a:r>
              <a:rPr lang="en-US" dirty="0" smtClean="0"/>
              <a:t>How to Improve Listening Skills</a:t>
            </a:r>
            <a:endParaRPr lang="en-US" dirty="0"/>
          </a:p>
        </p:txBody>
      </p:sp>
      <p:sp>
        <p:nvSpPr>
          <p:cNvPr id="3" name="Content Placeholder 2"/>
          <p:cNvSpPr>
            <a:spLocks noGrp="1"/>
          </p:cNvSpPr>
          <p:nvPr>
            <p:ph idx="1"/>
          </p:nvPr>
        </p:nvSpPr>
        <p:spPr>
          <a:xfrm>
            <a:off x="457200" y="1524000"/>
            <a:ext cx="8229600" cy="4953000"/>
          </a:xfrm>
        </p:spPr>
        <p:txBody>
          <a:bodyPr>
            <a:normAutofit fontScale="85000" lnSpcReduction="20000"/>
          </a:bodyPr>
          <a:lstStyle/>
          <a:p>
            <a:r>
              <a:rPr lang="en-US" b="1" u="sng" dirty="0" smtClean="0"/>
              <a:t>Give </a:t>
            </a:r>
            <a:r>
              <a:rPr lang="en-US" b="1" u="sng" dirty="0"/>
              <a:t>undivided attention</a:t>
            </a:r>
            <a:r>
              <a:rPr lang="en-US" b="1" dirty="0"/>
              <a:t>:</a:t>
            </a:r>
            <a:r>
              <a:rPr lang="en-US" dirty="0"/>
              <a:t> </a:t>
            </a:r>
          </a:p>
          <a:p>
            <a:pPr fontAlgn="ctr"/>
            <a:r>
              <a:rPr lang="en-US" dirty="0"/>
              <a:t>Avoid distractions like phones or headphones, make eye contact, and use your body language to show you're engaged. </a:t>
            </a:r>
          </a:p>
          <a:p>
            <a:r>
              <a:rPr lang="en-US" b="1" u="sng" dirty="0"/>
              <a:t>Nod and use other non-verbal cues</a:t>
            </a:r>
            <a:r>
              <a:rPr lang="en-US" b="1" dirty="0"/>
              <a:t>:</a:t>
            </a:r>
            <a:r>
              <a:rPr lang="en-US" dirty="0"/>
              <a:t> </a:t>
            </a:r>
          </a:p>
          <a:p>
            <a:pPr fontAlgn="ctr"/>
            <a:r>
              <a:rPr lang="en-US" dirty="0"/>
              <a:t>Show your engagement with occasional nods and facial expressions to encourage the speaker to continue. </a:t>
            </a:r>
          </a:p>
          <a:p>
            <a:r>
              <a:rPr lang="en-US" b="1" u="sng" dirty="0"/>
              <a:t>Don't interrupt</a:t>
            </a:r>
            <a:r>
              <a:rPr lang="en-US" b="1" dirty="0"/>
              <a:t>:</a:t>
            </a:r>
            <a:r>
              <a:rPr lang="en-US" dirty="0"/>
              <a:t> </a:t>
            </a:r>
          </a:p>
          <a:p>
            <a:pPr fontAlgn="ctr"/>
            <a:r>
              <a:rPr lang="en-US" dirty="0"/>
              <a:t>Allow the speaker to fully express their thoughts without cutting them off or finishing their sentences. </a:t>
            </a:r>
          </a:p>
          <a:p>
            <a:r>
              <a:rPr lang="en-US" b="1" u="sng" dirty="0"/>
              <a:t>Ask clarifying questions</a:t>
            </a:r>
            <a:r>
              <a:rPr lang="en-US" b="1" dirty="0"/>
              <a:t>:</a:t>
            </a:r>
            <a:r>
              <a:rPr lang="en-US" dirty="0"/>
              <a:t> </a:t>
            </a:r>
          </a:p>
          <a:p>
            <a:pPr fontAlgn="ctr"/>
            <a:r>
              <a:rPr lang="en-US" dirty="0"/>
              <a:t>Inquire for more information using open-ended questions like "Can you tell me more?" to ensure understanding. </a:t>
            </a:r>
          </a:p>
          <a:p>
            <a:r>
              <a:rPr lang="en-US" b="1" u="sng" dirty="0"/>
              <a:t>Paraphrase and summarize</a:t>
            </a:r>
            <a:r>
              <a:rPr lang="en-US" b="1" dirty="0"/>
              <a:t>:</a:t>
            </a:r>
            <a:r>
              <a:rPr lang="en-US" dirty="0"/>
              <a:t> </a:t>
            </a:r>
          </a:p>
          <a:p>
            <a:pPr fontAlgn="ctr"/>
            <a:r>
              <a:rPr lang="en-US" dirty="0"/>
              <a:t>Periodically restate the speaker's key points in your own words to confirm you've understood them correctly.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62000"/>
          </a:xfrm>
        </p:spPr>
        <p:txBody>
          <a:bodyPr>
            <a:normAutofit fontScale="90000"/>
          </a:bodyPr>
          <a:lstStyle/>
          <a:p>
            <a:r>
              <a:rPr lang="en-US" dirty="0" smtClean="0"/>
              <a:t>How to Improve Listening Skills</a:t>
            </a:r>
            <a:endParaRPr lang="en-US" dirty="0"/>
          </a:p>
        </p:txBody>
      </p:sp>
      <p:sp>
        <p:nvSpPr>
          <p:cNvPr id="3" name="Content Placeholder 2"/>
          <p:cNvSpPr>
            <a:spLocks noGrp="1"/>
          </p:cNvSpPr>
          <p:nvPr>
            <p:ph idx="1"/>
          </p:nvPr>
        </p:nvSpPr>
        <p:spPr>
          <a:xfrm>
            <a:off x="457200" y="1219200"/>
            <a:ext cx="8229600" cy="5257800"/>
          </a:xfrm>
        </p:spPr>
        <p:txBody>
          <a:bodyPr>
            <a:normAutofit fontScale="85000" lnSpcReduction="20000"/>
          </a:bodyPr>
          <a:lstStyle/>
          <a:p>
            <a:r>
              <a:rPr lang="en-US" b="1" u="sng" dirty="0" smtClean="0"/>
              <a:t>Maintain an open mind</a:t>
            </a:r>
            <a:r>
              <a:rPr lang="en-US" b="1" dirty="0" smtClean="0"/>
              <a:t>:</a:t>
            </a:r>
            <a:r>
              <a:rPr lang="en-US" dirty="0" smtClean="0"/>
              <a:t> </a:t>
            </a:r>
          </a:p>
          <a:p>
            <a:pPr fontAlgn="ctr"/>
            <a:r>
              <a:rPr lang="en-US" dirty="0" smtClean="0"/>
              <a:t>Avoid judgment and premature conclusions; set aside your own thoughts and agendas to understand the speaker's perspective. </a:t>
            </a:r>
          </a:p>
          <a:p>
            <a:r>
              <a:rPr lang="en-US" b="1" u="sng" dirty="0" smtClean="0"/>
              <a:t>Manage your internal reactions</a:t>
            </a:r>
            <a:r>
              <a:rPr lang="en-US" b="1" dirty="0" smtClean="0"/>
              <a:t>:</a:t>
            </a:r>
            <a:r>
              <a:rPr lang="en-US" dirty="0" smtClean="0"/>
              <a:t> </a:t>
            </a:r>
          </a:p>
          <a:p>
            <a:pPr fontAlgn="ctr"/>
            <a:r>
              <a:rPr lang="en-US" dirty="0" smtClean="0"/>
              <a:t>Be aware of your emotional responses and avoid becoming defensive or argumentative, especially in sensitive conversations. </a:t>
            </a:r>
          </a:p>
          <a:p>
            <a:r>
              <a:rPr lang="en-US" b="1" u="sng" dirty="0" smtClean="0"/>
              <a:t>Take notes:</a:t>
            </a:r>
            <a:r>
              <a:rPr lang="en-US" dirty="0" smtClean="0"/>
              <a:t> </a:t>
            </a:r>
          </a:p>
          <a:p>
            <a:pPr fontAlgn="ctr"/>
            <a:r>
              <a:rPr lang="en-US" dirty="0" smtClean="0"/>
              <a:t>Jotting down key ideas, questions, and important points can help with retention and clarification. </a:t>
            </a:r>
          </a:p>
          <a:p>
            <a:r>
              <a:rPr lang="en-US" b="1" u="sng" dirty="0" smtClean="0"/>
              <a:t>Practice empathy</a:t>
            </a:r>
            <a:r>
              <a:rPr lang="en-US" b="1" dirty="0" smtClean="0"/>
              <a:t>:</a:t>
            </a:r>
            <a:r>
              <a:rPr lang="en-US" dirty="0" smtClean="0"/>
              <a:t> </a:t>
            </a:r>
          </a:p>
          <a:p>
            <a:pPr fontAlgn="ctr"/>
            <a:r>
              <a:rPr lang="en-US" dirty="0" smtClean="0"/>
              <a:t>Try to put yourself in the speaker's shoes and understand their feelings and perspective to enhance the quality of your interaction. </a:t>
            </a:r>
          </a:p>
          <a:p>
            <a:r>
              <a:rPr lang="en-US" b="1" u="sng" dirty="0" smtClean="0"/>
              <a:t>Seek feedback</a:t>
            </a:r>
            <a:r>
              <a:rPr lang="en-US" b="1" dirty="0" smtClean="0"/>
              <a:t>:</a:t>
            </a:r>
            <a:r>
              <a:rPr lang="en-US" dirty="0" smtClean="0"/>
              <a:t> </a:t>
            </a:r>
          </a:p>
          <a:p>
            <a:r>
              <a:rPr lang="en-US" dirty="0" smtClean="0"/>
              <a:t>Ask others for constructive criticism on your listening skills to identify areas for improvement. </a:t>
            </a:r>
          </a:p>
          <a:p>
            <a:endParaRPr lang="en-US" dirty="0" smtClean="0"/>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609600" y="685800"/>
            <a:ext cx="7696200" cy="5029199"/>
          </a:xfrm>
          <a:prstGeom prst="rect">
            <a:avLst/>
          </a:prstGeom>
          <a:noFill/>
          <a:ln w="9525">
            <a:noFill/>
            <a:miter lim="800000"/>
            <a:headEnd/>
            <a:tailEnd/>
          </a:ln>
          <a:effectLst/>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16</TotalTime>
  <Words>297</Words>
  <Application>Microsoft Office PowerPoint</Application>
  <PresentationFormat>On-screen Show (4:3)</PresentationFormat>
  <Paragraphs>55</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Flow</vt:lpstr>
      <vt:lpstr>Slide 1</vt:lpstr>
      <vt:lpstr>Listening Skills </vt:lpstr>
      <vt:lpstr>Slide 3</vt:lpstr>
      <vt:lpstr>Slide 4</vt:lpstr>
      <vt:lpstr>Stages of the Listening Process</vt:lpstr>
      <vt:lpstr>Types of Listening</vt:lpstr>
      <vt:lpstr>Key Components</vt:lpstr>
      <vt:lpstr>Importance of Listening Skills</vt:lpstr>
      <vt:lpstr>Slide 9</vt:lpstr>
      <vt:lpstr>Slide 10</vt:lpstr>
      <vt:lpstr>How to Improve Listening Skills</vt:lpstr>
      <vt:lpstr>How to Improve Listening Skills</vt:lpstr>
      <vt:lpstr>Slide 13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hod</dc:creator>
  <cp:lastModifiedBy>hod</cp:lastModifiedBy>
  <cp:revision>6</cp:revision>
  <dcterms:created xsi:type="dcterms:W3CDTF">2025-09-19T10:18:17Z</dcterms:created>
  <dcterms:modified xsi:type="dcterms:W3CDTF">2025-09-19T10:34:53Z</dcterms:modified>
</cp:coreProperties>
</file>