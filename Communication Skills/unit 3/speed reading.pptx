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2" r:id="rId4"/>
    <p:sldId id="258" r:id="rId5"/>
    <p:sldId id="259" r:id="rId6"/>
    <p:sldId id="260" r:id="rId7"/>
    <p:sldId id="261"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D1B2C35B-8BDC-4726-91B0-814F182D9A1D}" type="datetimeFigureOut">
              <a:rPr lang="en-US" smtClean="0"/>
              <a:pPr/>
              <a:t>9/22/2025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AC2E365E-8C7D-4BA1-9548-2DA6C13D9D5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B2C35B-8BDC-4726-91B0-814F182D9A1D}"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1B2C35B-8BDC-4726-91B0-814F182D9A1D}"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E365E-8C7D-4BA1-9548-2DA6C13D9D5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1B2C35B-8BDC-4726-91B0-814F182D9A1D}"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1B2C35B-8BDC-4726-91B0-814F182D9A1D}"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1B2C35B-8BDC-4726-91B0-814F182D9A1D}"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B2C35B-8BDC-4726-91B0-814F182D9A1D}"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1B2C35B-8BDC-4726-91B0-814F182D9A1D}"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1B2C35B-8BDC-4726-91B0-814F182D9A1D}"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AC2E365E-8C7D-4BA1-9548-2DA6C13D9D54}"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B2C35B-8BDC-4726-91B0-814F182D9A1D}"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1B2C35B-8BDC-4726-91B0-814F182D9A1D}"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2E365E-8C7D-4BA1-9548-2DA6C13D9D5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D1B2C35B-8BDC-4726-91B0-814F182D9A1D}" type="datetimeFigureOut">
              <a:rPr lang="en-US" smtClean="0"/>
              <a:pPr/>
              <a:t>9/22/2025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C2E365E-8C7D-4BA1-9548-2DA6C13D9D54}"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risreading.com/how-to-speed-read-for-increased-comprehens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Speed reading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reading</a:t>
            </a:r>
            <a:endParaRPr lang="en-US" dirty="0"/>
          </a:p>
        </p:txBody>
      </p:sp>
      <p:sp>
        <p:nvSpPr>
          <p:cNvPr id="3" name="Content Placeholder 2"/>
          <p:cNvSpPr>
            <a:spLocks noGrp="1"/>
          </p:cNvSpPr>
          <p:nvPr>
            <p:ph idx="1"/>
          </p:nvPr>
        </p:nvSpPr>
        <p:spPr/>
        <p:txBody>
          <a:bodyPr>
            <a:normAutofit/>
          </a:bodyPr>
          <a:lstStyle/>
          <a:p>
            <a:r>
              <a:rPr lang="en-US" dirty="0"/>
              <a:t>Speed reading is a collection of techniques designed to increase how fast a person reads while maintaining comprehension, often by using a pacer to guide the eyes and reduce </a:t>
            </a:r>
            <a:r>
              <a:rPr lang="en-US" dirty="0" smtClean="0"/>
              <a:t>sub-vocalization </a:t>
            </a:r>
            <a:r>
              <a:rPr lang="en-US" dirty="0"/>
              <a:t>(hearing words in your head). Key methods include reading word groups instead of single words, using a finger or pen to pace your eyes across the text, setting a reading goal, and improving focus and vocabulary. Practice is crucial for developing the visual processing and comprehension skills necessary for speed reading.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Speed reading</a:t>
            </a:r>
            <a:endParaRPr lang="en-US" dirty="0"/>
          </a:p>
        </p:txBody>
      </p:sp>
      <p:sp>
        <p:nvSpPr>
          <p:cNvPr id="3" name="Content Placeholder 2"/>
          <p:cNvSpPr>
            <a:spLocks noGrp="1"/>
          </p:cNvSpPr>
          <p:nvPr>
            <p:ph idx="1"/>
          </p:nvPr>
        </p:nvSpPr>
        <p:spPr/>
        <p:txBody>
          <a:bodyPr>
            <a:normAutofit lnSpcReduction="10000"/>
          </a:bodyPr>
          <a:lstStyle/>
          <a:p>
            <a:r>
              <a:rPr lang="en-US" dirty="0"/>
              <a:t>Speed reading is the process of rapidly recognizing and absorbing phrases or sentences on a page all at once, rather than identifying individual words.</a:t>
            </a:r>
          </a:p>
          <a:p>
            <a:r>
              <a:rPr lang="en-US" dirty="0"/>
              <a:t>The amount of information that we process seems to be growing by the day, whether it's emails, reports and websites at work, or social media, books and magazines at home. We likely feel pressure to get through this information more quickly, so that we can "stay in the loop" and make informed decisions.</a:t>
            </a:r>
          </a:p>
          <a:p>
            <a:r>
              <a:rPr lang="en-US" dirty="0" smtClean="0"/>
              <a:t/>
            </a:r>
            <a:br>
              <a:rPr lang="en-US" dirty="0" smtClean="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Core Concepts of Speed Reading</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Reduce </a:t>
            </a:r>
            <a:r>
              <a:rPr lang="en-US" b="1" dirty="0" err="1"/>
              <a:t>subvocalization</a:t>
            </a:r>
            <a:r>
              <a:rPr lang="en-US" dirty="0"/>
              <a:t>: </a:t>
            </a:r>
          </a:p>
          <a:p>
            <a:pPr fontAlgn="ctr"/>
            <a:r>
              <a:rPr lang="en-US" dirty="0"/>
              <a:t>This is the internal "voice" that "reads" words in your head, which limits your speed to your speaking speed. </a:t>
            </a:r>
          </a:p>
          <a:p>
            <a:r>
              <a:rPr lang="en-US" b="1" dirty="0"/>
              <a:t>Read in chunks</a:t>
            </a:r>
            <a:r>
              <a:rPr lang="en-US" dirty="0"/>
              <a:t>: </a:t>
            </a:r>
          </a:p>
          <a:p>
            <a:pPr fontAlgn="ctr"/>
            <a:r>
              <a:rPr lang="en-US" dirty="0"/>
              <a:t>Instead of focusing on individual words, read groups of words to process information faster. </a:t>
            </a:r>
          </a:p>
          <a:p>
            <a:r>
              <a:rPr lang="en-US" b="1" dirty="0"/>
              <a:t>Use a pacer</a:t>
            </a:r>
            <a:r>
              <a:rPr lang="en-US" dirty="0"/>
              <a:t>: </a:t>
            </a:r>
          </a:p>
          <a:p>
            <a:pPr fontAlgn="ctr"/>
            <a:r>
              <a:rPr lang="en-US" dirty="0"/>
              <a:t>A physical tool like a finger or pen helps guide your eyes, maintaining a consistent speed and reducing eye movement and fixation duration. </a:t>
            </a:r>
          </a:p>
          <a:p>
            <a:r>
              <a:rPr lang="en-US" b="1" dirty="0"/>
              <a:t>Improve focus</a:t>
            </a:r>
            <a:r>
              <a:rPr lang="en-US" dirty="0"/>
              <a:t>: </a:t>
            </a:r>
          </a:p>
          <a:p>
            <a:r>
              <a:rPr lang="en-US" dirty="0"/>
              <a:t>Better focus helps prevent distractions and regression (rereading), which can significantly slow you down.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Techniques to Try</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Pacing</a:t>
            </a:r>
            <a:r>
              <a:rPr lang="en-US" dirty="0"/>
              <a:t>: </a:t>
            </a:r>
          </a:p>
          <a:p>
            <a:pPr fontAlgn="ctr"/>
            <a:r>
              <a:rPr lang="en-US" dirty="0"/>
              <a:t>Use your finger or a pen to guide your eyes across the lines, moving slightly faster than your normal reading speed. </a:t>
            </a:r>
          </a:p>
          <a:p>
            <a:r>
              <a:rPr lang="en-US" b="1" dirty="0"/>
              <a:t>Chunking</a:t>
            </a:r>
            <a:r>
              <a:rPr lang="en-US" dirty="0"/>
              <a:t>: </a:t>
            </a:r>
          </a:p>
          <a:p>
            <a:pPr fontAlgn="ctr"/>
            <a:r>
              <a:rPr lang="en-US" dirty="0"/>
              <a:t>Soften your gaze to take in blocks of words at once rather than individual words. </a:t>
            </a:r>
          </a:p>
          <a:p>
            <a:r>
              <a:rPr lang="en-US" b="1" dirty="0" smtClean="0"/>
              <a:t>S</a:t>
            </a:r>
            <a:r>
              <a:rPr lang="en-US" b="1" dirty="0" smtClean="0"/>
              <a:t>canning </a:t>
            </a:r>
            <a:r>
              <a:rPr lang="en-US" b="1" dirty="0"/>
              <a:t>and Skimming</a:t>
            </a:r>
            <a:r>
              <a:rPr lang="en-US" dirty="0"/>
              <a:t>: </a:t>
            </a:r>
          </a:p>
          <a:p>
            <a:pPr fontAlgn="ctr"/>
            <a:r>
              <a:rPr lang="en-US" dirty="0"/>
              <a:t>Before reading, scan the material to get an idea of the content and set a reading goal. </a:t>
            </a:r>
          </a:p>
          <a:p>
            <a:r>
              <a:rPr lang="en-US" b="1" dirty="0"/>
              <a:t>Expand your vocabulary</a:t>
            </a:r>
            <a:r>
              <a:rPr lang="en-US" dirty="0"/>
              <a:t>: </a:t>
            </a:r>
          </a:p>
          <a:p>
            <a:r>
              <a:rPr lang="en-US" dirty="0"/>
              <a:t>Recognizing words more quickly helps improve your overall reading speed.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Improve Your Speed Reading</a:t>
            </a:r>
            <a:br>
              <a:rPr lang="en-US" b="1" dirty="0" smtClean="0"/>
            </a:br>
            <a:endParaRPr lang="en-US" dirty="0"/>
          </a:p>
        </p:txBody>
      </p:sp>
      <p:sp>
        <p:nvSpPr>
          <p:cNvPr id="3" name="Content Placeholder 2"/>
          <p:cNvSpPr>
            <a:spLocks noGrp="1"/>
          </p:cNvSpPr>
          <p:nvPr>
            <p:ph idx="1"/>
          </p:nvPr>
        </p:nvSpPr>
        <p:spPr/>
        <p:txBody>
          <a:bodyPr>
            <a:normAutofit fontScale="92500"/>
          </a:bodyPr>
          <a:lstStyle/>
          <a:p>
            <a:r>
              <a:rPr lang="en-US" b="1" dirty="0" smtClean="0"/>
              <a:t>Avoid </a:t>
            </a:r>
            <a:r>
              <a:rPr lang="en-US" b="1" dirty="0"/>
              <a:t>distractions.</a:t>
            </a:r>
            <a:r>
              <a:rPr lang="en-US" dirty="0"/>
              <a:t> Create an environment where there are as few interruptions and distractions as possible, to allow you to focus fully on the words in front of you.</a:t>
            </a:r>
          </a:p>
          <a:p>
            <a:r>
              <a:rPr lang="en-US" b="1" dirty="0"/>
              <a:t>Go easy.</a:t>
            </a:r>
            <a:r>
              <a:rPr lang="en-US" dirty="0"/>
              <a:t> Read an uncomplicated novel or a simple online article to get a feel for which technique is going to work best for you. Gauge how much you've remembered or understood, and set a timer to see how much faster you are now reading.</a:t>
            </a:r>
          </a:p>
          <a:p>
            <a:r>
              <a:rPr lang="en-US" b="1" dirty="0"/>
              <a:t>Cover words that you've already read.</a:t>
            </a:r>
            <a:r>
              <a:rPr lang="en-US" dirty="0"/>
              <a:t> This helps you to stop your eyes from flitting back to earlier words and slowing down your reading</a:t>
            </a:r>
            <a:r>
              <a:rPr lang="en-US" dirty="0" smtClean="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Improve Your Speed Reading</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Know what you want from the text.</a:t>
            </a:r>
            <a:r>
              <a:rPr lang="en-US" dirty="0" smtClean="0"/>
              <a:t> This can be useful if you are using the skimming method, as it primes you to pay attention when you see relevant words, sentences or phrases. You can then slow down at these points, or circle them for emphasis, but otherwise move across the page quickly.</a:t>
            </a:r>
          </a:p>
          <a:p>
            <a:r>
              <a:rPr lang="en-US" b="1" dirty="0" smtClean="0"/>
              <a:t>Benchmark your progress.</a:t>
            </a:r>
            <a:r>
              <a:rPr lang="en-US" dirty="0" smtClean="0"/>
              <a:t> This way you can tell whether your practice is paying off. There are many free speed reading assessments online, such as at ReadingSoft.com.</a:t>
            </a:r>
          </a:p>
          <a:p>
            <a:r>
              <a:rPr lang="en-US" b="1" dirty="0" smtClean="0"/>
              <a:t>Practice, practice, practice.</a:t>
            </a:r>
            <a:r>
              <a:rPr lang="en-US" dirty="0" smtClean="0"/>
              <a:t> You have to practice speed reading to get good at it. The more you train yourself, the more natural it will feel.</a:t>
            </a:r>
          </a:p>
          <a:p>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speed read and boost apprehension?</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 </a:t>
            </a:r>
            <a:r>
              <a:rPr lang="en-US" b="1" dirty="0"/>
              <a:t>Improve your vocabulary.</a:t>
            </a:r>
            <a:r>
              <a:rPr lang="en-US" dirty="0"/>
              <a:t> To understand what we read, we need to know the meaning of the words used. However, so many words have many meanings that depend upon the context within which they are used. Improving your vocabulary, therefore, does entail memorizing new words and studying the different contexts within which those words can be used to convey different meanings.</a:t>
            </a:r>
          </a:p>
          <a:p>
            <a:r>
              <a:rPr lang="en-US" b="1" dirty="0"/>
              <a:t>✓ Visualization &amp; memory techniques.</a:t>
            </a:r>
            <a:r>
              <a:rPr lang="en-US" dirty="0"/>
              <a:t> Human comprehension depends upon the ability to visualize and memorize. If you master techniques such as brain maps or building a memory palace you will be much better able to visualize and memorize new information and you will most certainly enhance your apprehension in the process. Apart from a better understanding, you will also be able to recall information more reliable.</a:t>
            </a:r>
          </a:p>
          <a:p>
            <a:r>
              <a:rPr lang="en-US" b="1" dirty="0"/>
              <a:t>✓ Take notes and summarize.</a:t>
            </a:r>
            <a:r>
              <a:rPr lang="en-US" dirty="0"/>
              <a:t> When you take notes you are forcing yourself to interpret what you read. If you find it very difficult to summarize text into short notes you know that you have not fully grasped the text. It is best to summarize only once you have </a:t>
            </a:r>
            <a:r>
              <a:rPr lang="en-US" i="1" dirty="0"/>
              <a:t>(speed)</a:t>
            </a:r>
            <a:r>
              <a:rPr lang="en-US" dirty="0"/>
              <a:t> read a logical section of text that deals with a specific concept.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speed read and boost apprehension?</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 Keep the subject matter in mind.</a:t>
            </a:r>
            <a:r>
              <a:rPr lang="en-US" dirty="0" smtClean="0"/>
              <a:t> If you keep the author’s or a chapter’s main subject in mind when you read, you will find it much easier to understand the true meaning of specific words or phrases. For example, if you read a book about machine learning, using the term “elegant” will refer to a sophisticated programming technique, not to a well-dressed person.</a:t>
            </a:r>
          </a:p>
          <a:p>
            <a:r>
              <a:rPr lang="en-US" b="1" dirty="0" smtClean="0"/>
              <a:t>✓ Preview the text</a:t>
            </a:r>
            <a:r>
              <a:rPr lang="en-US" dirty="0" smtClean="0"/>
              <a:t>. Because comprehension depends a lot on your ability to understand the meaning of words and phrases within their context, you may benefit from skimming the text before you actually start to read. This speed reading technique has been discussed above and will help you to understand the author’s main idea quickly.</a:t>
            </a:r>
          </a:p>
          <a:p>
            <a:r>
              <a:rPr lang="en-US" b="1" dirty="0" smtClean="0"/>
              <a:t>✓ Ask yourself questions.</a:t>
            </a:r>
            <a:r>
              <a:rPr lang="en-US" dirty="0" smtClean="0"/>
              <a:t> After previewing, jot down the main questions you want to find an answer to. When you read, frequently questions relating to the text you have read. This will help you organize your thinking and verbalize the meaning you derived from the text. You will find it much easier to relate your new knowledge to existing memory structures.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Speed Reading Barriers</a:t>
            </a:r>
          </a:p>
        </p:txBody>
      </p:sp>
      <p:sp>
        <p:nvSpPr>
          <p:cNvPr id="3" name="Content Placeholder 2"/>
          <p:cNvSpPr>
            <a:spLocks noGrp="1"/>
          </p:cNvSpPr>
          <p:nvPr>
            <p:ph idx="1"/>
          </p:nvPr>
        </p:nvSpPr>
        <p:spPr/>
        <p:txBody>
          <a:bodyPr>
            <a:normAutofit fontScale="85000" lnSpcReduction="20000"/>
          </a:bodyPr>
          <a:lstStyle/>
          <a:p>
            <a:r>
              <a:rPr lang="en-US" b="1" u="sng" dirty="0" smtClean="0"/>
              <a:t>Sub vocalization (Vocalization</a:t>
            </a:r>
            <a:r>
              <a:rPr lang="en-US" b="1" dirty="0" smtClean="0"/>
              <a:t>)</a:t>
            </a:r>
            <a:r>
              <a:rPr lang="en-US" dirty="0" smtClean="0"/>
              <a:t>: </a:t>
            </a:r>
          </a:p>
          <a:p>
            <a:pPr fontAlgn="ctr"/>
            <a:r>
              <a:rPr lang="en-US" dirty="0" smtClean="0"/>
              <a:t>The habit of sounding out words in your head, either aloud or silently, which limits reading speed to your speaking pace. </a:t>
            </a:r>
          </a:p>
          <a:p>
            <a:r>
              <a:rPr lang="en-US" b="1" u="sng" dirty="0" smtClean="0"/>
              <a:t>Eye Fixation (Ocular Enslaving</a:t>
            </a:r>
            <a:r>
              <a:rPr lang="en-US" b="1" dirty="0" smtClean="0"/>
              <a:t>)</a:t>
            </a:r>
            <a:r>
              <a:rPr lang="en-US" dirty="0" smtClean="0"/>
              <a:t>: </a:t>
            </a:r>
          </a:p>
          <a:p>
            <a:pPr fontAlgn="ctr"/>
            <a:r>
              <a:rPr lang="en-US" dirty="0" smtClean="0"/>
              <a:t>When your eyes pause on individual letters or syllables, making the process inefficient and slow. </a:t>
            </a:r>
          </a:p>
          <a:p>
            <a:r>
              <a:rPr lang="en-US" b="1" u="sng" dirty="0" smtClean="0"/>
              <a:t>Regression</a:t>
            </a:r>
            <a:r>
              <a:rPr lang="en-US" u="sng" dirty="0" smtClean="0"/>
              <a:t>: </a:t>
            </a:r>
          </a:p>
          <a:p>
            <a:pPr fontAlgn="ctr"/>
            <a:r>
              <a:rPr lang="en-US" dirty="0" smtClean="0"/>
              <a:t>Going back to re-read words or phrases, often because of a lack of comprehension or to find main points in a text. </a:t>
            </a:r>
          </a:p>
          <a:p>
            <a:r>
              <a:rPr lang="en-US" b="1" u="sng" dirty="0" smtClean="0"/>
              <a:t>Insufficient Content Knowledge</a:t>
            </a:r>
            <a:r>
              <a:rPr lang="en-US" dirty="0" smtClean="0"/>
              <a:t>: </a:t>
            </a:r>
          </a:p>
          <a:p>
            <a:pPr fontAlgn="ctr"/>
            <a:r>
              <a:rPr lang="en-US" dirty="0" smtClean="0"/>
              <a:t>If you lack familiarity with the subject, it's harder to process and understand the information quickly, as your mind needs to parse more unfamiliar concepts.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Speed Reading Barriers</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b="1" u="sng" dirty="0" smtClean="0"/>
              <a:t>Limited Vocabulary</a:t>
            </a:r>
            <a:r>
              <a:rPr lang="en-US" dirty="0" smtClean="0"/>
              <a:t>: </a:t>
            </a:r>
          </a:p>
          <a:p>
            <a:pPr fontAlgn="ctr"/>
            <a:r>
              <a:rPr lang="en-US" dirty="0" smtClean="0"/>
              <a:t>A restricted vocabulary can hinder comprehension, as it leads to difficulty understanding the meaning of words, increasing the likelihood of regression. </a:t>
            </a:r>
          </a:p>
          <a:p>
            <a:r>
              <a:rPr lang="en-US" b="1" u="sng" dirty="0" smtClean="0"/>
              <a:t>Distractions and Lack of Focus</a:t>
            </a:r>
            <a:r>
              <a:rPr lang="en-US" dirty="0" smtClean="0"/>
              <a:t>: </a:t>
            </a:r>
          </a:p>
          <a:p>
            <a:pPr fontAlgn="ctr"/>
            <a:r>
              <a:rPr lang="en-US" dirty="0" smtClean="0"/>
              <a:t>Environmental distractions or the internal distraction of a wandering mind can significantly slow down reading. </a:t>
            </a:r>
          </a:p>
          <a:p>
            <a:r>
              <a:rPr lang="en-US" b="1" u="sng" dirty="0" smtClean="0"/>
              <a:t>Ineffective Selection and Anticipation Skills</a:t>
            </a:r>
            <a:r>
              <a:rPr lang="en-US" dirty="0" smtClean="0"/>
              <a:t>: </a:t>
            </a:r>
          </a:p>
          <a:p>
            <a:pPr fontAlgn="ctr"/>
            <a:r>
              <a:rPr lang="en-US" dirty="0" smtClean="0"/>
              <a:t>Not being able to quickly identify main points or anticipate the meaning of upcoming words makes it harder to grasp the text's overall message efficiently. </a:t>
            </a:r>
          </a:p>
          <a:p>
            <a:r>
              <a:rPr lang="en-US" b="1" u="sng" dirty="0" smtClean="0"/>
              <a:t>Anatomical and Physiological Limitations</a:t>
            </a:r>
            <a:r>
              <a:rPr lang="en-US" dirty="0" smtClean="0"/>
              <a:t>: </a:t>
            </a:r>
          </a:p>
          <a:p>
            <a:r>
              <a:rPr lang="en-US" dirty="0" smtClean="0"/>
              <a:t>The physical structure and function of the eyes and the brain's neuronal processing impose fundamental limits on the maximum speed at which a person can visually process text. </a:t>
            </a:r>
          </a:p>
          <a:p>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t>Overcoming Speed Reading Barriers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u="sng" dirty="0" smtClean="0"/>
              <a:t>Minimize </a:t>
            </a:r>
            <a:r>
              <a:rPr lang="en-US" b="1" u="sng" dirty="0" err="1" smtClean="0"/>
              <a:t>Subvocalization</a:t>
            </a:r>
            <a:r>
              <a:rPr lang="en-US" dirty="0" smtClean="0"/>
              <a:t>: </a:t>
            </a:r>
          </a:p>
          <a:p>
            <a:pPr fontAlgn="ctr"/>
            <a:r>
              <a:rPr lang="en-US" dirty="0" smtClean="0"/>
              <a:t>Try practicing with instrumental music to divert your attention from the inner voice, or use a pointer to guide your eyes faster than your inner voice can keep up, </a:t>
            </a:r>
            <a:r>
              <a:rPr lang="en-US" dirty="0" smtClean="0">
                <a:hlinkClick r:id="rId2"/>
              </a:rPr>
              <a:t>Iris Reading</a:t>
            </a:r>
            <a:r>
              <a:rPr lang="en-US" dirty="0" smtClean="0"/>
              <a:t> reports. </a:t>
            </a:r>
          </a:p>
          <a:p>
            <a:r>
              <a:rPr lang="en-US" b="1" u="sng" dirty="0" smtClean="0"/>
              <a:t>Improve Eye Fixation</a:t>
            </a:r>
            <a:r>
              <a:rPr lang="en-US" dirty="0" smtClean="0"/>
              <a:t>: </a:t>
            </a:r>
          </a:p>
          <a:p>
            <a:pPr fontAlgn="ctr"/>
            <a:r>
              <a:rPr lang="en-US" dirty="0" smtClean="0"/>
              <a:t>Use a pointer or your finger to guide your eyes across the page in larger chunks, reducing the number of fixation points per line. </a:t>
            </a:r>
          </a:p>
          <a:p>
            <a:r>
              <a:rPr lang="en-US" b="1" u="sng" dirty="0" smtClean="0"/>
              <a:t>Reduce Regression</a:t>
            </a:r>
            <a:r>
              <a:rPr lang="en-US" u="sng" dirty="0" smtClean="0"/>
              <a:t>: </a:t>
            </a:r>
          </a:p>
          <a:p>
            <a:pPr fontAlgn="ctr"/>
            <a:r>
              <a:rPr lang="en-US" dirty="0" smtClean="0"/>
              <a:t>Consciously try to avoid re-reading words by using a pointer to cover words you've already read and focusing on moving forward. </a:t>
            </a:r>
          </a:p>
          <a:p>
            <a:r>
              <a:rPr lang="en-US" b="1" u="sng" dirty="0" smtClean="0"/>
              <a:t>Enhance Content Knowledge</a:t>
            </a:r>
            <a:r>
              <a:rPr lang="en-US" dirty="0" smtClean="0"/>
              <a:t>: </a:t>
            </a:r>
          </a:p>
          <a:p>
            <a:pPr fontAlgn="ctr"/>
            <a:r>
              <a:rPr lang="en-US" dirty="0" smtClean="0"/>
              <a:t>Increase your familiarity with a subject to improve your comprehension speed.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4400" dirty="0" smtClean="0"/>
              <a:t>Overcoming Speed Reading Barriers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b="1" u="sng" dirty="0" smtClean="0"/>
              <a:t>Expand Vocabulary</a:t>
            </a:r>
            <a:r>
              <a:rPr lang="en-US" dirty="0" smtClean="0"/>
              <a:t>: </a:t>
            </a:r>
          </a:p>
          <a:p>
            <a:pPr fontAlgn="ctr"/>
            <a:r>
              <a:rPr lang="en-US" dirty="0" smtClean="0"/>
              <a:t>Develop a broader vocabulary to better understand word meanings and improve comprehension. </a:t>
            </a:r>
          </a:p>
          <a:p>
            <a:r>
              <a:rPr lang="en-US" b="1" u="sng" dirty="0" smtClean="0"/>
              <a:t>Create a Focused Environment</a:t>
            </a:r>
            <a:r>
              <a:rPr lang="en-US" dirty="0" smtClean="0"/>
              <a:t>: </a:t>
            </a:r>
          </a:p>
          <a:p>
            <a:pPr fontAlgn="ctr"/>
            <a:r>
              <a:rPr lang="en-US" dirty="0" smtClean="0"/>
              <a:t>Minimize distractions and interruptions to maintain better focus on the text. </a:t>
            </a:r>
          </a:p>
          <a:p>
            <a:r>
              <a:rPr lang="en-US" b="1" u="sng" dirty="0" smtClean="0"/>
              <a:t>Practice and Set Goals</a:t>
            </a:r>
            <a:r>
              <a:rPr lang="en-US" dirty="0" smtClean="0"/>
              <a:t>: </a:t>
            </a:r>
          </a:p>
          <a:p>
            <a:r>
              <a:rPr lang="en-US" dirty="0" smtClean="0"/>
              <a:t>Regularly practice speed reading techniques and set timers to gauge your progress and see improvement.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Reasons Troubleshooting Is Important</a:t>
            </a:r>
            <a:br>
              <a:rPr lang="en-US" dirty="0" smtClean="0"/>
            </a:br>
            <a:endParaRPr lang="en-US" dirty="0"/>
          </a:p>
        </p:txBody>
      </p:sp>
      <p:sp>
        <p:nvSpPr>
          <p:cNvPr id="3" name="Content Placeholder 2"/>
          <p:cNvSpPr>
            <a:spLocks noGrp="1"/>
          </p:cNvSpPr>
          <p:nvPr>
            <p:ph idx="1"/>
          </p:nvPr>
        </p:nvSpPr>
        <p:spPr>
          <a:xfrm>
            <a:off x="457200" y="1371600"/>
            <a:ext cx="8229600" cy="4953000"/>
          </a:xfrm>
        </p:spPr>
        <p:txBody>
          <a:bodyPr>
            <a:normAutofit fontScale="70000" lnSpcReduction="20000"/>
          </a:bodyPr>
          <a:lstStyle/>
          <a:p>
            <a:r>
              <a:rPr lang="en-US" b="1" dirty="0" smtClean="0"/>
              <a:t>Minimizes </a:t>
            </a:r>
            <a:r>
              <a:rPr lang="en-US" b="1" dirty="0" smtClean="0"/>
              <a:t>Downtime:</a:t>
            </a:r>
            <a:r>
              <a:rPr lang="en-US" dirty="0" smtClean="0"/>
              <a:t> </a:t>
            </a:r>
          </a:p>
          <a:p>
            <a:pPr fontAlgn="ctr"/>
            <a:r>
              <a:rPr lang="en-US" dirty="0" smtClean="0"/>
              <a:t>Rapid troubleshooting minimizes the time systems and processes are out of commission, which is crucial for business continuity and productivity. </a:t>
            </a:r>
            <a:endParaRPr lang="en-US" dirty="0" smtClean="0"/>
          </a:p>
          <a:p>
            <a:pPr fontAlgn="ctr"/>
            <a:endParaRPr lang="en-US" dirty="0" smtClean="0"/>
          </a:p>
          <a:p>
            <a:r>
              <a:rPr lang="en-US" b="1" dirty="0" smtClean="0"/>
              <a:t>Increases Efficiency:</a:t>
            </a:r>
            <a:r>
              <a:rPr lang="en-US" dirty="0" smtClean="0"/>
              <a:t> </a:t>
            </a:r>
          </a:p>
          <a:p>
            <a:pPr fontAlgn="ctr"/>
            <a:r>
              <a:rPr lang="en-US" dirty="0" smtClean="0"/>
              <a:t>A systematic troubleshooting process allows for quicker identification and resolution of issues, making operations more efficient and cost-effective. </a:t>
            </a:r>
            <a:endParaRPr lang="en-US" dirty="0" smtClean="0"/>
          </a:p>
          <a:p>
            <a:pPr fontAlgn="ctr"/>
            <a:endParaRPr lang="en-US" dirty="0" smtClean="0"/>
          </a:p>
          <a:p>
            <a:r>
              <a:rPr lang="en-US" b="1" dirty="0" smtClean="0"/>
              <a:t>Improves User Experience:</a:t>
            </a:r>
            <a:r>
              <a:rPr lang="en-US" dirty="0" smtClean="0"/>
              <a:t> </a:t>
            </a:r>
          </a:p>
          <a:p>
            <a:pPr fontAlgn="ctr"/>
            <a:r>
              <a:rPr lang="en-US" dirty="0" smtClean="0"/>
              <a:t>By resolving problems quickly and effectively, users can access applications and services without disruption, leading to higher satisfaction and productivity. </a:t>
            </a:r>
            <a:endParaRPr lang="en-US" dirty="0" smtClean="0"/>
          </a:p>
          <a:p>
            <a:pPr fontAlgn="ctr"/>
            <a:endParaRPr lang="en-US" dirty="0" smtClean="0"/>
          </a:p>
          <a:p>
            <a:r>
              <a:rPr lang="en-US" b="1" dirty="0" smtClean="0"/>
              <a:t>Prevents Future Failures:</a:t>
            </a:r>
            <a:r>
              <a:rPr lang="en-US" dirty="0" smtClean="0"/>
              <a:t> </a:t>
            </a:r>
          </a:p>
          <a:p>
            <a:pPr fontAlgn="ctr"/>
            <a:r>
              <a:rPr lang="en-US" dirty="0" smtClean="0"/>
              <a:t>Through a process of elimination and analysis, troubleshooting not only fixes the immediate problem but can also reveal underlying issues or recurring patterns, enabling preventive measures.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Reasons Troubleshooting Is Important</a:t>
            </a:r>
            <a:br>
              <a:rPr lang="en-US" dirty="0" smtClean="0"/>
            </a:br>
            <a:endParaRPr lang="en-US" dirty="0"/>
          </a:p>
        </p:txBody>
      </p:sp>
      <p:sp>
        <p:nvSpPr>
          <p:cNvPr id="3" name="Content Placeholder 2"/>
          <p:cNvSpPr>
            <a:spLocks noGrp="1"/>
          </p:cNvSpPr>
          <p:nvPr>
            <p:ph idx="1"/>
          </p:nvPr>
        </p:nvSpPr>
        <p:spPr>
          <a:xfrm>
            <a:off x="457200" y="1371600"/>
            <a:ext cx="8229600" cy="4953000"/>
          </a:xfrm>
        </p:spPr>
        <p:txBody>
          <a:bodyPr>
            <a:normAutofit fontScale="77500" lnSpcReduction="20000"/>
          </a:bodyPr>
          <a:lstStyle/>
          <a:p>
            <a:r>
              <a:rPr lang="en-US" b="1" dirty="0" smtClean="0"/>
              <a:t>Reduces Costs:</a:t>
            </a:r>
            <a:r>
              <a:rPr lang="en-US" dirty="0" smtClean="0"/>
              <a:t> </a:t>
            </a:r>
          </a:p>
          <a:p>
            <a:pPr fontAlgn="ctr"/>
            <a:r>
              <a:rPr lang="en-US" dirty="0" smtClean="0"/>
              <a:t>Less downtime, fewer repeated issues, and less need for expensive, reactive fixes all contribute to significant cost savings for businesses. </a:t>
            </a:r>
            <a:endParaRPr lang="en-US" dirty="0" smtClean="0"/>
          </a:p>
          <a:p>
            <a:pPr fontAlgn="ctr"/>
            <a:endParaRPr lang="en-US" dirty="0" smtClean="0"/>
          </a:p>
          <a:p>
            <a:r>
              <a:rPr lang="en-US" b="1" dirty="0" smtClean="0"/>
              <a:t>Enhances Brand Reputation:</a:t>
            </a:r>
            <a:r>
              <a:rPr lang="en-US" dirty="0" smtClean="0"/>
              <a:t> </a:t>
            </a:r>
          </a:p>
          <a:p>
            <a:pPr fontAlgn="ctr"/>
            <a:r>
              <a:rPr lang="en-US" dirty="0" smtClean="0"/>
              <a:t>Effective problem-solving builds customer trust and loyalty, while unresolved issues can erode it and damage a company's reputation</a:t>
            </a:r>
            <a:r>
              <a:rPr lang="en-US" dirty="0" smtClean="0"/>
              <a:t>.</a:t>
            </a:r>
          </a:p>
          <a:p>
            <a:pPr fontAlgn="ctr"/>
            <a:r>
              <a:rPr lang="en-US" dirty="0" smtClean="0"/>
              <a:t> </a:t>
            </a:r>
          </a:p>
          <a:p>
            <a:r>
              <a:rPr lang="en-US" b="1" dirty="0" smtClean="0"/>
              <a:t>Supports Asset Management:</a:t>
            </a:r>
            <a:r>
              <a:rPr lang="en-US" dirty="0" smtClean="0"/>
              <a:t> </a:t>
            </a:r>
          </a:p>
          <a:p>
            <a:pPr fontAlgn="ctr"/>
            <a:r>
              <a:rPr lang="en-US" dirty="0" smtClean="0"/>
              <a:t>Troubleshooting is a fundamental part of maintaining equipment and systems, helping organizations understand failures and improve their asset management strategies. </a:t>
            </a:r>
            <a:endParaRPr lang="en-US" dirty="0" smtClean="0"/>
          </a:p>
          <a:p>
            <a:pPr fontAlgn="ctr"/>
            <a:endParaRPr lang="en-US" dirty="0" smtClean="0"/>
          </a:p>
          <a:p>
            <a:r>
              <a:rPr lang="en-US" b="1" dirty="0" smtClean="0"/>
              <a:t>Promotes Knowledge Sharing:</a:t>
            </a:r>
            <a:r>
              <a:rPr lang="en-US" dirty="0" smtClean="0"/>
              <a:t> </a:t>
            </a:r>
          </a:p>
          <a:p>
            <a:r>
              <a:rPr lang="en-US" dirty="0" smtClean="0"/>
              <a:t>Documenting the troubleshooting process helps build a knowledge base, allowing for faster resolution of similar problems in the future. </a:t>
            </a:r>
          </a:p>
          <a:p>
            <a:endParaRPr lang="en-US" dirty="0" smtClean="0"/>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51</TotalTime>
  <Words>190</Words>
  <Application>Microsoft Office PowerPoint</Application>
  <PresentationFormat>On-screen Show (4:3)</PresentationFormat>
  <Paragraphs>99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Speed reading</vt:lpstr>
      <vt:lpstr>Speed reading</vt:lpstr>
      <vt:lpstr>Speed reading</vt:lpstr>
      <vt:lpstr>Core Concepts of Speed Reading </vt:lpstr>
      <vt:lpstr>Techniques to Try </vt:lpstr>
      <vt:lpstr>How to Improve Your Speed Reading </vt:lpstr>
      <vt:lpstr>How to Improve Your Speed Reading </vt:lpstr>
      <vt:lpstr>How to speed read and boost apprehension? </vt:lpstr>
      <vt:lpstr>How to speed read and boost apprehension? </vt:lpstr>
      <vt:lpstr>Common Speed Reading Barriers</vt:lpstr>
      <vt:lpstr>Common Speed Reading Barriers </vt:lpstr>
      <vt:lpstr>Overcoming Speed Reading Barriers </vt:lpstr>
      <vt:lpstr>     Overcoming Speed Reading Barriers </vt:lpstr>
      <vt:lpstr>Key Reasons Troubleshooting Is Important </vt:lpstr>
      <vt:lpstr>Key Reasons Troubleshooting Is Important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hod</cp:lastModifiedBy>
  <cp:revision>12</cp:revision>
  <dcterms:created xsi:type="dcterms:W3CDTF">2025-09-20T10:13:34Z</dcterms:created>
  <dcterms:modified xsi:type="dcterms:W3CDTF">2025-09-22T08:52:33Z</dcterms:modified>
</cp:coreProperties>
</file>